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392" r:id="rId2"/>
    <p:sldId id="257" r:id="rId3"/>
    <p:sldId id="261" r:id="rId4"/>
    <p:sldId id="259" r:id="rId5"/>
    <p:sldId id="411" r:id="rId6"/>
    <p:sldId id="432" r:id="rId7"/>
    <p:sldId id="414" r:id="rId8"/>
    <p:sldId id="433" r:id="rId9"/>
    <p:sldId id="434" r:id="rId10"/>
    <p:sldId id="435" r:id="rId11"/>
    <p:sldId id="436" r:id="rId12"/>
    <p:sldId id="437" r:id="rId13"/>
    <p:sldId id="438" r:id="rId14"/>
    <p:sldId id="439" r:id="rId15"/>
    <p:sldId id="440" r:id="rId16"/>
    <p:sldId id="441" r:id="rId17"/>
    <p:sldId id="442" r:id="rId18"/>
    <p:sldId id="443" r:id="rId19"/>
    <p:sldId id="444" r:id="rId20"/>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 id="2" name="Светлана Корытова" initials="СК" lastIdx="2" clrIdx="1">
    <p:extLst>
      <p:ext uri="{19B8F6BF-5375-455C-9EA6-DF929625EA0E}">
        <p15:presenceInfo xmlns:p15="http://schemas.microsoft.com/office/powerpoint/2012/main" userId="174a7ca35980dd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240"/>
    <a:srgbClr val="EFF0EF"/>
    <a:srgbClr val="E63542"/>
    <a:srgbClr val="FF5F61"/>
    <a:srgbClr val="D3E0E4"/>
    <a:srgbClr val="5CA8D6"/>
    <a:srgbClr val="5BA7D5"/>
    <a:srgbClr val="171F29"/>
    <a:srgbClr val="002B5B"/>
    <a:srgbClr val="1B2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47"/>
    <p:restoredTop sz="91034" autoAdjust="0"/>
  </p:normalViewPr>
  <p:slideViewPr>
    <p:cSldViewPr snapToGrid="0" snapToObjects="1">
      <p:cViewPr varScale="1">
        <p:scale>
          <a:sx n="57" d="100"/>
          <a:sy n="57" d="100"/>
        </p:scale>
        <p:origin x="688" y="184"/>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t>20.05.2026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AM" dirty="0"/>
          </a:p>
        </p:txBody>
      </p:sp>
    </p:spTree>
    <p:extLst>
      <p:ext uri="{BB962C8B-B14F-4D97-AF65-F5344CB8AC3E}">
        <p14:creationId xmlns:p14="http://schemas.microsoft.com/office/powerpoint/2010/main" val="3092921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5337688"/>
          </a:xfrm>
          <a:prstGeom prst="rect">
            <a:avLst/>
          </a:prstGeom>
          <a:solidFill>
            <a:schemeClr val="accent2"/>
          </a:solidFill>
          <a:ln w="12700">
            <a:no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64C8EEEB-4815-E390-57A0-AE879E73A6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C8077680-9992-7CA3-67D4-C26C007AC0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Tree>
    <p:extLst>
      <p:ext uri="{BB962C8B-B14F-4D97-AF65-F5344CB8AC3E}">
        <p14:creationId xmlns:p14="http://schemas.microsoft.com/office/powerpoint/2010/main" val="15844534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1" r:id="rId4"/>
    <p:sldLayoutId id="2147483654" r:id="rId5"/>
    <p:sldLayoutId id="2147483652" r:id="rId6"/>
    <p:sldLayoutId id="2147483655" r:id="rId7"/>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0"/>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RU"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3"/>
          <a:stretch>
            <a:fillRect/>
          </a:stretch>
        </p:blipFill>
        <p:spPr>
          <a:xfrm>
            <a:off x="790047" y="527482"/>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914400" y="3474720"/>
            <a:ext cx="14630400" cy="2926080"/>
          </a:xfrm>
          <a:prstGeom prst="rect">
            <a:avLst/>
          </a:prstGeom>
          <a:noFill/>
        </p:spPr>
        <p:txBody>
          <a:bodyPr wrap="square" lIns="0" tIns="0" rIns="0" bIns="0" rtlCol="0" anchor="t">
            <a:normAutofit/>
          </a:bodyPr>
          <a:lstStyle/>
          <a:p>
            <a:pPr>
              <a:lnSpc>
                <a:spcPct val="120000"/>
              </a:lnSpc>
              <a:defRPr sz="2800" b="1">
                <a:solidFill>
                  <a:srgbClr val="000000"/>
                </a:solidFill>
                <a:latin typeface="Arial"/>
              </a:defRPr>
            </a:pPr>
            <a:r>
              <a:rPr lang="ru-RU" sz="8000" b="1" dirty="0">
                <a:solidFill>
                  <a:schemeClr val="bg1"/>
                </a:solidFill>
                <a:latin typeface="Arial"/>
                <a:cs typeface="Arial"/>
              </a:rPr>
              <a:t>Дипломный проект на тему:</a:t>
            </a:r>
          </a:p>
          <a:p>
            <a:pPr>
              <a:lnSpc>
                <a:spcPct val="120000"/>
              </a:lnSpc>
              <a:defRPr sz="3200" b="1">
                <a:solidFill>
                  <a:srgbClr val="000000"/>
                </a:solidFill>
                <a:latin typeface="Arial"/>
              </a:defRPr>
            </a:pPr>
            <a:r>
              <a:rPr lang="ru-RU" sz="3600" b="1" dirty="0">
                <a:solidFill>
                  <a:schemeClr val="bg1"/>
                </a:solidFill>
                <a:latin typeface="Arial"/>
                <a:cs typeface="Arial"/>
              </a:rPr>
              <a:t>«Веб-сервис для автоматизации процессов закупок и взаимодействия с поставщиками»</a:t>
            </a: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71128" y="-215248"/>
            <a:ext cx="10659962" cy="13715999"/>
          </a:xfrm>
          <a:prstGeom prst="rect">
            <a:avLst/>
          </a:prstGeom>
        </p:spPr>
      </p:pic>
      <p:sp>
        <p:nvSpPr>
          <p:cNvPr id="6" name="TextBox 5">
            <a:extLst>
              <a:ext uri="{FF2B5EF4-FFF2-40B4-BE49-F238E27FC236}">
                <a16:creationId xmlns:a16="http://schemas.microsoft.com/office/drawing/2014/main" id="{56FA1CA0-8F86-48F2-84A0-EE404DF96C15}"/>
              </a:ext>
            </a:extLst>
          </p:cNvPr>
          <p:cNvSpPr txBox="1"/>
          <p:nvPr/>
        </p:nvSpPr>
        <p:spPr>
          <a:xfrm>
            <a:off x="914400" y="8014351"/>
            <a:ext cx="14630400" cy="5486400"/>
          </a:xfrm>
          <a:prstGeom prst="rect">
            <a:avLst/>
          </a:prstGeom>
          <a:noFill/>
        </p:spPr>
        <p:txBody>
          <a:bodyPr wrap="square" lIns="0" tIns="0" rIns="0" bIns="0" rtlCol="0" anchor="t">
            <a:normAutofit/>
          </a:bodyPr>
          <a:lstStyle/>
          <a:p>
            <a:pPr algn="l"/>
            <a:r>
              <a:rPr lang="ru-RU" sz="4800" dirty="0">
                <a:solidFill>
                  <a:schemeClr val="bg1"/>
                </a:solidFill>
                <a:latin typeface="Arial" panose="020B0604020202020204" pitchFamily="34" charset="0"/>
                <a:cs typeface="Arial" panose="020B0604020202020204" pitchFamily="34" charset="0"/>
              </a:rPr>
              <a:t>Студента группы 408 ис-22: </a:t>
            </a:r>
            <a:r>
              <a:rPr lang="ru-RU" dirty="0">
                <a:solidFill>
                  <a:schemeClr val="bg1"/>
                </a:solidFill>
                <a:latin typeface="Arial" panose="020B0604020202020204" pitchFamily="34" charset="0"/>
                <a:cs typeface="Arial" panose="020B0604020202020204" pitchFamily="34" charset="0"/>
              </a:rPr>
              <a:t>Д</a:t>
            </a:r>
            <a:r>
              <a:rPr lang="ru-AM" dirty="0">
                <a:solidFill>
                  <a:schemeClr val="bg1"/>
                </a:solidFill>
                <a:latin typeface="Arial" panose="020B0604020202020204" pitchFamily="34" charset="0"/>
                <a:cs typeface="Arial" panose="020B0604020202020204" pitchFamily="34" charset="0"/>
              </a:rPr>
              <a:t>.Б. Гурметов, Н.А. Мушегян, С.Э. Маммедов, Е.М. Киселева</a:t>
            </a:r>
          </a:p>
          <a:p>
            <a:pPr algn="l"/>
            <a:endParaRPr lang="ru-RU" sz="4800" dirty="0">
              <a:solidFill>
                <a:schemeClr val="bg1"/>
              </a:solidFill>
              <a:latin typeface="Arial" panose="020B0604020202020204" pitchFamily="34" charset="0"/>
              <a:cs typeface="Arial" panose="020B0604020202020204" pitchFamily="34" charset="0"/>
            </a:endParaRPr>
          </a:p>
          <a:p>
            <a:pPr algn="l"/>
            <a:r>
              <a:rPr lang="ru-RU" sz="4800" dirty="0">
                <a:solidFill>
                  <a:schemeClr val="bg1"/>
                </a:solidFill>
                <a:latin typeface="Arial" panose="020B0604020202020204" pitchFamily="34" charset="0"/>
                <a:cs typeface="Arial" panose="020B0604020202020204" pitchFamily="34" charset="0"/>
              </a:rPr>
              <a:t>Руководитель дипломного проекта: </a:t>
            </a:r>
            <a:r>
              <a:rPr lang="ru-AM" dirty="0">
                <a:solidFill>
                  <a:schemeClr val="bg1"/>
                </a:solidFill>
              </a:rPr>
              <a:t>О.А. Калашникова</a:t>
            </a:r>
            <a:endParaRPr lang="ru-RU"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5871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2" y="1052399"/>
            <a:ext cx="21945600" cy="1371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nSpc>
                <a:spcPct val="110000"/>
              </a:lnSpc>
              <a:defRPr sz="4400" b="1">
                <a:solidFill>
                  <a:srgbClr val="8B1A1A"/>
                </a:solidFill>
                <a:latin typeface="Arial"/>
              </a:defRPr>
            </a:pPr>
            <a:r>
              <a:rPr lang="ru-RU" sz="4400" b="1" dirty="0">
                <a:solidFill>
                  <a:srgbClr val="8B1A1A"/>
                </a:solidFill>
                <a:latin typeface="Arial"/>
                <a:cs typeface="Arial"/>
              </a:rPr>
              <a:t>Цель, задачи, актуальность</a:t>
            </a: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371600" y="2377440"/>
            <a:ext cx="21488400" cy="10515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200" b="1">
                <a:solidFill>
                  <a:srgbClr val="000000"/>
                </a:solidFill>
                <a:latin typeface="Arial"/>
              </a:defRPr>
            </a:pPr>
            <a:r>
              <a:rPr lang="ru-RU" sz="3200" b="1" dirty="0">
                <a:solidFill>
                  <a:srgbClr val="000000"/>
                </a:solidFill>
                <a:latin typeface="Arial"/>
                <a:cs typeface="Arial"/>
              </a:rPr>
              <a:t>Цель: </a:t>
            </a:r>
            <a:r>
              <a:rPr lang="ru-RU" sz="3200" b="0" dirty="0">
                <a:solidFill>
                  <a:srgbClr val="000000"/>
                </a:solidFill>
                <a:latin typeface="Arial"/>
                <a:cs typeface="Arial"/>
              </a:rPr>
              <a:t>разработка веб-сервиса для автоматизации процессов закупок и взаимодействия с поставщиками, объединяющего модули каталога и поставщиков, заявок и заказов, аналитики и серверной интеграции с учётными системами.</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Задачи: </a:t>
            </a:r>
            <a:r>
              <a:rPr lang="ru-RU" sz="3200" b="0" dirty="0">
                <a:solidFill>
                  <a:srgbClr val="000000"/>
                </a:solidFill>
                <a:latin typeface="Arial"/>
                <a:cs typeface="Arial"/>
              </a:rPr>
              <a:t>проанализировать предметную область и существующие решения; сформировать требования к четырём модулям; спроектировать архитектуру и единую модель данных; реализовать модуль каталога и поставщиков; реализовать модуль заявок, предложений и заказов; реализовать модуль аналитики и KPI; реализовать серверный модуль интеграции; провести тестирование и технико-экономическое обоснование.</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Актуальность: </a:t>
            </a:r>
            <a:r>
              <a:rPr lang="ru-RU" sz="3200" b="0" dirty="0">
                <a:solidFill>
                  <a:srgbClr val="000000"/>
                </a:solidFill>
                <a:latin typeface="Arial"/>
                <a:cs typeface="Arial"/>
              </a:rPr>
              <a:t>ручная организация закупок ведёт к дублированию данных, потере прозрачности и росту трудозатрат. Сравнительный анализ ERP-решений показал их избыточность для малого предприятия и слабую модульность. Разработка собственного веб-сервиса даёт связную автоматизацию каталога, заявок, аналитики и интеграции в едином цифровом контуре.</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Методы и инструменты: </a:t>
            </a:r>
            <a:r>
              <a:rPr lang="ru-RU" sz="3200" b="0" dirty="0">
                <a:solidFill>
                  <a:srgbClr val="000000"/>
                </a:solidFill>
                <a:latin typeface="Arial"/>
                <a:cs typeface="Arial"/>
              </a:rPr>
              <a:t>системный и сравнительный анализ; моделирование IDEF0, BPMN, DFD; проектирование реляционной БД; ORM; паттерны Application Factory, MVC, Repository, Adapter; стек Python 3 + Flask + SQLAlchemy + SQLite + Jinja2 + Chart.js + openpyxl; функциональное и интеграционное тестирование (Pytest).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p:cNvSpPr/>
          <p:nvPr/>
        </p:nvSpPr>
        <p:spPr>
          <a:xfrm>
            <a:off x="18637" y="-14025"/>
            <a:ext cx="20372484" cy="2557745"/>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17" name="All the world is made of faith, and trust, and pixie dust.">
            <a:hlinkClick r:id="rId2" action="ppaction://hlinksldjump"/>
          </p:cNvPr>
          <p:cNvSpPr txBox="1"/>
          <p:nvPr/>
        </p:nvSpPr>
        <p:spPr>
          <a:xfrm>
            <a:off x="1427162" y="2939721"/>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Д.Б. Гурметов</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управления каталогом товаров и справочниками поставщиков</a:t>
            </a:r>
          </a:p>
        </p:txBody>
      </p:sp>
      <p:sp>
        <p:nvSpPr>
          <p:cNvPr id="13" name="Rectangle">
            <a:extLst>
              <a:ext uri="{FF2B5EF4-FFF2-40B4-BE49-F238E27FC236}">
                <a16:creationId xmlns:a16="http://schemas.microsoft.com/office/drawing/2014/main" id="{2AF0629E-AC8D-4736-A3AE-8B2CD3F89D46}"/>
              </a:ext>
            </a:extLst>
          </p:cNvPr>
          <p:cNvSpPr/>
          <p:nvPr/>
        </p:nvSpPr>
        <p:spPr>
          <a:xfrm>
            <a:off x="1427163" y="2577132"/>
            <a:ext cx="3017521" cy="143978"/>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rgbClr val="171F29"/>
              </a:solidFill>
              <a:latin typeface="Arial Black" panose="020B0604020202020204" pitchFamily="34" charset="0"/>
              <a:cs typeface="Arial Black" panose="020B0604020202020204" pitchFamily="34" charset="0"/>
            </a:endParaRPr>
          </a:p>
        </p:txBody>
      </p:sp>
      <p:sp>
        <p:nvSpPr>
          <p:cNvPr id="18" name="Subtitle Text">
            <a:extLst>
              <a:ext uri="{FF2B5EF4-FFF2-40B4-BE49-F238E27FC236}">
                <a16:creationId xmlns:a16="http://schemas.microsoft.com/office/drawing/2014/main" id="{73F5F6BA-293F-4B35-97DF-B2D6CC0A27DB}"/>
              </a:ext>
            </a:extLst>
          </p:cNvPr>
          <p:cNvSpPr/>
          <p:nvPr/>
        </p:nvSpPr>
        <p:spPr>
          <a:xfrm>
            <a:off x="1427163" y="760765"/>
            <a:ext cx="9088438" cy="10081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Модули выполняли</a:t>
            </a:r>
            <a:r>
              <a:rPr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a:t>
            </a:r>
          </a:p>
        </p:txBody>
      </p:sp>
      <p:sp>
        <p:nvSpPr>
          <p:cNvPr id="4" name="Circle">
            <a:extLst>
              <a:ext uri="{FF2B5EF4-FFF2-40B4-BE49-F238E27FC236}">
                <a16:creationId xmlns:a16="http://schemas.microsoft.com/office/drawing/2014/main" id="{D9151E77-5E8A-E5A3-F2EF-1C9C5F26A8BC}"/>
              </a:ext>
            </a:extLst>
          </p:cNvPr>
          <p:cNvSpPr/>
          <p:nvPr/>
        </p:nvSpPr>
        <p:spPr>
          <a:xfrm>
            <a:off x="22441118" y="11878734"/>
            <a:ext cx="571500" cy="57150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Slide Number">
            <a:extLst>
              <a:ext uri="{FF2B5EF4-FFF2-40B4-BE49-F238E27FC236}">
                <a16:creationId xmlns:a16="http://schemas.microsoft.com/office/drawing/2014/main" id="{FF8B82AA-3924-A011-919D-D3384CB25334}"/>
              </a:ext>
            </a:extLst>
          </p:cNvPr>
          <p:cNvSpPr txBox="1">
            <a:spLocks noGrp="1"/>
          </p:cNvSpPr>
          <p:nvPr>
            <p:ph type="sldNum" sz="quarter" idx="4294967295"/>
          </p:nvPr>
        </p:nvSpPr>
        <p:spPr>
          <a:xfrm>
            <a:off x="21971260" y="11990278"/>
            <a:ext cx="1560643" cy="29898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400" b="1" i="0">
                <a:solidFill>
                  <a:srgbClr val="EFDD66"/>
                </a:solidFill>
                <a:latin typeface="Arial" panose="020B0604020202020204" pitchFamily="34" charset="0"/>
                <a:cs typeface="Arial" panose="020B0604020202020204" pitchFamily="34" charset="0"/>
              </a:defRPr>
            </a:lvl1pPr>
          </a:lstStyle>
          <a:p>
            <a:fld id="{86CB4B4D-7CA3-9044-876B-883B54F8677D}" type="slidenum">
              <a:rPr lang="en-RU" smtClean="0">
                <a:solidFill>
                  <a:srgbClr val="131313"/>
                </a:solidFill>
              </a:rPr>
              <a:pPr/>
              <a:t>3</a:t>
            </a:fld>
            <a:endParaRPr lang="en-RU" dirty="0">
              <a:solidFill>
                <a:srgbClr val="131313"/>
              </a:solidFill>
            </a:endParaRPr>
          </a:p>
        </p:txBody>
      </p:sp>
      <p:sp>
        <p:nvSpPr>
          <p:cNvPr id="25" name="All the world is made of faith, and trust, and pixie dust.">
            <a:extLst>
              <a:ext uri="{FF2B5EF4-FFF2-40B4-BE49-F238E27FC236}">
                <a16:creationId xmlns:a16="http://schemas.microsoft.com/office/drawing/2014/main" id="{4B2A8768-0D70-4AC7-B1D3-DF8B82F6E729}"/>
              </a:ext>
            </a:extLst>
          </p:cNvPr>
          <p:cNvSpPr txBox="1"/>
          <p:nvPr/>
        </p:nvSpPr>
        <p:spPr>
          <a:xfrm>
            <a:off x="1427162" y="5006265"/>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Н.А. Мушегян</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управления заявками, предложениями и заказами</a:t>
            </a:r>
            <a:endParaRPr lang="ru-RU" sz="2200" dirty="0">
              <a:solidFill>
                <a:schemeClr val="accent2"/>
              </a:solidFill>
              <a:latin typeface="Arial"/>
              <a:cs typeface="Arial"/>
            </a:endParaRPr>
          </a:p>
        </p:txBody>
      </p:sp>
      <p:sp>
        <p:nvSpPr>
          <p:cNvPr id="26" name="All the world is made of faith, and trust, and pixie dust.">
            <a:extLst>
              <a:ext uri="{FF2B5EF4-FFF2-40B4-BE49-F238E27FC236}">
                <a16:creationId xmlns:a16="http://schemas.microsoft.com/office/drawing/2014/main" id="{7CF1DF29-F5B1-43BE-82BD-5081F15B5E1E}"/>
              </a:ext>
            </a:extLst>
          </p:cNvPr>
          <p:cNvSpPr txBox="1"/>
          <p:nvPr/>
        </p:nvSpPr>
        <p:spPr>
          <a:xfrm>
            <a:off x="1427162" y="7104309"/>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С.Э. Маммедов</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аналитики закупок и оценки поставщиков</a:t>
            </a:r>
          </a:p>
        </p:txBody>
      </p:sp>
      <p:sp>
        <p:nvSpPr>
          <p:cNvPr id="27" name="All the world is made of faith, and trust, and pixie dust.">
            <a:extLst>
              <a:ext uri="{FF2B5EF4-FFF2-40B4-BE49-F238E27FC236}">
                <a16:creationId xmlns:a16="http://schemas.microsoft.com/office/drawing/2014/main" id="{E6D28898-93D1-4D88-9AE9-907527E2EBA4}"/>
              </a:ext>
            </a:extLst>
          </p:cNvPr>
          <p:cNvSpPr txBox="1"/>
          <p:nvPr/>
        </p:nvSpPr>
        <p:spPr>
          <a:xfrm>
            <a:off x="1427162" y="9202353"/>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Е.М. Киселева</a:t>
            </a:r>
          </a:p>
          <a:p>
            <a:pPr algn="ctr">
              <a:lnSpc>
                <a:spcPct val="120000"/>
              </a:lnSpc>
              <a:defRPr sz="2200">
                <a:solidFill>
                  <a:srgbClr val="000000"/>
                </a:solidFill>
                <a:latin typeface="Arial"/>
              </a:defRPr>
            </a:pPr>
            <a:r>
              <a:rPr lang="ru-RU" sz="4000" dirty="0">
                <a:solidFill>
                  <a:schemeClr val="accent2"/>
                </a:solidFill>
                <a:latin typeface="Arial"/>
                <a:cs typeface="Arial"/>
              </a:rPr>
              <a:t>Серверный модуль интеграции с учётными системами</a:t>
            </a:r>
          </a:p>
        </p:txBody>
      </p:sp>
      <p:sp>
        <p:nvSpPr>
          <p:cNvPr id="15" name="Прямоугольник 14">
            <a:hlinkClick r:id="rId2" action="ppaction://hlinksldjump"/>
            <a:extLst>
              <a:ext uri="{FF2B5EF4-FFF2-40B4-BE49-F238E27FC236}">
                <a16:creationId xmlns:a16="http://schemas.microsoft.com/office/drawing/2014/main" id="{0B7C840D-B613-414E-A485-F7FBDA90455E}"/>
              </a:ext>
            </a:extLst>
          </p:cNvPr>
          <p:cNvSpPr/>
          <p:nvPr/>
        </p:nvSpPr>
        <p:spPr>
          <a:xfrm>
            <a:off x="21416990" y="2965626"/>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Прямоугольник 29">
            <a:hlinkClick r:id="" action="ppaction://noaction"/>
            <a:extLst>
              <a:ext uri="{FF2B5EF4-FFF2-40B4-BE49-F238E27FC236}">
                <a16:creationId xmlns:a16="http://schemas.microsoft.com/office/drawing/2014/main" id="{9352154A-22FA-4760-9A06-37BBD77EEB17}"/>
              </a:ext>
            </a:extLst>
          </p:cNvPr>
          <p:cNvSpPr/>
          <p:nvPr/>
        </p:nvSpPr>
        <p:spPr>
          <a:xfrm>
            <a:off x="21416990" y="500124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1" name="Прямоугольник 30">
            <a:hlinkClick r:id="" action="ppaction://noaction"/>
            <a:extLst>
              <a:ext uri="{FF2B5EF4-FFF2-40B4-BE49-F238E27FC236}">
                <a16:creationId xmlns:a16="http://schemas.microsoft.com/office/drawing/2014/main" id="{C3E39073-8523-4A3D-A8FD-840CF84379DB}"/>
              </a:ext>
            </a:extLst>
          </p:cNvPr>
          <p:cNvSpPr/>
          <p:nvPr/>
        </p:nvSpPr>
        <p:spPr>
          <a:xfrm>
            <a:off x="21416990" y="710430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Прямоугольник 31">
            <a:hlinkClick r:id="" action="ppaction://noaction"/>
            <a:extLst>
              <a:ext uri="{FF2B5EF4-FFF2-40B4-BE49-F238E27FC236}">
                <a16:creationId xmlns:a16="http://schemas.microsoft.com/office/drawing/2014/main" id="{C59D291A-B749-49FF-B378-C223A9FAE50C}"/>
              </a:ext>
            </a:extLst>
          </p:cNvPr>
          <p:cNvSpPr/>
          <p:nvPr/>
        </p:nvSpPr>
        <p:spPr>
          <a:xfrm>
            <a:off x="21424362" y="9202353"/>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ведение справочника поставщиков и договоров; управление карточками товаров, ценами и скидками; импорт и экспорт каталога в Excel; фильтрация номенклатуры; управление статусами позиций.</a:t>
            </a:r>
          </a:p>
          <a:p>
            <a:pPr>
              <a:lnSpc>
                <a:spcPct val="130000"/>
              </a:lnSpc>
              <a:defRPr sz="2200">
                <a:solidFill>
                  <a:srgbClr val="000000"/>
                </a:solidFill>
                <a:latin typeface="Arial"/>
              </a:defRPr>
            </a:pPr>
            <a:r>
              <a:rPr lang="ru-RU" sz="3200" b="0" dirty="0">
                <a:solidFill>
                  <a:srgbClr val="000000"/>
                </a:solidFill>
                <a:latin typeface="Arial"/>
                <a:cs typeface="Arial"/>
              </a:rPr>
              <a:t>Бизнес-процессы описаны нотацией IDEF0 (контекстная модель веб-модуля закупок) и DFD (потоки данных между пользователем, процессами и хранилищами).</a:t>
            </a:r>
          </a:p>
          <a:p>
            <a:pPr>
              <a:lnSpc>
                <a:spcPct val="130000"/>
              </a:lnSpc>
              <a:defRPr sz="2200">
                <a:solidFill>
                  <a:srgbClr val="000000"/>
                </a:solidFill>
                <a:latin typeface="Arial"/>
              </a:defRPr>
            </a:pPr>
            <a:r>
              <a:rPr lang="ru-RU" sz="3200" dirty="0">
                <a:solidFill>
                  <a:srgbClr val="000000"/>
                </a:solidFill>
                <a:latin typeface="Arial"/>
                <a:cs typeface="Arial"/>
              </a:rPr>
              <a:t>Предметная область — </a:t>
            </a:r>
            <a:r>
              <a:rPr lang="ru-RU" sz="3200" b="0" dirty="0">
                <a:solidFill>
                  <a:srgbClr val="000000"/>
                </a:solidFill>
                <a:latin typeface="Arial"/>
                <a:cs typeface="Arial"/>
              </a:rPr>
              <a:t>закупочная деятельность в части централизованного ведения каталога и поставщиков.</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ведение поставщиков, контактных лиц и договоров; карточки товаров с ценой, скидкой, остатком и статусом; импорт/экспорт каталога в Excel; поиск и фильтрация по поставщику, цене, наличию; управление статусами «active» / «discontinued»; история изменения цен.</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веб-доступ, целостность данных, модульная архитектура, низкое потребление ресурсов для локального развертывания.</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SQLAlchemy (ORM), СУБД SQLite, Jinja2 + HTML/CSS, openpyxl для Excel-обмена.</a:t>
            </a:r>
          </a:p>
        </p:txBody>
      </p:sp>
    </p:spTree>
    <p:extLst>
      <p:ext uri="{BB962C8B-B14F-4D97-AF65-F5344CB8AC3E}">
        <p14:creationId xmlns:p14="http://schemas.microsoft.com/office/powerpoint/2010/main" val="39028444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Д.Б. Гурметов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БД построена вокруг четырёх сущностей:</a:t>
            </a:r>
          </a:p>
          <a:p>
            <a:pPr>
              <a:lnSpc>
                <a:spcPct val="125000"/>
              </a:lnSpc>
              <a:defRPr sz="2000">
                <a:solidFill>
                  <a:srgbClr val="000000"/>
                </a:solidFill>
                <a:latin typeface="Arial"/>
              </a:defRPr>
            </a:pPr>
            <a:r>
              <a:rPr lang="ru-RU" sz="3200" b="0" dirty="0">
                <a:solidFill>
                  <a:srgbClr val="000000"/>
                </a:solidFill>
                <a:latin typeface="Arial"/>
                <a:cs typeface="Arial"/>
              </a:rPr>
              <a:t>— Supplier (id, name, email, phone, reliability);</a:t>
            </a:r>
          </a:p>
          <a:p>
            <a:pPr>
              <a:lnSpc>
                <a:spcPct val="125000"/>
              </a:lnSpc>
              <a:defRPr sz="2000">
                <a:solidFill>
                  <a:srgbClr val="000000"/>
                </a:solidFill>
                <a:latin typeface="Arial"/>
              </a:defRPr>
            </a:pPr>
            <a:r>
              <a:rPr lang="ru-RU" sz="3200" b="0" dirty="0">
                <a:solidFill>
                  <a:srgbClr val="000000"/>
                </a:solidFill>
                <a:latin typeface="Arial"/>
                <a:cs typeface="Arial"/>
              </a:rPr>
              <a:t>— Contract (id, supplier_id, number, start_date, end_date, file_path);</a:t>
            </a:r>
          </a:p>
          <a:p>
            <a:pPr>
              <a:lnSpc>
                <a:spcPct val="125000"/>
              </a:lnSpc>
              <a:defRPr sz="2000">
                <a:solidFill>
                  <a:srgbClr val="000000"/>
                </a:solidFill>
                <a:latin typeface="Arial"/>
              </a:defRPr>
            </a:pPr>
            <a:r>
              <a:rPr lang="ru-RU" sz="3200" b="0" dirty="0">
                <a:solidFill>
                  <a:srgbClr val="000000"/>
                </a:solidFill>
                <a:latin typeface="Arial"/>
                <a:cs typeface="Arial"/>
              </a:rPr>
              <a:t>— CatalogItem (id, sku, name, unit, price, discount, available_qty, status, supplier_id);</a:t>
            </a:r>
          </a:p>
          <a:p>
            <a:pPr>
              <a:lnSpc>
                <a:spcPct val="125000"/>
              </a:lnSpc>
              <a:defRPr sz="2000">
                <a:solidFill>
                  <a:srgbClr val="000000"/>
                </a:solidFill>
                <a:latin typeface="Arial"/>
              </a:defRPr>
            </a:pPr>
            <a:r>
              <a:rPr lang="ru-RU" sz="3200" b="0" dirty="0">
                <a:solidFill>
                  <a:srgbClr val="000000"/>
                </a:solidFill>
                <a:latin typeface="Arial"/>
                <a:cs typeface="Arial"/>
              </a:rPr>
              <a:t>— PriceHistory (id, catalog_item_id, price, </a:t>
            </a:r>
            <a:r>
              <a:rPr lang="ru-RU" sz="3200" b="0" dirty="0" err="1">
                <a:solidFill>
                  <a:srgbClr val="000000"/>
                </a:solidFill>
                <a:latin typeface="Arial"/>
                <a:cs typeface="Arial"/>
              </a:rPr>
              <a:t>date</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Связи: </a:t>
            </a:r>
            <a:r>
              <a:rPr lang="ru-RU" sz="3200" b="0" dirty="0">
                <a:solidFill>
                  <a:srgbClr val="000000"/>
                </a:solidFill>
                <a:latin typeface="Arial"/>
                <a:cs typeface="Arial"/>
              </a:rPr>
              <a:t>Supplier 1—N Contract, Supplier 1—N CatalogItem, CatalogItem 1—N PriceHistory.</a:t>
            </a:r>
          </a:p>
          <a:p>
            <a:pPr>
              <a:lnSpc>
                <a:spcPct val="125000"/>
              </a:lnSpc>
              <a:defRPr sz="2000">
                <a:solidFill>
                  <a:srgbClr val="000000"/>
                </a:solidFill>
                <a:latin typeface="Arial"/>
              </a:defRPr>
            </a:pPr>
            <a:r>
              <a:rPr lang="ru-RU" sz="3200" b="0" dirty="0">
                <a:solidFill>
                  <a:srgbClr val="000000"/>
                </a:solidFill>
                <a:latin typeface="Arial"/>
                <a:cs typeface="Arial"/>
              </a:rPr>
              <a:t>Программная архитектура: Flask + create_app, Blueprint /suppliers, /contracts, /catalog; шаблоны Jinja base.html, suppliers.html, catalog.html. Паттерны: Application Factory, MVC.</a:t>
            </a:r>
          </a:p>
        </p:txBody>
      </p:sp>
    </p:spTree>
    <p:extLst>
      <p:ext uri="{BB962C8B-B14F-4D97-AF65-F5344CB8AC3E}">
        <p14:creationId xmlns:p14="http://schemas.microsoft.com/office/powerpoint/2010/main" val="5726066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rId2"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Реализован веб-модуль ведения каталога и поставщиков, интегрируемый в общий веб-сервис закупок. Обеспечены ведение справочников, импорт/экспорт Excel, фильтрация, история цен и управление статусами. Архитектура построена по принципу разделения ответственности между UI, серверной логикой и слоем хранения.</a:t>
            </a:r>
          </a:p>
        </p:txBody>
      </p:sp>
    </p:spTree>
    <p:extLst>
      <p:ext uri="{BB962C8B-B14F-4D97-AF65-F5344CB8AC3E}">
        <p14:creationId xmlns:p14="http://schemas.microsoft.com/office/powerpoint/2010/main" val="17271717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создание и согласование заявок подразделений; отправка коммерческих запросов поставщикам; регистрация и сравнение коммерческих предложений; формирование заказов; контроль исполнения и просрочек поставки.</a:t>
            </a:r>
          </a:p>
          <a:p>
            <a:pPr>
              <a:lnSpc>
                <a:spcPct val="130000"/>
              </a:lnSpc>
              <a:defRPr sz="2200">
                <a:solidFill>
                  <a:srgbClr val="000000"/>
                </a:solidFill>
                <a:latin typeface="Arial"/>
              </a:defRPr>
            </a:pPr>
            <a:r>
              <a:rPr lang="ru-RU" sz="3200" b="0" dirty="0">
                <a:solidFill>
                  <a:srgbClr val="000000"/>
                </a:solidFill>
                <a:latin typeface="Arial"/>
                <a:cs typeface="Arial"/>
              </a:rPr>
              <a:t>Контекст — нотация IDEF0: вход — потребность и предложения, выход — заявка, заказ, сведения о просрочках. Сквозной маршрут: PurchaseRequest → SupplierQuote → PurchaseOrder.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создание и согласование заявок; отправка коммерческих запросов; регистрация и сопоставление предложений; формирование заказа на основании выбранного предложения; контроль фактической даты поставки и оценки качества; уведомления о просрочках; изменение статусов на каждом этапе.</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связность заявка — предложение — заказ, прозрачность статусов, единое цифровое пространство малого предприятия.</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(маршруты /requests, /quotes, /orders), SQLAlchemy ORM, SQLite, HTML/Jinja, Pytest для тестирования</a:t>
            </a:r>
            <a:r>
              <a:rPr lang="ru-RU" sz="2100" b="0" dirty="0">
                <a:solidFill>
                  <a:srgbClr val="000000"/>
                </a:solidFill>
                <a:latin typeface="Arial"/>
                <a:cs typeface="Aria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Н.А. Мушегян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БД содержит три ключевые сущности:</a:t>
            </a:r>
          </a:p>
          <a:p>
            <a:pPr>
              <a:lnSpc>
                <a:spcPct val="125000"/>
              </a:lnSpc>
              <a:defRPr sz="2000">
                <a:solidFill>
                  <a:srgbClr val="000000"/>
                </a:solidFill>
                <a:latin typeface="Arial"/>
              </a:defRPr>
            </a:pPr>
            <a:r>
              <a:rPr lang="ru-RU" sz="3200" b="0" dirty="0">
                <a:solidFill>
                  <a:srgbClr val="000000"/>
                </a:solidFill>
                <a:latin typeface="Arial"/>
                <a:cs typeface="Arial"/>
              </a:rPr>
              <a:t>— PurchaseRequest (id, item_name, quantity, comment, required_date, status);</a:t>
            </a:r>
          </a:p>
          <a:p>
            <a:pPr>
              <a:lnSpc>
                <a:spcPct val="125000"/>
              </a:lnSpc>
              <a:defRPr sz="2000">
                <a:solidFill>
                  <a:srgbClr val="000000"/>
                </a:solidFill>
                <a:latin typeface="Arial"/>
              </a:defRPr>
            </a:pPr>
            <a:r>
              <a:rPr lang="ru-RU" sz="3200" b="0" dirty="0">
                <a:solidFill>
                  <a:srgbClr val="000000"/>
                </a:solidFill>
                <a:latin typeface="Arial"/>
                <a:cs typeface="Arial"/>
              </a:rPr>
              <a:t>— SupplierQuote (id, request_id, supplier_name, price, delivery_time, comment);</a:t>
            </a:r>
          </a:p>
          <a:p>
            <a:pPr>
              <a:lnSpc>
                <a:spcPct val="125000"/>
              </a:lnSpc>
              <a:defRPr sz="2000">
                <a:solidFill>
                  <a:srgbClr val="000000"/>
                </a:solidFill>
                <a:latin typeface="Arial"/>
              </a:defRPr>
            </a:pPr>
            <a:r>
              <a:rPr lang="ru-RU" sz="3200" b="0" dirty="0">
                <a:solidFill>
                  <a:srgbClr val="000000"/>
                </a:solidFill>
                <a:latin typeface="Arial"/>
                <a:cs typeface="Arial"/>
              </a:rPr>
              <a:t>— PurchaseOrder (id, quote_id, expected_date, delivered_date, quality_score, status).</a:t>
            </a:r>
          </a:p>
          <a:p>
            <a:pPr>
              <a:lnSpc>
                <a:spcPct val="125000"/>
              </a:lnSpc>
              <a:defRPr sz="2000">
                <a:solidFill>
                  <a:srgbClr val="000000"/>
                </a:solidFill>
                <a:latin typeface="Arial"/>
              </a:defRPr>
            </a:pPr>
            <a:r>
              <a:rPr lang="ru-RU" sz="3200" b="0" dirty="0">
                <a:solidFill>
                  <a:srgbClr val="000000"/>
                </a:solidFill>
                <a:latin typeface="Arial"/>
                <a:cs typeface="Arial"/>
              </a:rPr>
              <a:t>Связи 1—N через request_id и quote_id отражают сквозной закупочный сценарий. Статусы: created, approved, rejected, ordered, delivered, </a:t>
            </a:r>
            <a:r>
              <a:rPr lang="ru-RU" sz="3200" b="0" dirty="0" err="1">
                <a:solidFill>
                  <a:srgbClr val="000000"/>
                </a:solidFill>
                <a:latin typeface="Arial"/>
                <a:cs typeface="Arial"/>
              </a:rPr>
              <a:t>delayed</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Flask Blueprint объединяет обработчики, шаблоны Jinja, модель MVC; поля input type="date"/"number" для дат поставки и оценки качества.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Реализован модуль сквозного закупочного цикла малого предприятия: заявка → коммерческое предложение → заказ → контроль исполнения. Введены поля плановой и фактической даты поставки, оценка качества (quality_score), система просрочек. Достигнута прозрачность статусов внутри единого веб-приложения.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сбор и агрегация операционных данных о заказах, поставщиках и ценах; расчёт KPI закупочной деятельности; визуализация показателей; оценка надёжности поставщиков; экспорт отчётов.</a:t>
            </a:r>
          </a:p>
          <a:p>
            <a:pPr>
              <a:lnSpc>
                <a:spcPct val="130000"/>
              </a:lnSpc>
              <a:defRPr sz="2200">
                <a:solidFill>
                  <a:srgbClr val="000000"/>
                </a:solidFill>
                <a:latin typeface="Arial"/>
              </a:defRPr>
            </a:pPr>
            <a:r>
              <a:rPr lang="ru-RU" sz="3200" dirty="0">
                <a:solidFill>
                  <a:srgbClr val="000000"/>
                </a:solidFill>
                <a:latin typeface="Arial"/>
                <a:cs typeface="Arial"/>
              </a:rPr>
              <a:t>Контекстная модель IDEF0: </a:t>
            </a:r>
            <a:r>
              <a:rPr lang="ru-RU" sz="3200" b="0" dirty="0">
                <a:solidFill>
                  <a:srgbClr val="000000"/>
                </a:solidFill>
                <a:latin typeface="Arial"/>
                <a:cs typeface="Arial"/>
              </a:rPr>
              <a:t>вход — заказы, поставщики, цены, сроки, качество исполнения; управление — требования к KPI и правила расчёта reliability score; выход — KPI, графики, рейтинг, Excel-отчёт.</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расчёт KPI (общее число заказов, число просроченных, on time rate); агрегаты по поставщикам; reliability score = 0,6 × on_time_rate + 0,4 × avg_quality; график цен по SKU; экспорт отчётов в Excel; интеграция с модулями каталога, заявок и заказов.</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прозрачность источников KPI; корректность дат и числовых значений; устойчивость при росте объёма данных.</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(маршрут /analytics), SQLAlchemy ORM, SQLite, Chart.js (bar — поставщики, line — динамика цен), openpyxl.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С.Э. Маммедов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Аналитика опирается на сущности других модулей: </a:t>
            </a:r>
            <a:r>
              <a:rPr lang="ru-RU" sz="3200" b="0" dirty="0">
                <a:solidFill>
                  <a:srgbClr val="000000"/>
                </a:solidFill>
                <a:latin typeface="Arial"/>
                <a:cs typeface="Arial"/>
              </a:rPr>
              <a:t>Supplier, Order, OrderItem, CatalogItem, </a:t>
            </a:r>
            <a:r>
              <a:rPr lang="ru-RU" sz="3200" b="0" dirty="0" err="1">
                <a:solidFill>
                  <a:srgbClr val="000000"/>
                </a:solidFill>
                <a:latin typeface="Arial"/>
                <a:cs typeface="Arial"/>
              </a:rPr>
              <a:t>PriceHistory</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Три линии агрегации: </a:t>
            </a:r>
            <a:r>
              <a:rPr lang="ru-RU" sz="3200" b="0" dirty="0">
                <a:solidFill>
                  <a:srgbClr val="000000"/>
                </a:solidFill>
                <a:latin typeface="Arial"/>
                <a:cs typeface="Arial"/>
              </a:rPr>
              <a:t>сводные KPI; by_supplier (объём закупок и reliability); by_sku (динамика цен).</a:t>
            </a:r>
          </a:p>
          <a:p>
            <a:pPr>
              <a:lnSpc>
                <a:spcPct val="125000"/>
              </a:lnSpc>
              <a:defRPr sz="2000">
                <a:solidFill>
                  <a:srgbClr val="000000"/>
                </a:solidFill>
                <a:latin typeface="Arial"/>
              </a:defRPr>
            </a:pPr>
            <a:r>
              <a:rPr lang="ru-RU" sz="3200" b="0" dirty="0">
                <a:solidFill>
                  <a:srgbClr val="000000"/>
                </a:solidFill>
                <a:latin typeface="Arial"/>
                <a:cs typeface="Arial"/>
              </a:rPr>
              <a:t>Функция recalculate_supplier_reliability пересчитывает оценку надёжности.</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Flask-маршрут /analytics, шаблон панели с карточками KPI, диаграммами Chart.js и таблицей надёжности. Паттерны: Repository (выборки), Strategy (типы отчётов).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Получена интерактивная аналитическая панель с KPI, графиками и рейтингом поставщиков, интегрированная с остальными модулями веб-сервиса. Модуль сокращает путь от появления данных до управленческого вывода и поддерживает экспорт результатов в Excel.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приём данных от внешней учётной системы (REST API и файловый обмен); синхронизация справочников и операционных документов; ведение журнала интеграции; обработка ошибок и разрешение конфликтов; контроль безопасности передачи.</a:t>
            </a:r>
          </a:p>
          <a:p>
            <a:pPr>
              <a:lnSpc>
                <a:spcPct val="130000"/>
              </a:lnSpc>
              <a:defRPr sz="2200">
                <a:solidFill>
                  <a:srgbClr val="000000"/>
                </a:solidFill>
                <a:latin typeface="Arial"/>
              </a:defRPr>
            </a:pPr>
            <a:r>
              <a:rPr lang="ru-RU" sz="3200" b="0" dirty="0">
                <a:solidFill>
                  <a:srgbClr val="000000"/>
                </a:solidFill>
                <a:latin typeface="Arial"/>
                <a:cs typeface="Arial"/>
              </a:rPr>
              <a:t>Контекстная модель — серверный контур внутри Flask-приложения: внешняя система → REST API / файл → контроллер → IntegrationLog → база данных.</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REST endpoint приёма JSON-сообщений; файловая загрузка (multipart/form-data); многоступенчатый поиск соответствий по external_id; первичная и инкрементальная синхронизация; журналирование операций; обработка ошибок, разрешение дублей и конфликтов; контроль доступа и HTTPS.</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надёжность, прослеживаемость операций, целостность данных, защита по рекомендациям OWASP.</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a:t>
            </a:r>
            <a:r>
              <a:rPr lang="ru-RU" sz="3200" b="0" dirty="0">
                <a:solidFill>
                  <a:srgbClr val="000000"/>
                </a:solidFill>
                <a:latin typeface="Arial"/>
                <a:cs typeface="Arial"/>
              </a:rPr>
              <a:t>: Python 3 + Flask, SQLAlchemy, SQLite, REST API (request.get_json), модуль логирования, HTTPS/TLS.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Е.М. Киселева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214884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Центральная сущность БД — </a:t>
            </a:r>
            <a:r>
              <a:rPr lang="ru-RU" sz="3200" b="0" dirty="0">
                <a:solidFill>
                  <a:srgbClr val="000000"/>
                </a:solidFill>
                <a:latin typeface="Arial"/>
                <a:cs typeface="Arial"/>
              </a:rPr>
              <a:t>IntegrationLog (id, direction, external_system, payload, result, created_at). Справочники соответствий MappingReference хранят пары local_id ↔ external_id для контрагентов, номенклатуры, складов, единиц измерения. Дополнительно — таблицы версий документов и ошибок.</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REST endpoint, файловый загрузчик, общий контроллер обработки, административный интерфейс журнала.</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Паттерны: </a:t>
            </a:r>
            <a:r>
              <a:rPr lang="ru-RU" sz="3200" b="0" dirty="0">
                <a:solidFill>
                  <a:srgbClr val="000000"/>
                </a:solidFill>
                <a:latin typeface="Arial"/>
                <a:cs typeface="Arial"/>
              </a:rPr>
              <a:t>Adapter (форматы), Repository (журнал), Chain of Responsibility (многоступенчатая обработка пакета).</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214884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dirty="0">
                <a:solidFill>
                  <a:srgbClr val="000000"/>
                </a:solidFill>
                <a:latin typeface="Arial"/>
                <a:cs typeface="Arial"/>
              </a:rPr>
              <a:t>Реализован серверный модуль интеграции с REST API и файловым обменом, единым журналом IntegrationLog и справочниками соответствий. Обеспечены автоматический и ручной режимы обмена, разрешение конфликтов, контроль ошибок и безопасности.</a:t>
            </a:r>
          </a:p>
        </p:txBody>
      </p:sp>
    </p:spTree>
  </p:cSld>
  <p:clrMapOvr>
    <a:masterClrMapping/>
  </p:clrMapOvr>
</p:sld>
</file>

<file path=ppt/theme/theme1.xml><?xml version="1.0" encoding="utf-8"?>
<a:theme xmlns:a="http://schemas.openxmlformats.org/drawingml/2006/main" name="White">
  <a:themeElements>
    <a:clrScheme name="Другая 2">
      <a:dk1>
        <a:srgbClr val="232422"/>
      </a:dk1>
      <a:lt1>
        <a:srgbClr val="FFFFFF"/>
      </a:lt1>
      <a:dk2>
        <a:srgbClr val="7E8089"/>
      </a:dk2>
      <a:lt2>
        <a:srgbClr val="EFF0EF"/>
      </a:lt2>
      <a:accent1>
        <a:srgbClr val="C81240"/>
      </a:accent1>
      <a:accent2>
        <a:srgbClr val="A00F33"/>
      </a:accent2>
      <a:accent3>
        <a:srgbClr val="D3E0E4"/>
      </a:accent3>
      <a:accent4>
        <a:srgbClr val="29345B"/>
      </a:accent4>
      <a:accent5>
        <a:srgbClr val="171F29"/>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12874</TotalTime>
  <Words>1654</Words>
  <Application>Microsoft Macintosh PowerPoint</Application>
  <PresentationFormat>Произвольный</PresentationFormat>
  <Paragraphs>98</Paragraphs>
  <Slides>19</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19</vt:i4>
      </vt:variant>
    </vt:vector>
  </HeadingPairs>
  <TitlesOfParts>
    <vt:vector size="23" baseType="lpstr">
      <vt:lpstr>Arial</vt:lpstr>
      <vt:lpstr>Arial Black</vt:lpstr>
      <vt:lpstr>Helvetica Neue</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Апакин Михаил Александрович</dc:creator>
  <cp:lastModifiedBy>Мушегян Нарек Арсенович</cp:lastModifiedBy>
  <cp:revision>512</cp:revision>
  <cp:lastPrinted>2024-05-06T13:42:22Z</cp:lastPrinted>
  <dcterms:modified xsi:type="dcterms:W3CDTF">2026-05-20T20:48:22Z</dcterms:modified>
</cp:coreProperties>
</file>