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svg" ContentType="image/svg+xml"/>
  <Override PartName="/ppt/media/image2.svg" ContentType="image/svg+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handoutMasterIdLst>
    <p:handoutMasterId r:id="rId22"/>
  </p:handoutMasterIdLst>
  <p:sldIdLst>
    <p:sldId id="392" r:id="rId2"/>
    <p:sldId id="257" r:id="rId3"/>
    <p:sldId id="261" r:id="rId4"/>
    <p:sldId id="259" r:id="rId5"/>
    <p:sldId id="411" r:id="rId6"/>
    <p:sldId id="432" r:id="rId7"/>
    <p:sldId id="414" r:id="rId8"/>
    <p:sldId id="433" r:id="rId9"/>
    <p:sldId id="434" r:id="rId10"/>
    <p:sldId id="435" r:id="rId11"/>
    <p:sldId id="436" r:id="rId12"/>
    <p:sldId id="437" r:id="rId13"/>
    <p:sldId id="438" r:id="rId14"/>
    <p:sldId id="439" r:id="rId15"/>
    <p:sldId id="440" r:id="rId16"/>
    <p:sldId id="441" r:id="rId17"/>
    <p:sldId id="442" r:id="rId18"/>
    <p:sldId id="443" r:id="rId19"/>
    <p:sldId id="444" r:id="rId20"/>
  </p:sldIdLst>
  <p:sldSz cx="24384000" cy="13716000"/>
  <p:notesSz cx="9928225" cy="6797675"/>
  <p:defaultTextStyle>
    <a:defPPr marL="0" marR="0" indent="0" algn="l" defTabSz="914389"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457195"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914389"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1371584"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1828778"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2285973"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2743167"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3200362"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3657556"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15:guide id="1" orient="horz" pos="7835" userDrawn="1">
          <p15:clr>
            <a:srgbClr val="A4A3A4"/>
          </p15:clr>
        </p15:guide>
        <p15:guide id="2" orient="horz" pos="2029" userDrawn="1">
          <p15:clr>
            <a:srgbClr val="A4A3A4"/>
          </p15:clr>
        </p15:guide>
        <p15:guide id="3" pos="921" userDrawn="1">
          <p15:clr>
            <a:srgbClr val="A4A3A4"/>
          </p15:clr>
        </p15:guide>
        <p15:guide id="4" pos="14484" userDrawn="1">
          <p15:clr>
            <a:srgbClr val="A4A3A4"/>
          </p15:clr>
        </p15:guide>
        <p15:guide id="5" orient="horz" pos="7814" userDrawn="1">
          <p15:clr>
            <a:srgbClr val="A4A3A4"/>
          </p15:clr>
        </p15:guide>
        <p15:guide id="6" orient="horz" pos="7518" userDrawn="1">
          <p15:clr>
            <a:srgbClr val="A4A3A4"/>
          </p15:clr>
        </p15:guide>
        <p15:guide id="7" orient="horz" pos="6000" userDrawn="1">
          <p15:clr>
            <a:srgbClr val="A4A3A4"/>
          </p15:clr>
        </p15:guide>
        <p15:guide id="8" orient="horz" pos="5635" userDrawn="1">
          <p15:clr>
            <a:srgbClr val="A4A3A4"/>
          </p15:clr>
        </p15:guide>
        <p15:guide id="9" pos="5617" userDrawn="1">
          <p15:clr>
            <a:srgbClr val="A4A3A4"/>
          </p15:clr>
        </p15:guide>
        <p15:guide id="10" orient="horz" pos="3368" userDrawn="1">
          <p15:clr>
            <a:srgbClr val="A4A3A4"/>
          </p15:clr>
        </p15:guide>
        <p15:guide id="11" orient="horz" pos="2732" userDrawn="1">
          <p15:clr>
            <a:srgbClr val="A4A3A4"/>
          </p15:clr>
        </p15:guide>
        <p15:guide id="12" pos="2737" userDrawn="1">
          <p15:clr>
            <a:srgbClr val="A4A3A4"/>
          </p15:clr>
        </p15:guide>
        <p15:guide id="13" pos="3303" userDrawn="1">
          <p15:clr>
            <a:srgbClr val="A4A3A4"/>
          </p15:clr>
        </p15:guide>
        <p15:guide id="14" pos="1969" userDrawn="1">
          <p15:clr>
            <a:srgbClr val="A4A3A4"/>
          </p15:clr>
        </p15:guide>
        <p15:guide id="15" pos="6410" userDrawn="1">
          <p15:clr>
            <a:srgbClr val="A4A3A4"/>
          </p15:clr>
        </p15:guide>
        <p15:guide id="16" pos="8791" userDrawn="1">
          <p15:clr>
            <a:srgbClr val="A4A3A4"/>
          </p15:clr>
        </p15:guide>
        <p15:guide id="17" pos="14144" userDrawn="1">
          <p15:clr>
            <a:srgbClr val="A4A3A4"/>
          </p15:clr>
        </p15:guide>
        <p15:guide id="18" pos="9449" userDrawn="1">
          <p15:clr>
            <a:srgbClr val="A4A3A4"/>
          </p15:clr>
        </p15:guide>
        <p15:guide id="19" pos="9835" userDrawn="1">
          <p15:clr>
            <a:srgbClr val="A4A3A4"/>
          </p15:clr>
        </p15:guide>
        <p15:guide id="20" pos="11786" userDrawn="1">
          <p15:clr>
            <a:srgbClr val="A4A3A4"/>
          </p15:clr>
        </p15:guide>
        <p15:guide id="21" pos="12217" userDrawn="1">
          <p15:clr>
            <a:srgbClr val="A4A3A4"/>
          </p15:clr>
        </p15:guide>
        <p15:guide id="22" pos="8089" userDrawn="1">
          <p15:clr>
            <a:srgbClr val="A4A3A4"/>
          </p15:clr>
        </p15:guide>
        <p15:guide id="23" pos="4528" userDrawn="1">
          <p15:clr>
            <a:srgbClr val="A4A3A4"/>
          </p15:clr>
        </p15:guide>
        <p15:guide id="24" orient="horz" pos="2640" userDrawn="1">
          <p15:clr>
            <a:srgbClr val="A4A3A4"/>
          </p15:clr>
        </p15:guide>
        <p15:guide id="25" pos="722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Апакин Михаил Александрович" initials="АМА" lastIdx="0" clrIdx="0">
    <p:extLst>
      <p:ext uri="{19B8F6BF-5375-455C-9EA6-DF929625EA0E}">
        <p15:presenceInfo xmlns:p15="http://schemas.microsoft.com/office/powerpoint/2012/main" userId="S-1-5-21-3840247747-1450702109-120892074-122389" providerId="AD"/>
      </p:ext>
    </p:extLst>
  </p:cmAuthor>
  <p:cmAuthor id="2" name="Светлана Корытова" initials="СК" lastIdx="2" clrIdx="1">
    <p:extLst>
      <p:ext uri="{19B8F6BF-5375-455C-9EA6-DF929625EA0E}">
        <p15:presenceInfo xmlns:p15="http://schemas.microsoft.com/office/powerpoint/2012/main" userId="174a7ca35980dd9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240"/>
    <a:srgbClr val="EFF0EF"/>
    <a:srgbClr val="E63542"/>
    <a:srgbClr val="FF5F61"/>
    <a:srgbClr val="D3E0E4"/>
    <a:srgbClr val="5CA8D6"/>
    <a:srgbClr val="5BA7D5"/>
    <a:srgbClr val="171F29"/>
    <a:srgbClr val="002B5B"/>
    <a:srgbClr val="1B25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847"/>
    <p:restoredTop sz="91034" autoAdjust="0"/>
  </p:normalViewPr>
  <p:slideViewPr>
    <p:cSldViewPr snapToGrid="0" snapToObjects="1">
      <p:cViewPr varScale="1">
        <p:scale>
          <a:sx n="57" d="100"/>
          <a:sy n="57" d="100"/>
        </p:scale>
        <p:origin x="688" y="184"/>
      </p:cViewPr>
      <p:guideLst>
        <p:guide orient="horz" pos="7835"/>
        <p:guide orient="horz" pos="2029"/>
        <p:guide pos="921"/>
        <p:guide pos="14484"/>
        <p:guide orient="horz" pos="7814"/>
        <p:guide orient="horz" pos="7518"/>
        <p:guide orient="horz" pos="6000"/>
        <p:guide orient="horz" pos="5635"/>
        <p:guide pos="5617"/>
        <p:guide orient="horz" pos="3368"/>
        <p:guide orient="horz" pos="2732"/>
        <p:guide pos="2737"/>
        <p:guide pos="3303"/>
        <p:guide pos="1969"/>
        <p:guide pos="6410"/>
        <p:guide pos="8791"/>
        <p:guide pos="14144"/>
        <p:guide pos="9449"/>
        <p:guide pos="9835"/>
        <p:guide pos="11786"/>
        <p:guide pos="12217"/>
        <p:guide pos="8089"/>
        <p:guide pos="4528"/>
        <p:guide orient="horz" pos="2640"/>
        <p:guide pos="7226"/>
      </p:guideLst>
    </p:cSldViewPr>
  </p:slideViewPr>
  <p:notesTextViewPr>
    <p:cViewPr>
      <p:scale>
        <a:sx n="1" d="1"/>
        <a:sy n="1" d="1"/>
      </p:scale>
      <p:origin x="0" y="0"/>
    </p:cViewPr>
  </p:notesTextViewPr>
  <p:sorterViewPr>
    <p:cViewPr>
      <p:scale>
        <a:sx n="57" d="100"/>
        <a:sy n="57" d="100"/>
      </p:scale>
      <p:origin x="0" y="0"/>
    </p:cViewPr>
  </p:sorterViewPr>
  <p:notesViewPr>
    <p:cSldViewPr snapToGrid="0" snapToObjects="1">
      <p:cViewPr varScale="1">
        <p:scale>
          <a:sx n="87" d="100"/>
          <a:sy n="87" d="100"/>
        </p:scale>
        <p:origin x="1848" y="5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handoutMaster" Target="handoutMasters/handoutMaster1.xml"/><Relationship Id="rId23" Type="http://schemas.openxmlformats.org/officeDocument/2006/relationships/commentAuthors" Target="commentAuthors.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9642D926-E079-1C43-78F1-C2634BAE59F2}"/>
              </a:ext>
            </a:extLst>
          </p:cNvPr>
          <p:cNvSpPr>
            <a:spLocks noGrp="1"/>
          </p:cNvSpPr>
          <p:nvPr>
            <p:ph type="hdr" sz="quarter"/>
          </p:nvPr>
        </p:nvSpPr>
        <p:spPr>
          <a:xfrm>
            <a:off x="0" y="0"/>
            <a:ext cx="4302125" cy="341313"/>
          </a:xfrm>
          <a:prstGeom prst="rect">
            <a:avLst/>
          </a:prstGeom>
        </p:spPr>
        <p:txBody>
          <a:bodyPr vert="horz" lIns="91440" tIns="45720" rIns="91440" bIns="45720" rtlCol="0"/>
          <a:lstStyle>
            <a:lvl1pPr algn="l">
              <a:defRPr sz="1200"/>
            </a:lvl1pPr>
          </a:lstStyle>
          <a:p>
            <a:endParaRPr lang="ru-RU"/>
          </a:p>
        </p:txBody>
      </p:sp>
      <p:sp>
        <p:nvSpPr>
          <p:cNvPr id="3" name="Дата 2">
            <a:extLst>
              <a:ext uri="{FF2B5EF4-FFF2-40B4-BE49-F238E27FC236}">
                <a16:creationId xmlns:a16="http://schemas.microsoft.com/office/drawing/2014/main" id="{9A324DC4-BCC9-CDD3-B3AE-F0041C2F345A}"/>
              </a:ext>
            </a:extLst>
          </p:cNvPr>
          <p:cNvSpPr>
            <a:spLocks noGrp="1"/>
          </p:cNvSpPr>
          <p:nvPr>
            <p:ph type="dt" sz="quarter" idx="1"/>
          </p:nvPr>
        </p:nvSpPr>
        <p:spPr>
          <a:xfrm>
            <a:off x="5622925" y="0"/>
            <a:ext cx="4303713" cy="341313"/>
          </a:xfrm>
          <a:prstGeom prst="rect">
            <a:avLst/>
          </a:prstGeom>
        </p:spPr>
        <p:txBody>
          <a:bodyPr vert="horz" lIns="91440" tIns="45720" rIns="91440" bIns="45720" rtlCol="0"/>
          <a:lstStyle>
            <a:lvl1pPr algn="r">
              <a:defRPr sz="1200"/>
            </a:lvl1pPr>
          </a:lstStyle>
          <a:p>
            <a:fld id="{BF52F246-F73D-45E2-9F41-142DBE0880D0}" type="datetimeFigureOut">
              <a:rPr lang="ru-RU" smtClean="0"/>
              <a:t>20.05.2026</a:t>
            </a:fld>
            <a:endParaRPr lang="ru-RU"/>
          </a:p>
        </p:txBody>
      </p:sp>
      <p:sp>
        <p:nvSpPr>
          <p:cNvPr id="4" name="Нижний колонтитул 3">
            <a:extLst>
              <a:ext uri="{FF2B5EF4-FFF2-40B4-BE49-F238E27FC236}">
                <a16:creationId xmlns:a16="http://schemas.microsoft.com/office/drawing/2014/main" id="{EAFD7C1C-1BAD-BDAE-C016-EDBB1CE094D6}"/>
              </a:ext>
            </a:extLst>
          </p:cNvPr>
          <p:cNvSpPr>
            <a:spLocks noGrp="1"/>
          </p:cNvSpPr>
          <p:nvPr>
            <p:ph type="ftr" sz="quarter" idx="2"/>
          </p:nvPr>
        </p:nvSpPr>
        <p:spPr>
          <a:xfrm>
            <a:off x="0" y="6456363"/>
            <a:ext cx="4302125" cy="341312"/>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a:extLst>
              <a:ext uri="{FF2B5EF4-FFF2-40B4-BE49-F238E27FC236}">
                <a16:creationId xmlns:a16="http://schemas.microsoft.com/office/drawing/2014/main" id="{B634D5B6-F934-9ADB-FA66-ECC7AC603144}"/>
              </a:ext>
            </a:extLst>
          </p:cNvPr>
          <p:cNvSpPr>
            <a:spLocks noGrp="1"/>
          </p:cNvSpPr>
          <p:nvPr>
            <p:ph type="sldNum" sz="quarter" idx="3"/>
          </p:nvPr>
        </p:nvSpPr>
        <p:spPr>
          <a:xfrm>
            <a:off x="5622925" y="6456363"/>
            <a:ext cx="4303713" cy="341312"/>
          </a:xfrm>
          <a:prstGeom prst="rect">
            <a:avLst/>
          </a:prstGeom>
        </p:spPr>
        <p:txBody>
          <a:bodyPr vert="horz" lIns="91440" tIns="45720" rIns="91440" bIns="45720" rtlCol="0" anchor="b"/>
          <a:lstStyle>
            <a:lvl1pPr algn="r">
              <a:defRPr sz="1200"/>
            </a:lvl1pPr>
          </a:lstStyle>
          <a:p>
            <a:fld id="{108E11C1-83C5-430E-8196-D3A36C7AB2BA}" type="slidenum">
              <a:rPr lang="ru-RU" smtClean="0"/>
              <a:t>‹#›</a:t>
            </a:fld>
            <a:endParaRPr lang="ru-RU"/>
          </a:p>
        </p:txBody>
      </p:sp>
    </p:spTree>
    <p:extLst>
      <p:ext uri="{BB962C8B-B14F-4D97-AF65-F5344CB8AC3E}">
        <p14:creationId xmlns:p14="http://schemas.microsoft.com/office/powerpoint/2010/main" val="1740957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4" name="Shape 44"/>
          <p:cNvSpPr>
            <a:spLocks noGrp="1" noRot="1" noChangeAspect="1"/>
          </p:cNvSpPr>
          <p:nvPr>
            <p:ph type="sldImg"/>
          </p:nvPr>
        </p:nvSpPr>
        <p:spPr>
          <a:xfrm>
            <a:off x="2697163" y="509588"/>
            <a:ext cx="4533900" cy="2549525"/>
          </a:xfrm>
          <a:prstGeom prst="rect">
            <a:avLst/>
          </a:prstGeom>
        </p:spPr>
        <p:txBody>
          <a:bodyPr/>
          <a:lstStyle/>
          <a:p>
            <a:endParaRPr dirty="0"/>
          </a:p>
        </p:txBody>
      </p:sp>
      <p:sp>
        <p:nvSpPr>
          <p:cNvPr id="45" name="Shape 45"/>
          <p:cNvSpPr>
            <a:spLocks noGrp="1"/>
          </p:cNvSpPr>
          <p:nvPr>
            <p:ph type="body" sz="quarter" idx="1"/>
          </p:nvPr>
        </p:nvSpPr>
        <p:spPr>
          <a:xfrm>
            <a:off x="1323764" y="3228896"/>
            <a:ext cx="7280698" cy="3058954"/>
          </a:xfrm>
          <a:prstGeom prst="rect">
            <a:avLst/>
          </a:prstGeom>
        </p:spPr>
        <p:txBody>
          <a:bodyPr/>
          <a:lstStyle/>
          <a:p>
            <a:endParaRPr dirty="0"/>
          </a:p>
        </p:txBody>
      </p:sp>
    </p:spTree>
  </p:cSld>
  <p:clrMap bg1="lt1" tx1="dk1" bg2="lt2" tx2="dk2" accent1="accent1" accent2="accent2" accent3="accent3" accent4="accent4" accent5="accent5" accent6="accent6" hlink="hlink" folHlink="folHlink"/>
  <p:notesStyle>
    <a:lvl1pPr defTabSz="457195" latinLnBrk="0">
      <a:lnSpc>
        <a:spcPct val="117999"/>
      </a:lnSpc>
      <a:defRPr sz="2200" b="1" i="0">
        <a:latin typeface="Arial" panose="020B0604020202020204" pitchFamily="34" charset="0"/>
        <a:ea typeface="Helvetica Neue"/>
        <a:cs typeface="Arial" panose="020B0604020202020204" pitchFamily="34" charset="0"/>
        <a:sym typeface="Helvetica Neue"/>
      </a:defRPr>
    </a:lvl1pPr>
    <a:lvl2pPr indent="228597" defTabSz="457195" latinLnBrk="0">
      <a:lnSpc>
        <a:spcPct val="117999"/>
      </a:lnSpc>
      <a:defRPr sz="2200">
        <a:latin typeface="Helvetica Neue"/>
        <a:ea typeface="Helvetica Neue"/>
        <a:cs typeface="Helvetica Neue"/>
        <a:sym typeface="Helvetica Neue"/>
      </a:defRPr>
    </a:lvl2pPr>
    <a:lvl3pPr indent="457195" defTabSz="457195" latinLnBrk="0">
      <a:lnSpc>
        <a:spcPct val="117999"/>
      </a:lnSpc>
      <a:defRPr sz="2200">
        <a:latin typeface="Helvetica Neue"/>
        <a:ea typeface="Helvetica Neue"/>
        <a:cs typeface="Helvetica Neue"/>
        <a:sym typeface="Helvetica Neue"/>
      </a:defRPr>
    </a:lvl3pPr>
    <a:lvl4pPr indent="685792" defTabSz="457195" latinLnBrk="0">
      <a:lnSpc>
        <a:spcPct val="117999"/>
      </a:lnSpc>
      <a:defRPr sz="2200">
        <a:latin typeface="Helvetica Neue"/>
        <a:ea typeface="Helvetica Neue"/>
        <a:cs typeface="Helvetica Neue"/>
        <a:sym typeface="Helvetica Neue"/>
      </a:defRPr>
    </a:lvl4pPr>
    <a:lvl5pPr indent="914389" defTabSz="457195" latinLnBrk="0">
      <a:lnSpc>
        <a:spcPct val="117999"/>
      </a:lnSpc>
      <a:defRPr sz="2200">
        <a:latin typeface="Helvetica Neue"/>
        <a:ea typeface="Helvetica Neue"/>
        <a:cs typeface="Helvetica Neue"/>
        <a:sym typeface="Helvetica Neue"/>
      </a:defRPr>
    </a:lvl5pPr>
    <a:lvl6pPr indent="1142986" defTabSz="457195" latinLnBrk="0">
      <a:lnSpc>
        <a:spcPct val="117999"/>
      </a:lnSpc>
      <a:defRPr sz="2200">
        <a:latin typeface="Helvetica Neue"/>
        <a:ea typeface="Helvetica Neue"/>
        <a:cs typeface="Helvetica Neue"/>
        <a:sym typeface="Helvetica Neue"/>
      </a:defRPr>
    </a:lvl6pPr>
    <a:lvl7pPr indent="1371584" defTabSz="457195" latinLnBrk="0">
      <a:lnSpc>
        <a:spcPct val="117999"/>
      </a:lnSpc>
      <a:defRPr sz="2200">
        <a:latin typeface="Helvetica Neue"/>
        <a:ea typeface="Helvetica Neue"/>
        <a:cs typeface="Helvetica Neue"/>
        <a:sym typeface="Helvetica Neue"/>
      </a:defRPr>
    </a:lvl7pPr>
    <a:lvl8pPr indent="1600181" defTabSz="457195" latinLnBrk="0">
      <a:lnSpc>
        <a:spcPct val="117999"/>
      </a:lnSpc>
      <a:defRPr sz="2200">
        <a:latin typeface="Helvetica Neue"/>
        <a:ea typeface="Helvetica Neue"/>
        <a:cs typeface="Helvetica Neue"/>
        <a:sym typeface="Helvetica Neue"/>
      </a:defRPr>
    </a:lvl8pPr>
    <a:lvl9pPr indent="1828778" defTabSz="457195"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AM" dirty="0"/>
          </a:p>
        </p:txBody>
      </p:sp>
    </p:spTree>
    <p:extLst>
      <p:ext uri="{BB962C8B-B14F-4D97-AF65-F5344CB8AC3E}">
        <p14:creationId xmlns:p14="http://schemas.microsoft.com/office/powerpoint/2010/main" val="30929210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amp; Subtitle">
    <p:bg>
      <p:bgPr>
        <a:solidFill>
          <a:schemeClr val="bg2"/>
        </a:solidFill>
        <a:effectLst/>
      </p:bgPr>
    </p:bg>
    <p:spTree>
      <p:nvGrpSpPr>
        <p:cNvPr id="1" name=""/>
        <p:cNvGrpSpPr/>
        <p:nvPr/>
      </p:nvGrpSpPr>
      <p:grpSpPr>
        <a:xfrm>
          <a:off x="0" y="0"/>
          <a:ext cx="0" cy="0"/>
          <a:chOff x="0" y="0"/>
          <a:chExt cx="0" cy="0"/>
        </a:xfrm>
      </p:grpSpPr>
      <p:sp>
        <p:nvSpPr>
          <p:cNvPr id="10" name="Circle">
            <a:extLst>
              <a:ext uri="{FF2B5EF4-FFF2-40B4-BE49-F238E27FC236}">
                <a16:creationId xmlns:a16="http://schemas.microsoft.com/office/drawing/2014/main" id="{F45B0D71-897C-4EB0-46E0-FB6CB6B7B520}"/>
              </a:ext>
            </a:extLst>
          </p:cNvPr>
          <p:cNvSpPr/>
          <p:nvPr userDrawn="1"/>
        </p:nvSpPr>
        <p:spPr>
          <a:xfrm>
            <a:off x="22441118" y="11878734"/>
            <a:ext cx="571500" cy="571500"/>
          </a:xfrm>
          <a:prstGeom prst="ellipse">
            <a:avLst/>
          </a:prstGeom>
          <a:solidFill>
            <a:schemeClr val="accent2"/>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14" name="TextBox 13">
            <a:extLst>
              <a:ext uri="{FF2B5EF4-FFF2-40B4-BE49-F238E27FC236}">
                <a16:creationId xmlns:a16="http://schemas.microsoft.com/office/drawing/2014/main" id="{8B6A0843-726A-3A59-EE52-9E2E5CFD50FB}"/>
              </a:ext>
            </a:extLst>
          </p:cNvPr>
          <p:cNvSpPr txBox="1"/>
          <p:nvPr userDrawn="1"/>
        </p:nvSpPr>
        <p:spPr>
          <a:xfrm>
            <a:off x="21945599" y="11989137"/>
            <a:ext cx="1583872"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fld id="{237BFCC7-0462-204F-8CFA-53F012517568}" type="slidenum">
              <a:rPr kumimoji="0" lang="en-RU" sz="1400" b="1" i="0" u="none" strike="noStrike" cap="none" spc="0" normalizeH="0" baseline="0" smtClean="0">
                <a:ln>
                  <a:noFill/>
                </a:ln>
                <a:solidFill>
                  <a:schemeClr val="bg1"/>
                </a:solidFill>
                <a:effectLst/>
                <a:uFillTx/>
                <a:latin typeface="Arial" panose="020B0604020202020204" pitchFamily="34" charset="0"/>
                <a:ea typeface="Helvetica Neue"/>
                <a:cs typeface="Arial" panose="020B0604020202020204" pitchFamily="34" charset="0"/>
                <a:sym typeface="Helvetica Neue"/>
              </a:rPr>
              <a:t>‹#›</a:t>
            </a:fld>
            <a:endParaRPr kumimoji="0" lang="en-RU" sz="1400" b="1" i="0" u="none" strike="noStrike" cap="none" spc="0" normalizeH="0" baseline="0" dirty="0">
              <a:ln>
                <a:noFill/>
              </a:ln>
              <a:solidFill>
                <a:schemeClr val="bg1"/>
              </a:solidFill>
              <a:effectLst/>
              <a:uFillTx/>
              <a:latin typeface="Arial" panose="020B0604020202020204" pitchFamily="34" charset="0"/>
              <a:ea typeface="Helvetica Neue"/>
              <a:cs typeface="Arial" panose="020B0604020202020204" pitchFamily="34" charset="0"/>
              <a:sym typeface="Helvetica Neue"/>
            </a:endParaRPr>
          </a:p>
        </p:txBody>
      </p:sp>
      <p:pic>
        <p:nvPicPr>
          <p:cNvPr id="6" name="Рисунок 5">
            <a:extLst>
              <a:ext uri="{FF2B5EF4-FFF2-40B4-BE49-F238E27FC236}">
                <a16:creationId xmlns:a16="http://schemas.microsoft.com/office/drawing/2014/main" id="{3902CFB0-D572-BEF3-4C22-35C7B16C92A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558759" y="742369"/>
            <a:ext cx="2688063" cy="1176028"/>
          </a:xfrm>
          <a:prstGeom prst="rect">
            <a:avLst/>
          </a:prstGeom>
        </p:spPr>
      </p:pic>
    </p:spTree>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0_Red">
    <p:bg>
      <p:bgPr>
        <a:solidFill>
          <a:schemeClr val="bg2"/>
        </a:solidFill>
        <a:effectLst/>
      </p:bgPr>
    </p:bg>
    <p:spTree>
      <p:nvGrpSpPr>
        <p:cNvPr id="1" name=""/>
        <p:cNvGrpSpPr/>
        <p:nvPr/>
      </p:nvGrpSpPr>
      <p:grpSpPr>
        <a:xfrm>
          <a:off x="0" y="0"/>
          <a:ext cx="0" cy="0"/>
          <a:chOff x="0" y="0"/>
          <a:chExt cx="0" cy="0"/>
        </a:xfrm>
      </p:grpSpPr>
      <p:sp>
        <p:nvSpPr>
          <p:cNvPr id="7" name="Rectangle">
            <a:extLst>
              <a:ext uri="{FF2B5EF4-FFF2-40B4-BE49-F238E27FC236}">
                <a16:creationId xmlns:a16="http://schemas.microsoft.com/office/drawing/2014/main" id="{EE11BFFA-23E6-49E3-A942-F58919D39390}"/>
              </a:ext>
            </a:extLst>
          </p:cNvPr>
          <p:cNvSpPr/>
          <p:nvPr userDrawn="1"/>
        </p:nvSpPr>
        <p:spPr>
          <a:xfrm>
            <a:off x="-8468" y="7426"/>
            <a:ext cx="24400935" cy="5337688"/>
          </a:xfrm>
          <a:prstGeom prst="rect">
            <a:avLst/>
          </a:prstGeom>
          <a:solidFill>
            <a:schemeClr val="accent2"/>
          </a:solidFill>
          <a:ln w="12700">
            <a:noFill/>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2" name="Circle">
            <a:extLst>
              <a:ext uri="{FF2B5EF4-FFF2-40B4-BE49-F238E27FC236}">
                <a16:creationId xmlns:a16="http://schemas.microsoft.com/office/drawing/2014/main" id="{C8EC8FE0-0138-72CC-F050-6504FAB4FA84}"/>
              </a:ext>
            </a:extLst>
          </p:cNvPr>
          <p:cNvSpPr/>
          <p:nvPr userDrawn="1"/>
        </p:nvSpPr>
        <p:spPr>
          <a:xfrm>
            <a:off x="22441118" y="11878734"/>
            <a:ext cx="571500" cy="571500"/>
          </a:xfrm>
          <a:prstGeom prst="ellipse">
            <a:avLst/>
          </a:prstGeom>
          <a:solidFill>
            <a:schemeClr val="accent2"/>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3" name="TextBox 2">
            <a:extLst>
              <a:ext uri="{FF2B5EF4-FFF2-40B4-BE49-F238E27FC236}">
                <a16:creationId xmlns:a16="http://schemas.microsoft.com/office/drawing/2014/main" id="{39DB37BF-5AF1-C89B-8019-3577DB4285F9}"/>
              </a:ext>
            </a:extLst>
          </p:cNvPr>
          <p:cNvSpPr txBox="1"/>
          <p:nvPr userDrawn="1"/>
        </p:nvSpPr>
        <p:spPr>
          <a:xfrm>
            <a:off x="21945599" y="11989137"/>
            <a:ext cx="1583872"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fld id="{237BFCC7-0462-204F-8CFA-53F012517568}" type="slidenum">
              <a:rPr kumimoji="0" lang="en-RU" sz="1400" b="1" i="0" u="none" strike="noStrike" cap="none" spc="0" normalizeH="0" baseline="0" smtClean="0">
                <a:ln>
                  <a:noFill/>
                </a:ln>
                <a:solidFill>
                  <a:schemeClr val="bg1"/>
                </a:solidFill>
                <a:effectLst/>
                <a:uFillTx/>
                <a:latin typeface="Arial" panose="020B0604020202020204" pitchFamily="34" charset="0"/>
                <a:ea typeface="Helvetica Neue"/>
                <a:cs typeface="Arial" panose="020B0604020202020204" pitchFamily="34" charset="0"/>
                <a:sym typeface="Helvetica Neue"/>
              </a:rPr>
              <a:t>‹#›</a:t>
            </a:fld>
            <a:endParaRPr kumimoji="0" lang="en-RU" sz="1400" b="1" i="0" u="none" strike="noStrike" cap="none" spc="0" normalizeH="0" baseline="0" dirty="0">
              <a:ln>
                <a:noFill/>
              </a:ln>
              <a:solidFill>
                <a:schemeClr val="bg1"/>
              </a:solidFill>
              <a:effectLst/>
              <a:uFillTx/>
              <a:latin typeface="Arial" panose="020B0604020202020204" pitchFamily="34" charset="0"/>
              <a:ea typeface="Helvetica Neue"/>
              <a:cs typeface="Arial" panose="020B0604020202020204" pitchFamily="34" charset="0"/>
              <a:sym typeface="Helvetica Neue"/>
            </a:endParaRPr>
          </a:p>
        </p:txBody>
      </p:sp>
      <p:pic>
        <p:nvPicPr>
          <p:cNvPr id="5" name="Рисунок 4">
            <a:extLst>
              <a:ext uri="{FF2B5EF4-FFF2-40B4-BE49-F238E27FC236}">
                <a16:creationId xmlns:a16="http://schemas.microsoft.com/office/drawing/2014/main" id="{64C8EEEB-4815-E390-57A0-AE879E73A62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558759" y="742369"/>
            <a:ext cx="2688063" cy="1176028"/>
          </a:xfrm>
          <a:prstGeom prst="rect">
            <a:avLst/>
          </a:prstGeom>
        </p:spPr>
      </p:pic>
    </p:spTree>
    <p:extLst>
      <p:ext uri="{BB962C8B-B14F-4D97-AF65-F5344CB8AC3E}">
        <p14:creationId xmlns:p14="http://schemas.microsoft.com/office/powerpoint/2010/main" val="174579365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mp; Subtitle + Photos">
    <p:bg>
      <p:bgPr>
        <a:solidFill>
          <a:schemeClr val="bg2"/>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45D3E87-3C0B-F341-A27B-E2D273F59996}"/>
              </a:ext>
            </a:extLst>
          </p:cNvPr>
          <p:cNvSpPr>
            <a:spLocks noGrp="1"/>
          </p:cNvSpPr>
          <p:nvPr>
            <p:ph type="pic" sz="quarter" idx="10"/>
          </p:nvPr>
        </p:nvSpPr>
        <p:spPr>
          <a:xfrm>
            <a:off x="4412413"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8" name="Picture Placeholder 2">
            <a:extLst>
              <a:ext uri="{FF2B5EF4-FFF2-40B4-BE49-F238E27FC236}">
                <a16:creationId xmlns:a16="http://schemas.microsoft.com/office/drawing/2014/main" id="{5E391CB4-F622-EE43-B7C0-C3795A8A817F}"/>
              </a:ext>
            </a:extLst>
          </p:cNvPr>
          <p:cNvSpPr>
            <a:spLocks noGrp="1"/>
          </p:cNvSpPr>
          <p:nvPr>
            <p:ph type="pic" sz="quarter" idx="11"/>
          </p:nvPr>
        </p:nvSpPr>
        <p:spPr>
          <a:xfrm>
            <a:off x="7735451"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9" name="Picture Placeholder 2">
            <a:extLst>
              <a:ext uri="{FF2B5EF4-FFF2-40B4-BE49-F238E27FC236}">
                <a16:creationId xmlns:a16="http://schemas.microsoft.com/office/drawing/2014/main" id="{8DCDBF16-3682-A242-9C9E-476989CD5EA2}"/>
              </a:ext>
            </a:extLst>
          </p:cNvPr>
          <p:cNvSpPr>
            <a:spLocks noGrp="1"/>
          </p:cNvSpPr>
          <p:nvPr>
            <p:ph type="pic" sz="quarter" idx="12"/>
          </p:nvPr>
        </p:nvSpPr>
        <p:spPr>
          <a:xfrm>
            <a:off x="11058488"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0" name="Picture Placeholder 2">
            <a:extLst>
              <a:ext uri="{FF2B5EF4-FFF2-40B4-BE49-F238E27FC236}">
                <a16:creationId xmlns:a16="http://schemas.microsoft.com/office/drawing/2014/main" id="{3456F4FF-644F-E34F-AC43-D48D8A05DF1E}"/>
              </a:ext>
            </a:extLst>
          </p:cNvPr>
          <p:cNvSpPr>
            <a:spLocks noGrp="1"/>
          </p:cNvSpPr>
          <p:nvPr>
            <p:ph type="pic" sz="quarter" idx="13"/>
          </p:nvPr>
        </p:nvSpPr>
        <p:spPr>
          <a:xfrm>
            <a:off x="14381526"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5" name="Picture Placeholder 2">
            <a:extLst>
              <a:ext uri="{FF2B5EF4-FFF2-40B4-BE49-F238E27FC236}">
                <a16:creationId xmlns:a16="http://schemas.microsoft.com/office/drawing/2014/main" id="{6E67A86B-D2D7-4448-8557-A3A39BC9F7FD}"/>
              </a:ext>
            </a:extLst>
          </p:cNvPr>
          <p:cNvSpPr>
            <a:spLocks noGrp="1"/>
          </p:cNvSpPr>
          <p:nvPr>
            <p:ph type="pic" sz="quarter" idx="14"/>
          </p:nvPr>
        </p:nvSpPr>
        <p:spPr>
          <a:xfrm>
            <a:off x="17704564"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6" name="Picture Placeholder 2">
            <a:extLst>
              <a:ext uri="{FF2B5EF4-FFF2-40B4-BE49-F238E27FC236}">
                <a16:creationId xmlns:a16="http://schemas.microsoft.com/office/drawing/2014/main" id="{13B8D20F-D046-D946-99FE-1E81A88B9B31}"/>
              </a:ext>
            </a:extLst>
          </p:cNvPr>
          <p:cNvSpPr>
            <a:spLocks noGrp="1"/>
          </p:cNvSpPr>
          <p:nvPr>
            <p:ph type="pic" sz="quarter" idx="15"/>
          </p:nvPr>
        </p:nvSpPr>
        <p:spPr>
          <a:xfrm>
            <a:off x="4412413"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7" name="Picture Placeholder 2">
            <a:extLst>
              <a:ext uri="{FF2B5EF4-FFF2-40B4-BE49-F238E27FC236}">
                <a16:creationId xmlns:a16="http://schemas.microsoft.com/office/drawing/2014/main" id="{7C0CB0D5-2B46-DD4D-8C04-40F9D2008D42}"/>
              </a:ext>
            </a:extLst>
          </p:cNvPr>
          <p:cNvSpPr>
            <a:spLocks noGrp="1"/>
          </p:cNvSpPr>
          <p:nvPr>
            <p:ph type="pic" sz="quarter" idx="16"/>
          </p:nvPr>
        </p:nvSpPr>
        <p:spPr>
          <a:xfrm>
            <a:off x="7735451"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8" name="Picture Placeholder 2">
            <a:extLst>
              <a:ext uri="{FF2B5EF4-FFF2-40B4-BE49-F238E27FC236}">
                <a16:creationId xmlns:a16="http://schemas.microsoft.com/office/drawing/2014/main" id="{15A5B861-B62C-8042-958E-38453E093450}"/>
              </a:ext>
            </a:extLst>
          </p:cNvPr>
          <p:cNvSpPr>
            <a:spLocks noGrp="1"/>
          </p:cNvSpPr>
          <p:nvPr>
            <p:ph type="pic" sz="quarter" idx="17"/>
          </p:nvPr>
        </p:nvSpPr>
        <p:spPr>
          <a:xfrm>
            <a:off x="11058488"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9" name="Picture Placeholder 2">
            <a:extLst>
              <a:ext uri="{FF2B5EF4-FFF2-40B4-BE49-F238E27FC236}">
                <a16:creationId xmlns:a16="http://schemas.microsoft.com/office/drawing/2014/main" id="{4E68379E-C006-DE43-A791-6269DC771BBC}"/>
              </a:ext>
            </a:extLst>
          </p:cNvPr>
          <p:cNvSpPr>
            <a:spLocks noGrp="1"/>
          </p:cNvSpPr>
          <p:nvPr>
            <p:ph type="pic" sz="quarter" idx="18"/>
          </p:nvPr>
        </p:nvSpPr>
        <p:spPr>
          <a:xfrm>
            <a:off x="14381526"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20" name="Picture Placeholder 2">
            <a:extLst>
              <a:ext uri="{FF2B5EF4-FFF2-40B4-BE49-F238E27FC236}">
                <a16:creationId xmlns:a16="http://schemas.microsoft.com/office/drawing/2014/main" id="{D2AFC5A0-9BEF-D44B-9C18-CB175E90F418}"/>
              </a:ext>
            </a:extLst>
          </p:cNvPr>
          <p:cNvSpPr>
            <a:spLocks noGrp="1"/>
          </p:cNvSpPr>
          <p:nvPr>
            <p:ph type="pic" sz="quarter" idx="19"/>
          </p:nvPr>
        </p:nvSpPr>
        <p:spPr>
          <a:xfrm>
            <a:off x="17704564"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2" name="Circle">
            <a:extLst>
              <a:ext uri="{FF2B5EF4-FFF2-40B4-BE49-F238E27FC236}">
                <a16:creationId xmlns:a16="http://schemas.microsoft.com/office/drawing/2014/main" id="{1780EDDA-258C-931F-B0A1-E4E70C698017}"/>
              </a:ext>
            </a:extLst>
          </p:cNvPr>
          <p:cNvSpPr/>
          <p:nvPr userDrawn="1"/>
        </p:nvSpPr>
        <p:spPr>
          <a:xfrm>
            <a:off x="22441118" y="11878734"/>
            <a:ext cx="571500" cy="571500"/>
          </a:xfrm>
          <a:prstGeom prst="ellipse">
            <a:avLst/>
          </a:prstGeom>
          <a:solidFill>
            <a:schemeClr val="accent2"/>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4" name="TextBox 3">
            <a:extLst>
              <a:ext uri="{FF2B5EF4-FFF2-40B4-BE49-F238E27FC236}">
                <a16:creationId xmlns:a16="http://schemas.microsoft.com/office/drawing/2014/main" id="{45A778B2-1FAE-607E-FE4E-E79180AC544D}"/>
              </a:ext>
            </a:extLst>
          </p:cNvPr>
          <p:cNvSpPr txBox="1"/>
          <p:nvPr userDrawn="1"/>
        </p:nvSpPr>
        <p:spPr>
          <a:xfrm>
            <a:off x="21945599" y="11989137"/>
            <a:ext cx="1583872"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fld id="{237BFCC7-0462-204F-8CFA-53F012517568}" type="slidenum">
              <a:rPr kumimoji="0" lang="en-RU" sz="1400" b="1" i="0" u="none" strike="noStrike" cap="none" spc="0" normalizeH="0" baseline="0" smtClean="0">
                <a:ln>
                  <a:noFill/>
                </a:ln>
                <a:solidFill>
                  <a:schemeClr val="bg1"/>
                </a:solidFill>
                <a:effectLst/>
                <a:uFillTx/>
                <a:latin typeface="Arial" panose="020B0604020202020204" pitchFamily="34" charset="0"/>
                <a:ea typeface="Helvetica Neue"/>
                <a:cs typeface="Arial" panose="020B0604020202020204" pitchFamily="34" charset="0"/>
                <a:sym typeface="Helvetica Neue"/>
              </a:rPr>
              <a:t>‹#›</a:t>
            </a:fld>
            <a:endParaRPr kumimoji="0" lang="en-RU" sz="1400" b="1" i="0" u="none" strike="noStrike" cap="none" spc="0" normalizeH="0" baseline="0" dirty="0">
              <a:ln>
                <a:noFill/>
              </a:ln>
              <a:solidFill>
                <a:schemeClr val="bg1"/>
              </a:solidFill>
              <a:effectLst/>
              <a:uFillTx/>
              <a:latin typeface="Arial" panose="020B0604020202020204" pitchFamily="34" charset="0"/>
              <a:ea typeface="Helvetica Neue"/>
              <a:cs typeface="Arial" panose="020B0604020202020204" pitchFamily="34" charset="0"/>
              <a:sym typeface="Helvetica Neue"/>
            </a:endParaRPr>
          </a:p>
        </p:txBody>
      </p:sp>
      <p:pic>
        <p:nvPicPr>
          <p:cNvPr id="5" name="Рисунок 4">
            <a:extLst>
              <a:ext uri="{FF2B5EF4-FFF2-40B4-BE49-F238E27FC236}">
                <a16:creationId xmlns:a16="http://schemas.microsoft.com/office/drawing/2014/main" id="{C8077680-9992-7CA3-67D4-C26C007AC0B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558759" y="742369"/>
            <a:ext cx="2688063" cy="1176028"/>
          </a:xfrm>
          <a:prstGeom prst="rect">
            <a:avLst/>
          </a:prstGeom>
        </p:spPr>
      </p:pic>
    </p:spTree>
    <p:extLst>
      <p:ext uri="{BB962C8B-B14F-4D97-AF65-F5344CB8AC3E}">
        <p14:creationId xmlns:p14="http://schemas.microsoft.com/office/powerpoint/2010/main" val="1021012141"/>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mp; Subtitle (without header)">
    <p:bg>
      <p:bgPr>
        <a:solidFill>
          <a:schemeClr val="bg2"/>
        </a:solidFill>
        <a:effectLst/>
      </p:bgPr>
    </p:bg>
    <p:spTree>
      <p:nvGrpSpPr>
        <p:cNvPr id="1" name=""/>
        <p:cNvGrpSpPr/>
        <p:nvPr/>
      </p:nvGrpSpPr>
      <p:grpSpPr>
        <a:xfrm>
          <a:off x="0" y="0"/>
          <a:ext cx="0" cy="0"/>
          <a:chOff x="0" y="0"/>
          <a:chExt cx="0" cy="0"/>
        </a:xfrm>
      </p:grpSpPr>
      <p:sp>
        <p:nvSpPr>
          <p:cNvPr id="2" name="Circle">
            <a:extLst>
              <a:ext uri="{FF2B5EF4-FFF2-40B4-BE49-F238E27FC236}">
                <a16:creationId xmlns:a16="http://schemas.microsoft.com/office/drawing/2014/main" id="{43FBEB1F-7A76-9A45-261E-C90E40F044DB}"/>
              </a:ext>
            </a:extLst>
          </p:cNvPr>
          <p:cNvSpPr/>
          <p:nvPr userDrawn="1"/>
        </p:nvSpPr>
        <p:spPr>
          <a:xfrm>
            <a:off x="22441118" y="11878734"/>
            <a:ext cx="571500" cy="571500"/>
          </a:xfrm>
          <a:prstGeom prst="ellipse">
            <a:avLst/>
          </a:prstGeom>
          <a:solidFill>
            <a:schemeClr val="accent2"/>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3" name="TextBox 2">
            <a:extLst>
              <a:ext uri="{FF2B5EF4-FFF2-40B4-BE49-F238E27FC236}">
                <a16:creationId xmlns:a16="http://schemas.microsoft.com/office/drawing/2014/main" id="{79A3E8BA-B8F4-B639-5694-FC4340E808AD}"/>
              </a:ext>
            </a:extLst>
          </p:cNvPr>
          <p:cNvSpPr txBox="1"/>
          <p:nvPr userDrawn="1"/>
        </p:nvSpPr>
        <p:spPr>
          <a:xfrm>
            <a:off x="21945599" y="11989137"/>
            <a:ext cx="1583872"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fld id="{237BFCC7-0462-204F-8CFA-53F012517568}" type="slidenum">
              <a:rPr kumimoji="0" lang="en-RU" sz="1400" b="1" i="0" u="none" strike="noStrike" cap="none" spc="0" normalizeH="0" baseline="0" smtClean="0">
                <a:ln>
                  <a:noFill/>
                </a:ln>
                <a:solidFill>
                  <a:schemeClr val="bg1"/>
                </a:solidFill>
                <a:effectLst/>
                <a:uFillTx/>
                <a:latin typeface="Arial" panose="020B0604020202020204" pitchFamily="34" charset="0"/>
                <a:ea typeface="Helvetica Neue"/>
                <a:cs typeface="Arial" panose="020B0604020202020204" pitchFamily="34" charset="0"/>
                <a:sym typeface="Helvetica Neue"/>
              </a:rPr>
              <a:t>‹#›</a:t>
            </a:fld>
            <a:endParaRPr kumimoji="0" lang="en-RU" sz="1400" b="1" i="0" u="none" strike="noStrike" cap="none" spc="0" normalizeH="0" baseline="0" dirty="0">
              <a:ln>
                <a:noFill/>
              </a:ln>
              <a:solidFill>
                <a:schemeClr val="bg1"/>
              </a:solidFill>
              <a:effectLst/>
              <a:uFillTx/>
              <a:latin typeface="Arial" panose="020B0604020202020204" pitchFamily="34" charset="0"/>
              <a:ea typeface="Helvetica Neue"/>
              <a:cs typeface="Arial" panose="020B0604020202020204" pitchFamily="34" charset="0"/>
              <a:sym typeface="Helvetica Neue"/>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Subtitle (without header) + Photos">
    <p:bg>
      <p:bgPr>
        <a:solidFill>
          <a:schemeClr val="bg2"/>
        </a:solidFill>
        <a:effectLst/>
      </p:bgPr>
    </p:bg>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FBAE1344-71FB-214A-985A-C79AE33BAD38}"/>
              </a:ext>
            </a:extLst>
          </p:cNvPr>
          <p:cNvSpPr>
            <a:spLocks noGrp="1"/>
          </p:cNvSpPr>
          <p:nvPr>
            <p:ph type="pic" sz="quarter" idx="10"/>
          </p:nvPr>
        </p:nvSpPr>
        <p:spPr>
          <a:xfrm>
            <a:off x="4412413"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5" name="Picture Placeholder 2">
            <a:extLst>
              <a:ext uri="{FF2B5EF4-FFF2-40B4-BE49-F238E27FC236}">
                <a16:creationId xmlns:a16="http://schemas.microsoft.com/office/drawing/2014/main" id="{3FAF2F12-F6A2-F94B-94A1-8FC535902C7B}"/>
              </a:ext>
            </a:extLst>
          </p:cNvPr>
          <p:cNvSpPr>
            <a:spLocks noGrp="1"/>
          </p:cNvSpPr>
          <p:nvPr>
            <p:ph type="pic" sz="quarter" idx="11"/>
          </p:nvPr>
        </p:nvSpPr>
        <p:spPr>
          <a:xfrm>
            <a:off x="7735451"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6" name="Picture Placeholder 2">
            <a:extLst>
              <a:ext uri="{FF2B5EF4-FFF2-40B4-BE49-F238E27FC236}">
                <a16:creationId xmlns:a16="http://schemas.microsoft.com/office/drawing/2014/main" id="{D2D72B2A-0AFA-E744-A788-3DBAB2334098}"/>
              </a:ext>
            </a:extLst>
          </p:cNvPr>
          <p:cNvSpPr>
            <a:spLocks noGrp="1"/>
          </p:cNvSpPr>
          <p:nvPr>
            <p:ph type="pic" sz="quarter" idx="12"/>
          </p:nvPr>
        </p:nvSpPr>
        <p:spPr>
          <a:xfrm>
            <a:off x="11058488"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7" name="Picture Placeholder 2">
            <a:extLst>
              <a:ext uri="{FF2B5EF4-FFF2-40B4-BE49-F238E27FC236}">
                <a16:creationId xmlns:a16="http://schemas.microsoft.com/office/drawing/2014/main" id="{C86CE5F9-F76C-5447-854F-C41CDBCF8B4D}"/>
              </a:ext>
            </a:extLst>
          </p:cNvPr>
          <p:cNvSpPr>
            <a:spLocks noGrp="1"/>
          </p:cNvSpPr>
          <p:nvPr>
            <p:ph type="pic" sz="quarter" idx="13"/>
          </p:nvPr>
        </p:nvSpPr>
        <p:spPr>
          <a:xfrm>
            <a:off x="14381526"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8" name="Picture Placeholder 2">
            <a:extLst>
              <a:ext uri="{FF2B5EF4-FFF2-40B4-BE49-F238E27FC236}">
                <a16:creationId xmlns:a16="http://schemas.microsoft.com/office/drawing/2014/main" id="{AD67D36D-1FCA-3A46-9B4A-5D1828C6D688}"/>
              </a:ext>
            </a:extLst>
          </p:cNvPr>
          <p:cNvSpPr>
            <a:spLocks noGrp="1"/>
          </p:cNvSpPr>
          <p:nvPr>
            <p:ph type="pic" sz="quarter" idx="14"/>
          </p:nvPr>
        </p:nvSpPr>
        <p:spPr>
          <a:xfrm>
            <a:off x="17704564"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9" name="Picture Placeholder 2">
            <a:extLst>
              <a:ext uri="{FF2B5EF4-FFF2-40B4-BE49-F238E27FC236}">
                <a16:creationId xmlns:a16="http://schemas.microsoft.com/office/drawing/2014/main" id="{486BE658-6D24-CA4C-AB3D-5A54CB356B30}"/>
              </a:ext>
            </a:extLst>
          </p:cNvPr>
          <p:cNvSpPr>
            <a:spLocks noGrp="1"/>
          </p:cNvSpPr>
          <p:nvPr>
            <p:ph type="pic" sz="quarter" idx="15"/>
          </p:nvPr>
        </p:nvSpPr>
        <p:spPr>
          <a:xfrm>
            <a:off x="4412413"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0" name="Picture Placeholder 2">
            <a:extLst>
              <a:ext uri="{FF2B5EF4-FFF2-40B4-BE49-F238E27FC236}">
                <a16:creationId xmlns:a16="http://schemas.microsoft.com/office/drawing/2014/main" id="{FFF242D3-B6C6-414A-84B9-697A2301F818}"/>
              </a:ext>
            </a:extLst>
          </p:cNvPr>
          <p:cNvSpPr>
            <a:spLocks noGrp="1"/>
          </p:cNvSpPr>
          <p:nvPr>
            <p:ph type="pic" sz="quarter" idx="16"/>
          </p:nvPr>
        </p:nvSpPr>
        <p:spPr>
          <a:xfrm>
            <a:off x="7735451"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1" name="Picture Placeholder 2">
            <a:extLst>
              <a:ext uri="{FF2B5EF4-FFF2-40B4-BE49-F238E27FC236}">
                <a16:creationId xmlns:a16="http://schemas.microsoft.com/office/drawing/2014/main" id="{D050F28B-8BAE-5B4C-B35C-E30F344D5141}"/>
              </a:ext>
            </a:extLst>
          </p:cNvPr>
          <p:cNvSpPr>
            <a:spLocks noGrp="1"/>
          </p:cNvSpPr>
          <p:nvPr>
            <p:ph type="pic" sz="quarter" idx="17"/>
          </p:nvPr>
        </p:nvSpPr>
        <p:spPr>
          <a:xfrm>
            <a:off x="11058488"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2" name="Picture Placeholder 2">
            <a:extLst>
              <a:ext uri="{FF2B5EF4-FFF2-40B4-BE49-F238E27FC236}">
                <a16:creationId xmlns:a16="http://schemas.microsoft.com/office/drawing/2014/main" id="{642DCAE9-9E18-4B47-A5A0-FB78038F0822}"/>
              </a:ext>
            </a:extLst>
          </p:cNvPr>
          <p:cNvSpPr>
            <a:spLocks noGrp="1"/>
          </p:cNvSpPr>
          <p:nvPr>
            <p:ph type="pic" sz="quarter" idx="18"/>
          </p:nvPr>
        </p:nvSpPr>
        <p:spPr>
          <a:xfrm>
            <a:off x="14381526"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3" name="Picture Placeholder 2">
            <a:extLst>
              <a:ext uri="{FF2B5EF4-FFF2-40B4-BE49-F238E27FC236}">
                <a16:creationId xmlns:a16="http://schemas.microsoft.com/office/drawing/2014/main" id="{F32F03F1-C50A-864C-B428-79231A186CED}"/>
              </a:ext>
            </a:extLst>
          </p:cNvPr>
          <p:cNvSpPr>
            <a:spLocks noGrp="1"/>
          </p:cNvSpPr>
          <p:nvPr>
            <p:ph type="pic" sz="quarter" idx="19"/>
          </p:nvPr>
        </p:nvSpPr>
        <p:spPr>
          <a:xfrm>
            <a:off x="17704564"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2" name="Circle">
            <a:extLst>
              <a:ext uri="{FF2B5EF4-FFF2-40B4-BE49-F238E27FC236}">
                <a16:creationId xmlns:a16="http://schemas.microsoft.com/office/drawing/2014/main" id="{C1EAAE23-95AD-ACA9-8D10-06E84970F323}"/>
              </a:ext>
            </a:extLst>
          </p:cNvPr>
          <p:cNvSpPr/>
          <p:nvPr userDrawn="1"/>
        </p:nvSpPr>
        <p:spPr>
          <a:xfrm>
            <a:off x="22441118" y="11878734"/>
            <a:ext cx="571500" cy="571500"/>
          </a:xfrm>
          <a:prstGeom prst="ellipse">
            <a:avLst/>
          </a:prstGeom>
          <a:solidFill>
            <a:schemeClr val="accent2"/>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3" name="TextBox 2">
            <a:extLst>
              <a:ext uri="{FF2B5EF4-FFF2-40B4-BE49-F238E27FC236}">
                <a16:creationId xmlns:a16="http://schemas.microsoft.com/office/drawing/2014/main" id="{0C2C4A6C-1FF9-8DE3-A5AF-C565B10E0D9D}"/>
              </a:ext>
            </a:extLst>
          </p:cNvPr>
          <p:cNvSpPr txBox="1"/>
          <p:nvPr userDrawn="1"/>
        </p:nvSpPr>
        <p:spPr>
          <a:xfrm>
            <a:off x="21945599" y="11989137"/>
            <a:ext cx="1583872"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fld id="{237BFCC7-0462-204F-8CFA-53F012517568}" type="slidenum">
              <a:rPr kumimoji="0" lang="en-RU" sz="1400" b="1" i="0" u="none" strike="noStrike" cap="none" spc="0" normalizeH="0" baseline="0" smtClean="0">
                <a:ln>
                  <a:noFill/>
                </a:ln>
                <a:solidFill>
                  <a:schemeClr val="bg1"/>
                </a:solidFill>
                <a:effectLst/>
                <a:uFillTx/>
                <a:latin typeface="Arial" panose="020B0604020202020204" pitchFamily="34" charset="0"/>
                <a:ea typeface="Helvetica Neue"/>
                <a:cs typeface="Arial" panose="020B0604020202020204" pitchFamily="34" charset="0"/>
                <a:sym typeface="Helvetica Neue"/>
              </a:rPr>
              <a:t>‹#›</a:t>
            </a:fld>
            <a:endParaRPr kumimoji="0" lang="en-RU" sz="1400" b="1" i="0" u="none" strike="noStrike" cap="none" spc="0" normalizeH="0" baseline="0" dirty="0">
              <a:ln>
                <a:noFill/>
              </a:ln>
              <a:solidFill>
                <a:schemeClr val="bg1"/>
              </a:solidFill>
              <a:effectLst/>
              <a:uFillTx/>
              <a:latin typeface="Arial" panose="020B0604020202020204" pitchFamily="34" charset="0"/>
              <a:ea typeface="Helvetica Neue"/>
              <a:cs typeface="Arial" panose="020B0604020202020204" pitchFamily="34" charset="0"/>
              <a:sym typeface="Helvetica Neue"/>
            </a:endParaRPr>
          </a:p>
        </p:txBody>
      </p:sp>
    </p:spTree>
    <p:extLst>
      <p:ext uri="{BB962C8B-B14F-4D97-AF65-F5344CB8AC3E}">
        <p14:creationId xmlns:p14="http://schemas.microsoft.com/office/powerpoint/2010/main" val="742843292"/>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Blank">
    <p:bg>
      <p:bgPr>
        <a:solidFill>
          <a:schemeClr val="bg2"/>
        </a:solidFill>
        <a:effectLst/>
      </p:bgPr>
    </p:bg>
    <p:spTree>
      <p:nvGrpSpPr>
        <p:cNvPr id="1" name=""/>
        <p:cNvGrpSpPr/>
        <p:nvPr/>
      </p:nvGrpSpPr>
      <p:grpSpPr>
        <a:xfrm>
          <a:off x="0" y="0"/>
          <a:ext cx="0" cy="0"/>
          <a:chOff x="0" y="0"/>
          <a:chExt cx="0" cy="0"/>
        </a:xfrm>
      </p:grpSpPr>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 Photos">
    <p:bg>
      <p:bgPr>
        <a:solidFill>
          <a:schemeClr val="bg2"/>
        </a:solidFill>
        <a:effectLst/>
      </p:bgPr>
    </p:bg>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01F935C2-BB49-7F44-AA76-95F670099320}"/>
              </a:ext>
            </a:extLst>
          </p:cNvPr>
          <p:cNvSpPr>
            <a:spLocks noGrp="1"/>
          </p:cNvSpPr>
          <p:nvPr>
            <p:ph type="pic" sz="quarter" idx="10"/>
          </p:nvPr>
        </p:nvSpPr>
        <p:spPr>
          <a:xfrm>
            <a:off x="4412413"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3" name="Picture Placeholder 2">
            <a:extLst>
              <a:ext uri="{FF2B5EF4-FFF2-40B4-BE49-F238E27FC236}">
                <a16:creationId xmlns:a16="http://schemas.microsoft.com/office/drawing/2014/main" id="{58871FA9-522E-EF46-8ED1-22380FB4075C}"/>
              </a:ext>
            </a:extLst>
          </p:cNvPr>
          <p:cNvSpPr>
            <a:spLocks noGrp="1"/>
          </p:cNvSpPr>
          <p:nvPr>
            <p:ph type="pic" sz="quarter" idx="11"/>
          </p:nvPr>
        </p:nvSpPr>
        <p:spPr>
          <a:xfrm>
            <a:off x="7735451"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4" name="Picture Placeholder 2">
            <a:extLst>
              <a:ext uri="{FF2B5EF4-FFF2-40B4-BE49-F238E27FC236}">
                <a16:creationId xmlns:a16="http://schemas.microsoft.com/office/drawing/2014/main" id="{A1CE6A93-8415-B84C-9636-40D989C3225E}"/>
              </a:ext>
            </a:extLst>
          </p:cNvPr>
          <p:cNvSpPr>
            <a:spLocks noGrp="1"/>
          </p:cNvSpPr>
          <p:nvPr>
            <p:ph type="pic" sz="quarter" idx="12"/>
          </p:nvPr>
        </p:nvSpPr>
        <p:spPr>
          <a:xfrm>
            <a:off x="11058488"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5" name="Picture Placeholder 2">
            <a:extLst>
              <a:ext uri="{FF2B5EF4-FFF2-40B4-BE49-F238E27FC236}">
                <a16:creationId xmlns:a16="http://schemas.microsoft.com/office/drawing/2014/main" id="{24F4412B-9D40-1740-8196-208EDFDE6A40}"/>
              </a:ext>
            </a:extLst>
          </p:cNvPr>
          <p:cNvSpPr>
            <a:spLocks noGrp="1"/>
          </p:cNvSpPr>
          <p:nvPr>
            <p:ph type="pic" sz="quarter" idx="13"/>
          </p:nvPr>
        </p:nvSpPr>
        <p:spPr>
          <a:xfrm>
            <a:off x="14381526"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6" name="Picture Placeholder 2">
            <a:extLst>
              <a:ext uri="{FF2B5EF4-FFF2-40B4-BE49-F238E27FC236}">
                <a16:creationId xmlns:a16="http://schemas.microsoft.com/office/drawing/2014/main" id="{DF52A887-0B61-FB40-A002-18D9DB1567FD}"/>
              </a:ext>
            </a:extLst>
          </p:cNvPr>
          <p:cNvSpPr>
            <a:spLocks noGrp="1"/>
          </p:cNvSpPr>
          <p:nvPr>
            <p:ph type="pic" sz="quarter" idx="14"/>
          </p:nvPr>
        </p:nvSpPr>
        <p:spPr>
          <a:xfrm>
            <a:off x="17704564"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7" name="Picture Placeholder 2">
            <a:extLst>
              <a:ext uri="{FF2B5EF4-FFF2-40B4-BE49-F238E27FC236}">
                <a16:creationId xmlns:a16="http://schemas.microsoft.com/office/drawing/2014/main" id="{9D153C23-CF0C-C44B-9801-00A206002652}"/>
              </a:ext>
            </a:extLst>
          </p:cNvPr>
          <p:cNvSpPr>
            <a:spLocks noGrp="1"/>
          </p:cNvSpPr>
          <p:nvPr>
            <p:ph type="pic" sz="quarter" idx="15"/>
          </p:nvPr>
        </p:nvSpPr>
        <p:spPr>
          <a:xfrm>
            <a:off x="4412413"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8" name="Picture Placeholder 2">
            <a:extLst>
              <a:ext uri="{FF2B5EF4-FFF2-40B4-BE49-F238E27FC236}">
                <a16:creationId xmlns:a16="http://schemas.microsoft.com/office/drawing/2014/main" id="{BA9D09E7-4FBA-1C4C-8814-B5E33FE5F03F}"/>
              </a:ext>
            </a:extLst>
          </p:cNvPr>
          <p:cNvSpPr>
            <a:spLocks noGrp="1"/>
          </p:cNvSpPr>
          <p:nvPr>
            <p:ph type="pic" sz="quarter" idx="16"/>
          </p:nvPr>
        </p:nvSpPr>
        <p:spPr>
          <a:xfrm>
            <a:off x="7735451"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9" name="Picture Placeholder 2">
            <a:extLst>
              <a:ext uri="{FF2B5EF4-FFF2-40B4-BE49-F238E27FC236}">
                <a16:creationId xmlns:a16="http://schemas.microsoft.com/office/drawing/2014/main" id="{9E774562-BACD-F54F-9D9D-7B802146C18E}"/>
              </a:ext>
            </a:extLst>
          </p:cNvPr>
          <p:cNvSpPr>
            <a:spLocks noGrp="1"/>
          </p:cNvSpPr>
          <p:nvPr>
            <p:ph type="pic" sz="quarter" idx="17"/>
          </p:nvPr>
        </p:nvSpPr>
        <p:spPr>
          <a:xfrm>
            <a:off x="11058488"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0" name="Picture Placeholder 2">
            <a:extLst>
              <a:ext uri="{FF2B5EF4-FFF2-40B4-BE49-F238E27FC236}">
                <a16:creationId xmlns:a16="http://schemas.microsoft.com/office/drawing/2014/main" id="{3A962AB2-20FD-7B4B-A867-E694B5CA857B}"/>
              </a:ext>
            </a:extLst>
          </p:cNvPr>
          <p:cNvSpPr>
            <a:spLocks noGrp="1"/>
          </p:cNvSpPr>
          <p:nvPr>
            <p:ph type="pic" sz="quarter" idx="18"/>
          </p:nvPr>
        </p:nvSpPr>
        <p:spPr>
          <a:xfrm>
            <a:off x="14381526"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1" name="Picture Placeholder 2">
            <a:extLst>
              <a:ext uri="{FF2B5EF4-FFF2-40B4-BE49-F238E27FC236}">
                <a16:creationId xmlns:a16="http://schemas.microsoft.com/office/drawing/2014/main" id="{BC6BEB8C-9FDC-BC4E-B300-7609F4B058E0}"/>
              </a:ext>
            </a:extLst>
          </p:cNvPr>
          <p:cNvSpPr>
            <a:spLocks noGrp="1"/>
          </p:cNvSpPr>
          <p:nvPr>
            <p:ph type="pic" sz="quarter" idx="19"/>
          </p:nvPr>
        </p:nvSpPr>
        <p:spPr>
          <a:xfrm>
            <a:off x="17704564"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Tree>
    <p:extLst>
      <p:ext uri="{BB962C8B-B14F-4D97-AF65-F5344CB8AC3E}">
        <p14:creationId xmlns:p14="http://schemas.microsoft.com/office/powerpoint/2010/main" val="1584453497"/>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6" r:id="rId2"/>
    <p:sldLayoutId id="2147483653" r:id="rId3"/>
    <p:sldLayoutId id="2147483651" r:id="rId4"/>
    <p:sldLayoutId id="2147483654" r:id="rId5"/>
    <p:sldLayoutId id="2147483652" r:id="rId6"/>
    <p:sldLayoutId id="2147483655" r:id="rId7"/>
  </p:sldLayoutIdLst>
  <p:transition spd="med"/>
  <p:txStyles>
    <p:titleStyle>
      <a:lvl1pPr marL="0" marR="0" indent="0"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1pPr>
      <a:lvl2pPr marL="0" marR="0" indent="457248"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2pPr>
      <a:lvl3pPr marL="0" marR="0" indent="914499"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3pPr>
      <a:lvl4pPr marL="0" marR="0" indent="1371747"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4pPr>
      <a:lvl5pPr marL="0" marR="0" indent="1828995"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5pPr>
      <a:lvl6pPr marL="0" marR="0" indent="2286246"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6pPr>
      <a:lvl7pPr marL="0" marR="0" indent="2743494"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7pPr>
      <a:lvl8pPr marL="0" marR="0" indent="3200745"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8pPr>
      <a:lvl9pPr marL="0" marR="0" indent="3657993"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9pPr>
    </p:titleStyle>
    <p:bodyStyle>
      <a:lvl1pPr marL="635069"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1pPr>
      <a:lvl2pPr marL="1270136"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2pPr>
      <a:lvl3pPr marL="1905206"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3pPr>
      <a:lvl4pPr marL="2540273"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4pPr>
      <a:lvl5pPr marL="3175342"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5pPr>
      <a:lvl6pPr marL="3810409"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6pPr>
      <a:lvl7pPr marL="4445479"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7pPr>
      <a:lvl8pPr marL="5080546"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8pPr>
      <a:lvl9pPr marL="5715615"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9pPr>
    </p:bodyStyle>
    <p:otherStyle>
      <a:lvl1pPr marL="0" marR="0" indent="0"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1pPr>
      <a:lvl2pPr marL="0" marR="0" indent="457248"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2pPr>
      <a:lvl3pPr marL="0" marR="0" indent="914499"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3pPr>
      <a:lvl4pPr marL="0" marR="0" indent="1371747"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4pPr>
      <a:lvl5pPr marL="0" marR="0" indent="1828995"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5pPr>
      <a:lvl6pPr marL="0" marR="0" indent="2286246"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6pPr>
      <a:lvl7pPr marL="0" marR="0" indent="2743494"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7pPr>
      <a:lvl8pPr marL="0" marR="0" indent="3200745"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8pPr>
      <a:lvl9pPr marL="0" marR="0" indent="3657993"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9pPr>
    </p:otherStyle>
  </p:txStyles>
  <p:extLst>
    <p:ext uri="{27BBF7A9-308A-43DC-89C8-2F10F3537804}">
      <p15:sldGuideLst xmlns:p15="http://schemas.microsoft.com/office/powerpoint/2012/main">
        <p15:guide id="1" orient="horz" pos="4320" userDrawn="1">
          <p15:clr>
            <a:srgbClr val="F26B43"/>
          </p15:clr>
        </p15:guide>
        <p15:guide id="2" pos="76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3.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D8771-F6A7-8CE4-529C-6DFE03F324A1}"/>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B139557-0DC5-BEDE-6972-DB6CB218BCE6}"/>
              </a:ext>
            </a:extLst>
          </p:cNvPr>
          <p:cNvSpPr/>
          <p:nvPr/>
        </p:nvSpPr>
        <p:spPr>
          <a:xfrm>
            <a:off x="0" y="0"/>
            <a:ext cx="24384000" cy="13716000"/>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RU" sz="3200" b="0" i="0" u="none" strike="noStrike" cap="none" spc="0" normalizeH="0" baseline="0">
              <a:ln>
                <a:noFill/>
              </a:ln>
              <a:solidFill>
                <a:srgbClr val="FFFFFF"/>
              </a:solidFill>
              <a:effectLst/>
              <a:uFillTx/>
              <a:latin typeface="+mn-lt"/>
              <a:ea typeface="+mn-ea"/>
              <a:cs typeface="+mn-cs"/>
              <a:sym typeface="Helvetica Neue Medium"/>
            </a:endParaRPr>
          </a:p>
        </p:txBody>
      </p:sp>
      <p:pic>
        <p:nvPicPr>
          <p:cNvPr id="3" name="Рисунок 2">
            <a:extLst>
              <a:ext uri="{FF2B5EF4-FFF2-40B4-BE49-F238E27FC236}">
                <a16:creationId xmlns:a16="http://schemas.microsoft.com/office/drawing/2014/main" id="{8C653170-95E6-A1F3-81FD-DD2A19124E6E}"/>
              </a:ext>
            </a:extLst>
          </p:cNvPr>
          <p:cNvPicPr>
            <a:picLocks noChangeAspect="1"/>
          </p:cNvPicPr>
          <p:nvPr/>
        </p:nvPicPr>
        <p:blipFill>
          <a:blip r:embed="rId3"/>
          <a:stretch>
            <a:fillRect/>
          </a:stretch>
        </p:blipFill>
        <p:spPr>
          <a:xfrm>
            <a:off x="790047" y="527482"/>
            <a:ext cx="5689600" cy="2503429"/>
          </a:xfrm>
          <a:prstGeom prst="rect">
            <a:avLst/>
          </a:prstGeom>
        </p:spPr>
      </p:pic>
      <p:sp>
        <p:nvSpPr>
          <p:cNvPr id="4" name="TextBox 3">
            <a:extLst>
              <a:ext uri="{FF2B5EF4-FFF2-40B4-BE49-F238E27FC236}">
                <a16:creationId xmlns:a16="http://schemas.microsoft.com/office/drawing/2014/main" id="{C76E0751-2C8B-579A-D15D-B8619F01E597}"/>
              </a:ext>
            </a:extLst>
          </p:cNvPr>
          <p:cNvSpPr txBox="1"/>
          <p:nvPr/>
        </p:nvSpPr>
        <p:spPr>
          <a:xfrm>
            <a:off x="914400" y="3474720"/>
            <a:ext cx="14630400" cy="2926080"/>
          </a:xfrm>
          <a:prstGeom prst="rect">
            <a:avLst/>
          </a:prstGeom>
          <a:noFill/>
        </p:spPr>
        <p:txBody>
          <a:bodyPr wrap="square" lIns="0" tIns="0" rIns="0" bIns="0" rtlCol="0" anchor="t">
            <a:normAutofit/>
          </a:bodyPr>
          <a:lstStyle/>
          <a:p>
            <a:pPr>
              <a:lnSpc>
                <a:spcPct val="120000"/>
              </a:lnSpc>
              <a:defRPr sz="2800" b="1">
                <a:solidFill>
                  <a:srgbClr val="000000"/>
                </a:solidFill>
                <a:latin typeface="Arial"/>
              </a:defRPr>
            </a:pPr>
            <a:r>
              <a:rPr lang="ru-RU" sz="8000" b="1" dirty="0">
                <a:solidFill>
                  <a:schemeClr val="bg1"/>
                </a:solidFill>
                <a:latin typeface="Arial"/>
                <a:cs typeface="Arial"/>
              </a:rPr>
              <a:t>Дипломный проект на тему:</a:t>
            </a:r>
          </a:p>
          <a:p>
            <a:pPr>
              <a:lnSpc>
                <a:spcPct val="120000"/>
              </a:lnSpc>
              <a:defRPr sz="3200" b="1">
                <a:solidFill>
                  <a:srgbClr val="000000"/>
                </a:solidFill>
                <a:latin typeface="Arial"/>
              </a:defRPr>
            </a:pPr>
            <a:r>
              <a:rPr lang="ru-RU" sz="3600" b="1" dirty="0">
                <a:solidFill>
                  <a:schemeClr val="bg1"/>
                </a:solidFill>
                <a:latin typeface="Arial"/>
                <a:cs typeface="Arial"/>
              </a:rPr>
              <a:t>«Веб-сервис для автоматизации процессов закупок и взаимодействия с поставщиками»</a:t>
            </a:r>
          </a:p>
        </p:txBody>
      </p:sp>
      <p:pic>
        <p:nvPicPr>
          <p:cNvPr id="457" name="Рисунок 456">
            <a:extLst>
              <a:ext uri="{FF2B5EF4-FFF2-40B4-BE49-F238E27FC236}">
                <a16:creationId xmlns:a16="http://schemas.microsoft.com/office/drawing/2014/main" id="{4AD467F6-C2E6-9A59-7107-07A50951CF2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971128" y="-215248"/>
            <a:ext cx="10659962" cy="13715999"/>
          </a:xfrm>
          <a:prstGeom prst="rect">
            <a:avLst/>
          </a:prstGeom>
        </p:spPr>
      </p:pic>
      <p:sp>
        <p:nvSpPr>
          <p:cNvPr id="6" name="TextBox 5">
            <a:extLst>
              <a:ext uri="{FF2B5EF4-FFF2-40B4-BE49-F238E27FC236}">
                <a16:creationId xmlns:a16="http://schemas.microsoft.com/office/drawing/2014/main" id="{56FA1CA0-8F86-48F2-84A0-EE404DF96C15}"/>
              </a:ext>
            </a:extLst>
          </p:cNvPr>
          <p:cNvSpPr txBox="1"/>
          <p:nvPr/>
        </p:nvSpPr>
        <p:spPr>
          <a:xfrm>
            <a:off x="914400" y="8014351"/>
            <a:ext cx="14630400" cy="5486400"/>
          </a:xfrm>
          <a:prstGeom prst="rect">
            <a:avLst/>
          </a:prstGeom>
          <a:noFill/>
        </p:spPr>
        <p:txBody>
          <a:bodyPr wrap="square" lIns="0" tIns="0" rIns="0" bIns="0" rtlCol="0" anchor="t">
            <a:normAutofit/>
          </a:bodyPr>
          <a:lstStyle/>
          <a:p>
            <a:pPr algn="l"/>
            <a:r>
              <a:rPr lang="ru-RU" sz="4800" dirty="0">
                <a:solidFill>
                  <a:schemeClr val="bg1"/>
                </a:solidFill>
                <a:latin typeface="Arial" panose="020B0604020202020204" pitchFamily="34" charset="0"/>
                <a:cs typeface="Arial" panose="020B0604020202020204" pitchFamily="34" charset="0"/>
              </a:rPr>
              <a:t>Студента группы 408 ис-22: </a:t>
            </a:r>
            <a:r>
              <a:rPr lang="ru-RU" dirty="0">
                <a:solidFill>
                  <a:schemeClr val="bg1"/>
                </a:solidFill>
                <a:latin typeface="Arial" panose="020B0604020202020204" pitchFamily="34" charset="0"/>
                <a:cs typeface="Arial" panose="020B0604020202020204" pitchFamily="34" charset="0"/>
              </a:rPr>
              <a:t>Д</a:t>
            </a:r>
            <a:r>
              <a:rPr lang="ru-AM" dirty="0">
                <a:solidFill>
                  <a:schemeClr val="bg1"/>
                </a:solidFill>
                <a:latin typeface="Arial" panose="020B0604020202020204" pitchFamily="34" charset="0"/>
                <a:cs typeface="Arial" panose="020B0604020202020204" pitchFamily="34" charset="0"/>
              </a:rPr>
              <a:t>.Б. Гурметов, Н.А. Мушегян, С.Э. Маммедов, Е.М. Киселева</a:t>
            </a:r>
          </a:p>
          <a:p>
            <a:pPr algn="l"/>
            <a:endParaRPr lang="ru-RU" sz="4800" dirty="0">
              <a:solidFill>
                <a:schemeClr val="bg1"/>
              </a:solidFill>
              <a:latin typeface="Arial" panose="020B0604020202020204" pitchFamily="34" charset="0"/>
              <a:cs typeface="Arial" panose="020B0604020202020204" pitchFamily="34" charset="0"/>
            </a:endParaRPr>
          </a:p>
          <a:p>
            <a:pPr algn="l"/>
            <a:r>
              <a:rPr lang="ru-RU" sz="4800" dirty="0">
                <a:solidFill>
                  <a:schemeClr val="bg1"/>
                </a:solidFill>
                <a:latin typeface="Arial" panose="020B0604020202020204" pitchFamily="34" charset="0"/>
                <a:cs typeface="Arial" panose="020B0604020202020204" pitchFamily="34" charset="0"/>
              </a:rPr>
              <a:t>Руководитель дипломного проекта: </a:t>
            </a:r>
            <a:r>
              <a:rPr lang="ru-AM" dirty="0">
                <a:solidFill>
                  <a:schemeClr val="bg1"/>
                </a:solidFill>
              </a:rPr>
              <a:t>О.А. Калашникова</a:t>
            </a:r>
            <a:endParaRPr lang="ru-RU"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30587182"/>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Placeholder Demo Text"/>
          <p:cNvSpPr txBox="1"/>
          <p:nvPr/>
        </p:nvSpPr>
        <p:spPr>
          <a:xfrm>
            <a:off x="1427162" y="1052399"/>
            <a:ext cx="21945600" cy="1371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normAutofit/>
          </a:bodyPr>
          <a:lstStyle>
            <a:lvl1pPr algn="l">
              <a:defRPr sz="8000" b="0">
                <a:solidFill>
                  <a:srgbClr val="242423"/>
                </a:solidFill>
                <a:latin typeface="Montserrat Bold"/>
                <a:ea typeface="Montserrat Bold"/>
                <a:cs typeface="Montserrat Bold"/>
                <a:sym typeface="Montserrat Bold"/>
              </a:defRPr>
            </a:lvl1pPr>
          </a:lstStyle>
          <a:p>
            <a:pPr>
              <a:lnSpc>
                <a:spcPct val="110000"/>
              </a:lnSpc>
              <a:defRPr sz="4400" b="1">
                <a:solidFill>
                  <a:srgbClr val="8B1A1A"/>
                </a:solidFill>
                <a:latin typeface="Arial"/>
              </a:defRPr>
            </a:pPr>
            <a:r>
              <a:rPr lang="ru-RU" sz="4400" b="1" dirty="0">
                <a:solidFill>
                  <a:srgbClr val="8B1A1A"/>
                </a:solidFill>
                <a:latin typeface="Arial"/>
                <a:cs typeface="Arial"/>
              </a:rPr>
              <a:t>Цель, задачи, актуальность</a:t>
            </a:r>
          </a:p>
        </p:txBody>
      </p:sp>
      <p:sp>
        <p:nvSpPr>
          <p:cNvPr id="59" name="Lorem ipsum dolor sit amet, consectetur adipiscing elit, sed do eiusmod tempor incididunt ut labore et dolore magna aliqua. Arcu dictum varius duis at consectetur lorem donec. Volutpat maecenas volutpat blandit aliquam. Egestas quis ipsum suspendisse ult"/>
          <p:cNvSpPr txBox="1"/>
          <p:nvPr/>
        </p:nvSpPr>
        <p:spPr>
          <a:xfrm>
            <a:off x="1371600" y="2377440"/>
            <a:ext cx="12344400" cy="10515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normAutofit/>
          </a:bodyPr>
          <a:lstStyle/>
          <a:p>
            <a:pPr>
              <a:lnSpc>
                <a:spcPct val="125000"/>
              </a:lnSpc>
              <a:defRPr sz="2200" b="1">
                <a:solidFill>
                  <a:srgbClr val="000000"/>
                </a:solidFill>
                <a:latin typeface="Arial"/>
              </a:defRPr>
            </a:pPr>
            <a:r>
              <a:rPr lang="ru-RU" sz="3200" b="1" dirty="0">
                <a:solidFill>
                  <a:srgbClr val="000000"/>
                </a:solidFill>
                <a:latin typeface="Arial"/>
                <a:cs typeface="Arial"/>
              </a:rPr>
              <a:t>Цель: </a:t>
            </a:r>
            <a:r>
              <a:rPr lang="ru-RU" sz="3200" b="0" dirty="0">
                <a:solidFill>
                  <a:srgbClr val="000000"/>
                </a:solidFill>
                <a:latin typeface="Arial"/>
                <a:cs typeface="Arial"/>
              </a:rPr>
              <a:t>разработка веб-сервиса для автоматизации процессов закупок и взаимодействия с поставщиками, объединяющего модули каталога и поставщиков, заявок и заказов, аналитики и серверной интеграции с учётными системами.</a:t>
            </a:r>
          </a:p>
          <a:p>
            <a:pPr>
              <a:lnSpc>
                <a:spcPct val="125000"/>
              </a:lnSpc>
              <a:defRPr sz="1000">
                <a:solidFill>
                  <a:srgbClr val="000000"/>
                </a:solidFill>
                <a:latin typeface="Arial"/>
              </a:defRPr>
            </a:pPr>
            <a:endParaRPr lang="ru-RU" sz="1200" dirty="0"/>
          </a:p>
          <a:p>
            <a:pPr>
              <a:lnSpc>
                <a:spcPct val="125000"/>
              </a:lnSpc>
              <a:defRPr sz="2000">
                <a:solidFill>
                  <a:srgbClr val="000000"/>
                </a:solidFill>
                <a:latin typeface="Arial"/>
              </a:defRPr>
            </a:pPr>
            <a:r>
              <a:rPr lang="ru-RU" sz="3200" dirty="0">
                <a:solidFill>
                  <a:srgbClr val="000000"/>
                </a:solidFill>
                <a:latin typeface="Arial"/>
                <a:cs typeface="Arial"/>
              </a:rPr>
              <a:t>Задачи: </a:t>
            </a:r>
            <a:r>
              <a:rPr lang="ru-RU" sz="3200" b="0" dirty="0">
                <a:solidFill>
                  <a:srgbClr val="000000"/>
                </a:solidFill>
                <a:latin typeface="Arial"/>
                <a:cs typeface="Arial"/>
              </a:rPr>
              <a:t>проанализировать предметную область и существующие решения; сформировать требования к четырём модулям; спроектировать архитектуру и единую модель данных; реализовать модуль каталога и поставщиков; реализовать модуль заявок, предложений и заказов; реализовать модуль аналитики и KPI; реализовать серверный модуль интеграции; провести тестирование и технико-экономическое обоснование.</a:t>
            </a:r>
          </a:p>
          <a:p>
            <a:pPr>
              <a:lnSpc>
                <a:spcPct val="125000"/>
              </a:lnSpc>
              <a:defRPr sz="1000">
                <a:solidFill>
                  <a:srgbClr val="000000"/>
                </a:solidFill>
                <a:latin typeface="Arial"/>
              </a:defRPr>
            </a:pPr>
            <a:endParaRPr lang="ru-RU" sz="1200" dirty="0"/>
          </a:p>
          <a:p>
            <a:pPr>
              <a:lnSpc>
                <a:spcPct val="125000"/>
              </a:lnSpc>
              <a:defRPr sz="2000">
                <a:solidFill>
                  <a:srgbClr val="000000"/>
                </a:solidFill>
                <a:latin typeface="Arial"/>
              </a:defRPr>
            </a:pPr>
            <a:r>
              <a:rPr lang="ru-RU" sz="3200" dirty="0">
                <a:solidFill>
                  <a:srgbClr val="000000"/>
                </a:solidFill>
                <a:latin typeface="Arial"/>
                <a:cs typeface="Arial"/>
              </a:rPr>
              <a:t>Актуальность: </a:t>
            </a:r>
            <a:r>
              <a:rPr lang="ru-RU" sz="3200" b="0" dirty="0">
                <a:solidFill>
                  <a:srgbClr val="000000"/>
                </a:solidFill>
                <a:latin typeface="Arial"/>
                <a:cs typeface="Arial"/>
              </a:rPr>
              <a:t>ручная организация закупок ведёт к дублированию данных, потере прозрачности и росту трудозатрат. Сравнительный анализ ERP-решений показал их избыточность для малого предприятия и слабую модульность. Разработка собственного веб-сервиса даёт связную автоматизацию каталога, заявок, аналитики и интеграции в едином цифровом контуре.</a:t>
            </a:r>
          </a:p>
          <a:p>
            <a:pPr>
              <a:lnSpc>
                <a:spcPct val="125000"/>
              </a:lnSpc>
              <a:defRPr sz="1000">
                <a:solidFill>
                  <a:srgbClr val="000000"/>
                </a:solidFill>
                <a:latin typeface="Arial"/>
              </a:defRPr>
            </a:pPr>
            <a:endParaRPr lang="ru-RU" sz="1200" dirty="0"/>
          </a:p>
          <a:p>
            <a:pPr>
              <a:lnSpc>
                <a:spcPct val="125000"/>
              </a:lnSpc>
              <a:defRPr sz="2000">
                <a:solidFill>
                  <a:srgbClr val="000000"/>
                </a:solidFill>
                <a:latin typeface="Arial"/>
              </a:defRPr>
            </a:pPr>
            <a:r>
              <a:rPr lang="ru-RU" sz="3200" dirty="0">
                <a:solidFill>
                  <a:srgbClr val="000000"/>
                </a:solidFill>
                <a:latin typeface="Arial"/>
                <a:cs typeface="Arial"/>
              </a:rPr>
              <a:t>Методы и инструменты: </a:t>
            </a:r>
            <a:r>
              <a:rPr lang="ru-RU" sz="3200" b="0" dirty="0">
                <a:solidFill>
                  <a:srgbClr val="000000"/>
                </a:solidFill>
                <a:latin typeface="Arial"/>
                <a:cs typeface="Arial"/>
              </a:rPr>
              <a:t>системный и сравнительный анализ; моделирование IDEF0, BPMN, DFD; проектирование реляционной БД; ORM; паттерны Application Factory, MVC, Repository, Adapter; стек Python 3 + Flask + SQLAlchemy + SQLite + Jinja2 + Chart.js + openpyxl; функциональное и интеграционное тестирование (Pytest).</a:t>
            </a:r>
          </a:p>
        </p:txBody>
      </p:sp>
      <p:pic>
        <p:nvPicPr>
          <p:cNvPr id="60" name="Picture 59" descr="erp_comparison.png"/>
          <p:cNvPicPr>
            <a:picLocks noChangeAspect="1"/>
          </p:cNvPicPr>
          <p:nvPr/>
        </p:nvPicPr>
        <p:blipFill>
          <a:blip r:embed="rId2"/>
          <a:stretch>
            <a:fillRect/>
          </a:stretch>
        </p:blipFill>
        <p:spPr>
          <a:xfrm>
            <a:off x="14173200" y="2743200"/>
            <a:ext cx="9601200" cy="5486400"/>
          </a:xfrm>
          <a:prstGeom prst="rect">
            <a:avLst/>
          </a:prstGeom>
        </p:spPr>
      </p:pic>
      <p:sp>
        <p:nvSpPr>
          <p:cNvPr id="61" name="TextBox 60"/>
          <p:cNvSpPr txBox="1"/>
          <p:nvPr/>
        </p:nvSpPr>
        <p:spPr>
          <a:xfrm>
            <a:off x="14173200" y="8321040"/>
            <a:ext cx="9601200" cy="457200"/>
          </a:xfrm>
          <a:prstGeom prst="rect">
            <a:avLst/>
          </a:prstGeom>
          <a:noFill/>
        </p:spPr>
        <p:txBody>
          <a:bodyPr wrap="square">
            <a:spAutoFit/>
          </a:bodyPr>
          <a:lstStyle/>
          <a:p>
            <a:pPr algn="ctr"/>
            <a:r>
              <a:rPr sz="1300" b="1">
                <a:solidFill>
                  <a:srgbClr val="6B1A2E"/>
                </a:solidFill>
                <a:latin typeface="Calibri"/>
              </a:rPr>
              <a:t>Сравнение существующих решений</a:t>
            </a:r>
          </a:p>
        </p:txBody>
      </p:sp>
      <p:graphicFrame>
        <p:nvGraphicFramePr>
          <p:cNvPr id="62" name="Table 61"/>
          <p:cNvGraphicFramePr>
            <a:graphicFrameLocks noGrp="1"/>
          </p:cNvGraphicFramePr>
          <p:nvPr/>
        </p:nvGraphicFramePr>
        <p:xfrm>
          <a:off x="14173200" y="8961120"/>
          <a:ext cx="9601200" cy="4114800"/>
        </p:xfrm>
        <a:graphic>
          <a:graphicData uri="http://schemas.openxmlformats.org/drawingml/2006/table">
            <a:tbl>
              <a:tblPr firstRow="1" bandRow="1">
                <a:tableStyleId>{5C22544A-7EE6-4342-B048-85BDC9FD1C3A}</a:tableStyleId>
              </a:tblPr>
              <a:tblGrid>
                <a:gridCol w="4800600"/>
                <a:gridCol w="4800600"/>
              </a:tblGrid>
              <a:tr h="587828">
                <a:tc>
                  <a:txBody>
                    <a:bodyPr wrap="square"/>
                    <a:lstStyle/>
                    <a:p>
                      <a:r>
                        <a:rPr sz="1200" b="1">
                          <a:solidFill>
                            <a:srgbClr val="FFFFFF"/>
                          </a:solidFill>
                          <a:latin typeface="Calibri"/>
                        </a:rPr>
                        <a:t>Этап</a:t>
                      </a:r>
                    </a:p>
                  </a:txBody>
                  <a:tcPr>
                    <a:solidFill>
                      <a:srgbClr val="6B1A2E"/>
                    </a:solidFill>
                  </a:tcPr>
                </a:tc>
                <a:tc>
                  <a:txBody>
                    <a:bodyPr wrap="square"/>
                    <a:lstStyle/>
                    <a:p>
                      <a:r>
                        <a:rPr sz="1200" b="1">
                          <a:solidFill>
                            <a:srgbClr val="FFFFFF"/>
                          </a:solidFill>
                          <a:latin typeface="Calibri"/>
                        </a:rPr>
                        <a:t>Инструмент</a:t>
                      </a:r>
                    </a:p>
                  </a:txBody>
                  <a:tcPr>
                    <a:solidFill>
                      <a:srgbClr val="6B1A2E"/>
                    </a:solidFill>
                  </a:tcPr>
                </a:tc>
              </a:tr>
              <a:tr h="587828">
                <a:tc>
                  <a:txBody>
                    <a:bodyPr wrap="square"/>
                    <a:lstStyle/>
                    <a:p>
                      <a:r>
                        <a:rPr sz="1100">
                          <a:solidFill>
                            <a:srgbClr val="3A3A3A"/>
                          </a:solidFill>
                          <a:latin typeface="Calibri"/>
                        </a:rPr>
                        <a:t>Анализ предметной области</a:t>
                      </a:r>
                    </a:p>
                  </a:txBody>
                  <a:tcPr>
                    <a:solidFill>
                      <a:srgbClr val="FFFFFF"/>
                    </a:solidFill>
                  </a:tcPr>
                </a:tc>
                <a:tc>
                  <a:txBody>
                    <a:bodyPr wrap="square"/>
                    <a:lstStyle/>
                    <a:p>
                      <a:r>
                        <a:rPr sz="1100">
                          <a:solidFill>
                            <a:srgbClr val="3A3A3A"/>
                          </a:solidFill>
                          <a:latin typeface="Calibri"/>
                        </a:rPr>
                        <a:t>IDEF0, BPMN, DFD</a:t>
                      </a:r>
                    </a:p>
                  </a:txBody>
                  <a:tcPr>
                    <a:solidFill>
                      <a:srgbClr val="FFFFFF"/>
                    </a:solidFill>
                  </a:tcPr>
                </a:tc>
              </a:tr>
              <a:tr h="587828">
                <a:tc>
                  <a:txBody>
                    <a:bodyPr wrap="square"/>
                    <a:lstStyle/>
                    <a:p>
                      <a:r>
                        <a:rPr sz="1100">
                          <a:solidFill>
                            <a:srgbClr val="3A3A3A"/>
                          </a:solidFill>
                          <a:latin typeface="Calibri"/>
                        </a:rPr>
                        <a:t>Проектирование БД</a:t>
                      </a:r>
                    </a:p>
                  </a:txBody>
                  <a:tcPr>
                    <a:solidFill>
                      <a:srgbClr val="F4EDE4"/>
                    </a:solidFill>
                  </a:tcPr>
                </a:tc>
                <a:tc>
                  <a:txBody>
                    <a:bodyPr wrap="square"/>
                    <a:lstStyle/>
                    <a:p>
                      <a:r>
                        <a:rPr sz="1100">
                          <a:solidFill>
                            <a:srgbClr val="3A3A3A"/>
                          </a:solidFill>
                          <a:latin typeface="Calibri"/>
                        </a:rPr>
                        <a:t>ER-моделирование</a:t>
                      </a:r>
                    </a:p>
                  </a:txBody>
                  <a:tcPr>
                    <a:solidFill>
                      <a:srgbClr val="F4EDE4"/>
                    </a:solidFill>
                  </a:tcPr>
                </a:tc>
              </a:tr>
              <a:tr h="587828">
                <a:tc>
                  <a:txBody>
                    <a:bodyPr wrap="square"/>
                    <a:lstStyle/>
                    <a:p>
                      <a:r>
                        <a:rPr sz="1100">
                          <a:solidFill>
                            <a:srgbClr val="3A3A3A"/>
                          </a:solidFill>
                          <a:latin typeface="Calibri"/>
                        </a:rPr>
                        <a:t>Реализация</a:t>
                      </a:r>
                    </a:p>
                  </a:txBody>
                  <a:tcPr>
                    <a:solidFill>
                      <a:srgbClr val="FFFFFF"/>
                    </a:solidFill>
                  </a:tcPr>
                </a:tc>
                <a:tc>
                  <a:txBody>
                    <a:bodyPr wrap="square"/>
                    <a:lstStyle/>
                    <a:p>
                      <a:r>
                        <a:rPr sz="1100">
                          <a:solidFill>
                            <a:srgbClr val="3A3A3A"/>
                          </a:solidFill>
                          <a:latin typeface="Calibri"/>
                        </a:rPr>
                        <a:t>Flask + SQLAlchemy + SQLite</a:t>
                      </a:r>
                    </a:p>
                  </a:txBody>
                  <a:tcPr>
                    <a:solidFill>
                      <a:srgbClr val="FFFFFF"/>
                    </a:solidFill>
                  </a:tcPr>
                </a:tc>
              </a:tr>
              <a:tr h="587828">
                <a:tc>
                  <a:txBody>
                    <a:bodyPr wrap="square"/>
                    <a:lstStyle/>
                    <a:p>
                      <a:r>
                        <a:rPr sz="1100">
                          <a:solidFill>
                            <a:srgbClr val="3A3A3A"/>
                          </a:solidFill>
                          <a:latin typeface="Calibri"/>
                        </a:rPr>
                        <a:t>UI / графики</a:t>
                      </a:r>
                    </a:p>
                  </a:txBody>
                  <a:tcPr>
                    <a:solidFill>
                      <a:srgbClr val="F4EDE4"/>
                    </a:solidFill>
                  </a:tcPr>
                </a:tc>
                <a:tc>
                  <a:txBody>
                    <a:bodyPr wrap="square"/>
                    <a:lstStyle/>
                    <a:p>
                      <a:r>
                        <a:rPr sz="1100">
                          <a:solidFill>
                            <a:srgbClr val="3A3A3A"/>
                          </a:solidFill>
                          <a:latin typeface="Calibri"/>
                        </a:rPr>
                        <a:t>Jinja2 + Chart.js</a:t>
                      </a:r>
                    </a:p>
                  </a:txBody>
                  <a:tcPr>
                    <a:solidFill>
                      <a:srgbClr val="F4EDE4"/>
                    </a:solidFill>
                  </a:tcPr>
                </a:tc>
              </a:tr>
              <a:tr h="587828">
                <a:tc>
                  <a:txBody>
                    <a:bodyPr wrap="square"/>
                    <a:lstStyle/>
                    <a:p>
                      <a:r>
                        <a:rPr sz="1100">
                          <a:solidFill>
                            <a:srgbClr val="3A3A3A"/>
                          </a:solidFill>
                          <a:latin typeface="Calibri"/>
                        </a:rPr>
                        <a:t>Excel-обмен</a:t>
                      </a:r>
                    </a:p>
                  </a:txBody>
                  <a:tcPr>
                    <a:solidFill>
                      <a:srgbClr val="FFFFFF"/>
                    </a:solidFill>
                  </a:tcPr>
                </a:tc>
                <a:tc>
                  <a:txBody>
                    <a:bodyPr wrap="square"/>
                    <a:lstStyle/>
                    <a:p>
                      <a:r>
                        <a:rPr sz="1100">
                          <a:solidFill>
                            <a:srgbClr val="3A3A3A"/>
                          </a:solidFill>
                          <a:latin typeface="Calibri"/>
                        </a:rPr>
                        <a:t>openpyxl</a:t>
                      </a:r>
                    </a:p>
                  </a:txBody>
                  <a:tcPr>
                    <a:solidFill>
                      <a:srgbClr val="FFFFFF"/>
                    </a:solidFill>
                  </a:tcPr>
                </a:tc>
              </a:tr>
              <a:tr h="587832">
                <a:tc>
                  <a:txBody>
                    <a:bodyPr wrap="square"/>
                    <a:lstStyle/>
                    <a:p>
                      <a:r>
                        <a:rPr sz="1100">
                          <a:solidFill>
                            <a:srgbClr val="3A3A3A"/>
                          </a:solidFill>
                          <a:latin typeface="Calibri"/>
                        </a:rPr>
                        <a:t>Тестирование</a:t>
                      </a:r>
                    </a:p>
                  </a:txBody>
                  <a:tcPr>
                    <a:solidFill>
                      <a:srgbClr val="F4EDE4"/>
                    </a:solidFill>
                  </a:tcPr>
                </a:tc>
                <a:tc>
                  <a:txBody>
                    <a:bodyPr wrap="square"/>
                    <a:lstStyle/>
                    <a:p>
                      <a:r>
                        <a:rPr sz="1100">
                          <a:solidFill>
                            <a:srgbClr val="3A3A3A"/>
                          </a:solidFill>
                          <a:latin typeface="Calibri"/>
                        </a:rPr>
                        <a:t>Pytest</a:t>
                      </a:r>
                    </a:p>
                  </a:txBody>
                  <a:tcPr>
                    <a:solidFill>
                      <a:srgbClr val="F4EDE4"/>
                    </a:solidFill>
                  </a:tcPr>
                </a:tc>
              </a:tr>
            </a:tbl>
          </a:graphicData>
        </a:graphic>
      </p:graphicFrame>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Rectangle"/>
          <p:cNvSpPr/>
          <p:nvPr/>
        </p:nvSpPr>
        <p:spPr>
          <a:xfrm>
            <a:off x="18637" y="-14025"/>
            <a:ext cx="20372484" cy="2557745"/>
          </a:xfrm>
          <a:prstGeom prst="rect">
            <a:avLst/>
          </a:prstGeom>
          <a:solidFill>
            <a:schemeClr val="accent2"/>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117" name="All the world is made of faith, and trust, and pixie dust.">
            <a:hlinkClick r:id="rId2" action="ppaction://hlinksldjump"/>
          </p:cNvPr>
          <p:cNvSpPr txBox="1"/>
          <p:nvPr/>
        </p:nvSpPr>
        <p:spPr>
          <a:xfrm>
            <a:off x="1427162" y="2939721"/>
            <a:ext cx="21013956" cy="1846659"/>
          </a:xfrm>
          <a:prstGeom prst="rect">
            <a:avLst/>
          </a:prstGeom>
          <a:ln w="12700">
            <a:solidFill>
              <a:srgbClr val="C8124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normAutofit/>
          </a:bodyPr>
          <a:lstStyle>
            <a:lvl1pPr algn="l">
              <a:defRPr sz="8000" b="0">
                <a:solidFill>
                  <a:srgbClr val="242423"/>
                </a:solidFill>
                <a:latin typeface="Montserrat Bold"/>
                <a:ea typeface="Montserrat Bold"/>
                <a:cs typeface="Montserrat Bold"/>
                <a:sym typeface="Montserrat Bold"/>
              </a:defRPr>
            </a:lvl1pPr>
          </a:lstStyle>
          <a:p>
            <a:pPr algn="ctr">
              <a:lnSpc>
                <a:spcPct val="120000"/>
              </a:lnSpc>
              <a:defRPr sz="3000" b="1">
                <a:solidFill>
                  <a:srgbClr val="000000"/>
                </a:solidFill>
                <a:latin typeface="Arial"/>
              </a:defRPr>
            </a:pPr>
            <a:r>
              <a:rPr lang="ru-RU" sz="4800" b="1" dirty="0">
                <a:solidFill>
                  <a:schemeClr val="accent2"/>
                </a:solidFill>
                <a:latin typeface="Arial"/>
                <a:cs typeface="Arial"/>
              </a:rPr>
              <a:t>Д.Б. Гурметов</a:t>
            </a:r>
          </a:p>
          <a:p>
            <a:pPr algn="ctr">
              <a:lnSpc>
                <a:spcPct val="120000"/>
              </a:lnSpc>
              <a:defRPr sz="2200">
                <a:solidFill>
                  <a:srgbClr val="000000"/>
                </a:solidFill>
                <a:latin typeface="Arial"/>
              </a:defRPr>
            </a:pPr>
            <a:r>
              <a:rPr lang="ru-RU" sz="4000" dirty="0">
                <a:solidFill>
                  <a:schemeClr val="accent2"/>
                </a:solidFill>
                <a:latin typeface="Arial"/>
                <a:cs typeface="Arial"/>
              </a:rPr>
              <a:t>Модуль управления каталогом товаров и справочниками поставщиков</a:t>
            </a:r>
          </a:p>
        </p:txBody>
      </p:sp>
      <p:sp>
        <p:nvSpPr>
          <p:cNvPr id="13" name="Rectangle">
            <a:extLst>
              <a:ext uri="{FF2B5EF4-FFF2-40B4-BE49-F238E27FC236}">
                <a16:creationId xmlns:a16="http://schemas.microsoft.com/office/drawing/2014/main" id="{2AF0629E-AC8D-4736-A3AE-8B2CD3F89D46}"/>
              </a:ext>
            </a:extLst>
          </p:cNvPr>
          <p:cNvSpPr/>
          <p:nvPr/>
        </p:nvSpPr>
        <p:spPr>
          <a:xfrm>
            <a:off x="1427163" y="2577132"/>
            <a:ext cx="3017521" cy="143978"/>
          </a:xfrm>
          <a:prstGeom prst="rect">
            <a:avLst/>
          </a:prstGeom>
          <a:solidFill>
            <a:schemeClr val="accent2"/>
          </a:solidFill>
          <a:ln w="12700" cap="flat">
            <a:no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3200" dirty="0">
              <a:solidFill>
                <a:srgbClr val="171F29"/>
              </a:solidFill>
              <a:latin typeface="Arial Black" panose="020B0604020202020204" pitchFamily="34" charset="0"/>
              <a:cs typeface="Arial Black" panose="020B0604020202020204" pitchFamily="34" charset="0"/>
            </a:endParaRPr>
          </a:p>
        </p:txBody>
      </p:sp>
      <p:sp>
        <p:nvSpPr>
          <p:cNvPr id="18" name="Subtitle Text">
            <a:extLst>
              <a:ext uri="{FF2B5EF4-FFF2-40B4-BE49-F238E27FC236}">
                <a16:creationId xmlns:a16="http://schemas.microsoft.com/office/drawing/2014/main" id="{73F5F6BA-293F-4B35-97DF-B2D6CC0A27DB}"/>
              </a:ext>
            </a:extLst>
          </p:cNvPr>
          <p:cNvSpPr/>
          <p:nvPr/>
        </p:nvSpPr>
        <p:spPr>
          <a:xfrm>
            <a:off x="1427163" y="760765"/>
            <a:ext cx="9088438" cy="1008163"/>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numCol="1" anchor="t">
            <a:spAutoFit/>
          </a:bodyPr>
          <a:lstStyle>
            <a:lvl1pPr algn="l" defTabSz="457200">
              <a:lnSpc>
                <a:spcPct val="120000"/>
              </a:lnSpc>
              <a:defRPr sz="1400" cap="all" spc="1120">
                <a:solidFill>
                  <a:srgbClr val="242423"/>
                </a:solidFill>
                <a:latin typeface="Arial"/>
                <a:ea typeface="Arial"/>
                <a:cs typeface="Arial"/>
                <a:sym typeface="Arial"/>
              </a:defRPr>
            </a:lvl1pPr>
          </a:lstStyle>
          <a:p>
            <a:r>
              <a:rPr lang="ru-RU" sz="5400" spc="50" dirty="0">
                <a:ln w="0"/>
                <a:solidFill>
                  <a:schemeClr val="bg1"/>
                </a:solidFill>
                <a:effectLst>
                  <a:innerShdw blurRad="63500" dist="50800" dir="13500000">
                    <a:srgbClr val="000000">
                      <a:alpha val="50000"/>
                    </a:srgbClr>
                  </a:innerShdw>
                </a:effectLst>
                <a:latin typeface="Arial" panose="020B0604020202020204" pitchFamily="34" charset="0"/>
                <a:cs typeface="Arial" panose="020B0604020202020204" pitchFamily="34" charset="0"/>
              </a:rPr>
              <a:t>Модули выполняли</a:t>
            </a:r>
            <a:r>
              <a:rPr sz="5400" spc="50" dirty="0">
                <a:ln w="0"/>
                <a:solidFill>
                  <a:schemeClr val="bg1"/>
                </a:solidFill>
                <a:effectLst>
                  <a:innerShdw blurRad="63500" dist="50800" dir="13500000">
                    <a:srgbClr val="000000">
                      <a:alpha val="50000"/>
                    </a:srgbClr>
                  </a:innerShdw>
                </a:effectLst>
                <a:latin typeface="Arial" panose="020B0604020202020204" pitchFamily="34" charset="0"/>
                <a:cs typeface="Arial" panose="020B0604020202020204" pitchFamily="34" charset="0"/>
              </a:rPr>
              <a:t> </a:t>
            </a:r>
          </a:p>
        </p:txBody>
      </p:sp>
      <p:sp>
        <p:nvSpPr>
          <p:cNvPr id="4" name="Circle">
            <a:extLst>
              <a:ext uri="{FF2B5EF4-FFF2-40B4-BE49-F238E27FC236}">
                <a16:creationId xmlns:a16="http://schemas.microsoft.com/office/drawing/2014/main" id="{D9151E77-5E8A-E5A3-F2EF-1C9C5F26A8BC}"/>
              </a:ext>
            </a:extLst>
          </p:cNvPr>
          <p:cNvSpPr/>
          <p:nvPr/>
        </p:nvSpPr>
        <p:spPr>
          <a:xfrm>
            <a:off x="22441118" y="11878734"/>
            <a:ext cx="571500" cy="571500"/>
          </a:xfrm>
          <a:prstGeom prst="ellipse">
            <a:avLst/>
          </a:prstGeom>
          <a:solidFill>
            <a:srgbClr val="FFFFFF"/>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5" name="Slide Number">
            <a:extLst>
              <a:ext uri="{FF2B5EF4-FFF2-40B4-BE49-F238E27FC236}">
                <a16:creationId xmlns:a16="http://schemas.microsoft.com/office/drawing/2014/main" id="{FF8B82AA-3924-A011-919D-D3384CB25334}"/>
              </a:ext>
            </a:extLst>
          </p:cNvPr>
          <p:cNvSpPr txBox="1">
            <a:spLocks noGrp="1"/>
          </p:cNvSpPr>
          <p:nvPr>
            <p:ph type="sldNum" sz="quarter" idx="4294967295"/>
          </p:nvPr>
        </p:nvSpPr>
        <p:spPr>
          <a:xfrm>
            <a:off x="21971260" y="11990278"/>
            <a:ext cx="1560643" cy="29898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400" b="1" i="0">
                <a:solidFill>
                  <a:srgbClr val="EFDD66"/>
                </a:solidFill>
                <a:latin typeface="Arial" panose="020B0604020202020204" pitchFamily="34" charset="0"/>
                <a:cs typeface="Arial" panose="020B0604020202020204" pitchFamily="34" charset="0"/>
              </a:defRPr>
            </a:lvl1pPr>
          </a:lstStyle>
          <a:p>
            <a:fld id="{86CB4B4D-7CA3-9044-876B-883B54F8677D}" type="slidenum">
              <a:rPr lang="en-RU" smtClean="0">
                <a:solidFill>
                  <a:srgbClr val="131313"/>
                </a:solidFill>
              </a:rPr>
              <a:pPr/>
              <a:t>3</a:t>
            </a:fld>
            <a:endParaRPr lang="en-RU" dirty="0">
              <a:solidFill>
                <a:srgbClr val="131313"/>
              </a:solidFill>
            </a:endParaRPr>
          </a:p>
        </p:txBody>
      </p:sp>
      <p:sp>
        <p:nvSpPr>
          <p:cNvPr id="25" name="All the world is made of faith, and trust, and pixie dust.">
            <a:extLst>
              <a:ext uri="{FF2B5EF4-FFF2-40B4-BE49-F238E27FC236}">
                <a16:creationId xmlns:a16="http://schemas.microsoft.com/office/drawing/2014/main" id="{4B2A8768-0D70-4AC7-B1D3-DF8B82F6E729}"/>
              </a:ext>
            </a:extLst>
          </p:cNvPr>
          <p:cNvSpPr txBox="1"/>
          <p:nvPr/>
        </p:nvSpPr>
        <p:spPr>
          <a:xfrm>
            <a:off x="1427162" y="5006265"/>
            <a:ext cx="21013956" cy="1846659"/>
          </a:xfrm>
          <a:prstGeom prst="rect">
            <a:avLst/>
          </a:prstGeom>
          <a:ln w="12700">
            <a:solidFill>
              <a:srgbClr val="C8124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normAutofit/>
          </a:bodyPr>
          <a:lstStyle>
            <a:lvl1pPr algn="l">
              <a:defRPr sz="8000" b="0">
                <a:solidFill>
                  <a:srgbClr val="242423"/>
                </a:solidFill>
                <a:latin typeface="Montserrat Bold"/>
                <a:ea typeface="Montserrat Bold"/>
                <a:cs typeface="Montserrat Bold"/>
                <a:sym typeface="Montserrat Bold"/>
              </a:defRPr>
            </a:lvl1pPr>
          </a:lstStyle>
          <a:p>
            <a:pPr algn="ctr">
              <a:lnSpc>
                <a:spcPct val="120000"/>
              </a:lnSpc>
              <a:defRPr sz="3000" b="1">
                <a:solidFill>
                  <a:srgbClr val="000000"/>
                </a:solidFill>
                <a:latin typeface="Arial"/>
              </a:defRPr>
            </a:pPr>
            <a:r>
              <a:rPr lang="ru-RU" sz="4800" b="1" dirty="0">
                <a:solidFill>
                  <a:schemeClr val="accent2"/>
                </a:solidFill>
                <a:latin typeface="Arial"/>
                <a:cs typeface="Arial"/>
              </a:rPr>
              <a:t>Н.А. Мушегян</a:t>
            </a:r>
          </a:p>
          <a:p>
            <a:pPr algn="ctr">
              <a:lnSpc>
                <a:spcPct val="120000"/>
              </a:lnSpc>
              <a:defRPr sz="2200">
                <a:solidFill>
                  <a:srgbClr val="000000"/>
                </a:solidFill>
                <a:latin typeface="Arial"/>
              </a:defRPr>
            </a:pPr>
            <a:r>
              <a:rPr lang="ru-RU" sz="4000" dirty="0">
                <a:solidFill>
                  <a:schemeClr val="accent2"/>
                </a:solidFill>
                <a:latin typeface="Arial"/>
                <a:cs typeface="Arial"/>
              </a:rPr>
              <a:t>Модуль управления заявками, предложениями и заказами</a:t>
            </a:r>
            <a:endParaRPr lang="ru-RU" sz="2200" dirty="0">
              <a:solidFill>
                <a:schemeClr val="accent2"/>
              </a:solidFill>
              <a:latin typeface="Arial"/>
              <a:cs typeface="Arial"/>
            </a:endParaRPr>
          </a:p>
        </p:txBody>
      </p:sp>
      <p:sp>
        <p:nvSpPr>
          <p:cNvPr id="26" name="All the world is made of faith, and trust, and pixie dust.">
            <a:extLst>
              <a:ext uri="{FF2B5EF4-FFF2-40B4-BE49-F238E27FC236}">
                <a16:creationId xmlns:a16="http://schemas.microsoft.com/office/drawing/2014/main" id="{7CF1DF29-F5B1-43BE-82BD-5081F15B5E1E}"/>
              </a:ext>
            </a:extLst>
          </p:cNvPr>
          <p:cNvSpPr txBox="1"/>
          <p:nvPr/>
        </p:nvSpPr>
        <p:spPr>
          <a:xfrm>
            <a:off x="1427162" y="7104309"/>
            <a:ext cx="21013956" cy="1846659"/>
          </a:xfrm>
          <a:prstGeom prst="rect">
            <a:avLst/>
          </a:prstGeom>
          <a:ln w="12700">
            <a:solidFill>
              <a:srgbClr val="C8124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normAutofit/>
          </a:bodyPr>
          <a:lstStyle>
            <a:lvl1pPr algn="l">
              <a:defRPr sz="8000" b="0">
                <a:solidFill>
                  <a:srgbClr val="242423"/>
                </a:solidFill>
                <a:latin typeface="Montserrat Bold"/>
                <a:ea typeface="Montserrat Bold"/>
                <a:cs typeface="Montserrat Bold"/>
                <a:sym typeface="Montserrat Bold"/>
              </a:defRPr>
            </a:lvl1pPr>
          </a:lstStyle>
          <a:p>
            <a:pPr algn="ctr">
              <a:lnSpc>
                <a:spcPct val="120000"/>
              </a:lnSpc>
              <a:defRPr sz="3000" b="1">
                <a:solidFill>
                  <a:srgbClr val="000000"/>
                </a:solidFill>
                <a:latin typeface="Arial"/>
              </a:defRPr>
            </a:pPr>
            <a:r>
              <a:rPr lang="ru-RU" sz="4800" b="1" dirty="0">
                <a:solidFill>
                  <a:schemeClr val="accent2"/>
                </a:solidFill>
                <a:latin typeface="Arial"/>
                <a:cs typeface="Arial"/>
              </a:rPr>
              <a:t>С.Э. Маммедов</a:t>
            </a:r>
          </a:p>
          <a:p>
            <a:pPr algn="ctr">
              <a:lnSpc>
                <a:spcPct val="120000"/>
              </a:lnSpc>
              <a:defRPr sz="2200">
                <a:solidFill>
                  <a:srgbClr val="000000"/>
                </a:solidFill>
                <a:latin typeface="Arial"/>
              </a:defRPr>
            </a:pPr>
            <a:r>
              <a:rPr lang="ru-RU" sz="4000" dirty="0">
                <a:solidFill>
                  <a:schemeClr val="accent2"/>
                </a:solidFill>
                <a:latin typeface="Arial"/>
                <a:cs typeface="Arial"/>
              </a:rPr>
              <a:t>Модуль аналитики закупок и оценки поставщиков</a:t>
            </a:r>
          </a:p>
        </p:txBody>
      </p:sp>
      <p:sp>
        <p:nvSpPr>
          <p:cNvPr id="27" name="All the world is made of faith, and trust, and pixie dust.">
            <a:extLst>
              <a:ext uri="{FF2B5EF4-FFF2-40B4-BE49-F238E27FC236}">
                <a16:creationId xmlns:a16="http://schemas.microsoft.com/office/drawing/2014/main" id="{E6D28898-93D1-4D88-9AE9-907527E2EBA4}"/>
              </a:ext>
            </a:extLst>
          </p:cNvPr>
          <p:cNvSpPr txBox="1"/>
          <p:nvPr/>
        </p:nvSpPr>
        <p:spPr>
          <a:xfrm>
            <a:off x="1427162" y="9202353"/>
            <a:ext cx="21013956" cy="1846659"/>
          </a:xfrm>
          <a:prstGeom prst="rect">
            <a:avLst/>
          </a:prstGeom>
          <a:ln w="12700">
            <a:solidFill>
              <a:srgbClr val="C8124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normAutofit/>
          </a:bodyPr>
          <a:lstStyle>
            <a:lvl1pPr algn="l">
              <a:defRPr sz="8000" b="0">
                <a:solidFill>
                  <a:srgbClr val="242423"/>
                </a:solidFill>
                <a:latin typeface="Montserrat Bold"/>
                <a:ea typeface="Montserrat Bold"/>
                <a:cs typeface="Montserrat Bold"/>
                <a:sym typeface="Montserrat Bold"/>
              </a:defRPr>
            </a:lvl1pPr>
          </a:lstStyle>
          <a:p>
            <a:pPr algn="ctr">
              <a:lnSpc>
                <a:spcPct val="120000"/>
              </a:lnSpc>
              <a:defRPr sz="3000" b="1">
                <a:solidFill>
                  <a:srgbClr val="000000"/>
                </a:solidFill>
                <a:latin typeface="Arial"/>
              </a:defRPr>
            </a:pPr>
            <a:r>
              <a:rPr lang="ru-RU" sz="4800" b="1" dirty="0">
                <a:solidFill>
                  <a:schemeClr val="accent2"/>
                </a:solidFill>
                <a:latin typeface="Arial"/>
                <a:cs typeface="Arial"/>
              </a:rPr>
              <a:t>Е.М. Киселева</a:t>
            </a:r>
          </a:p>
          <a:p>
            <a:pPr algn="ctr">
              <a:lnSpc>
                <a:spcPct val="120000"/>
              </a:lnSpc>
              <a:defRPr sz="2200">
                <a:solidFill>
                  <a:srgbClr val="000000"/>
                </a:solidFill>
                <a:latin typeface="Arial"/>
              </a:defRPr>
            </a:pPr>
            <a:r>
              <a:rPr lang="ru-RU" sz="4000" dirty="0">
                <a:solidFill>
                  <a:schemeClr val="accent2"/>
                </a:solidFill>
                <a:latin typeface="Arial"/>
                <a:cs typeface="Arial"/>
              </a:rPr>
              <a:t>Серверный модуль интеграции с учётными системами</a:t>
            </a:r>
          </a:p>
        </p:txBody>
      </p:sp>
      <p:sp>
        <p:nvSpPr>
          <p:cNvPr id="15" name="Прямоугольник 14">
            <a:hlinkClick r:id="rId2" action="ppaction://hlinksldjump"/>
            <a:extLst>
              <a:ext uri="{FF2B5EF4-FFF2-40B4-BE49-F238E27FC236}">
                <a16:creationId xmlns:a16="http://schemas.microsoft.com/office/drawing/2014/main" id="{0B7C840D-B613-414E-A485-F7FBDA90455E}"/>
              </a:ext>
            </a:extLst>
          </p:cNvPr>
          <p:cNvSpPr/>
          <p:nvPr/>
        </p:nvSpPr>
        <p:spPr>
          <a:xfrm>
            <a:off x="21416990" y="2965626"/>
            <a:ext cx="1024128" cy="1846659"/>
          </a:xfrm>
          <a:prstGeom prst="rect">
            <a:avLst/>
          </a:prstGeom>
          <a:solidFill>
            <a:schemeClr val="accent2"/>
          </a:solidFill>
          <a:ln>
            <a:noFill/>
          </a:ln>
          <a:scene3d>
            <a:camera prst="orthographicFront"/>
            <a:lightRig rig="threePt" dir="t"/>
          </a:scene3d>
          <a:sp3d>
            <a:bevelT w="114300" prst="artDeco"/>
          </a:sp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ru-RU"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30" name="Прямоугольник 29">
            <a:hlinkClick r:id="" action="ppaction://noaction"/>
            <a:extLst>
              <a:ext uri="{FF2B5EF4-FFF2-40B4-BE49-F238E27FC236}">
                <a16:creationId xmlns:a16="http://schemas.microsoft.com/office/drawing/2014/main" id="{9352154A-22FA-4760-9A06-37BBD77EEB17}"/>
              </a:ext>
            </a:extLst>
          </p:cNvPr>
          <p:cNvSpPr/>
          <p:nvPr/>
        </p:nvSpPr>
        <p:spPr>
          <a:xfrm>
            <a:off x="21416990" y="5001249"/>
            <a:ext cx="1024128" cy="1846659"/>
          </a:xfrm>
          <a:prstGeom prst="rect">
            <a:avLst/>
          </a:prstGeom>
          <a:solidFill>
            <a:schemeClr val="accent2"/>
          </a:solidFill>
          <a:ln>
            <a:noFill/>
          </a:ln>
          <a:scene3d>
            <a:camera prst="orthographicFront"/>
            <a:lightRig rig="threePt" dir="t"/>
          </a:scene3d>
          <a:sp3d>
            <a:bevelT w="114300" prst="artDeco"/>
          </a:sp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ru-RU"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31" name="Прямоугольник 30">
            <a:hlinkClick r:id="" action="ppaction://noaction"/>
            <a:extLst>
              <a:ext uri="{FF2B5EF4-FFF2-40B4-BE49-F238E27FC236}">
                <a16:creationId xmlns:a16="http://schemas.microsoft.com/office/drawing/2014/main" id="{C3E39073-8523-4A3D-A8FD-840CF84379DB}"/>
              </a:ext>
            </a:extLst>
          </p:cNvPr>
          <p:cNvSpPr/>
          <p:nvPr/>
        </p:nvSpPr>
        <p:spPr>
          <a:xfrm>
            <a:off x="21416990" y="7104309"/>
            <a:ext cx="1024128" cy="1846659"/>
          </a:xfrm>
          <a:prstGeom prst="rect">
            <a:avLst/>
          </a:prstGeom>
          <a:solidFill>
            <a:schemeClr val="accent2"/>
          </a:solidFill>
          <a:ln>
            <a:noFill/>
          </a:ln>
          <a:scene3d>
            <a:camera prst="orthographicFront"/>
            <a:lightRig rig="threePt" dir="t"/>
          </a:scene3d>
          <a:sp3d>
            <a:bevelT w="114300" prst="artDeco"/>
          </a:sp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ru-RU"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32" name="Прямоугольник 31">
            <a:hlinkClick r:id="" action="ppaction://noaction"/>
            <a:extLst>
              <a:ext uri="{FF2B5EF4-FFF2-40B4-BE49-F238E27FC236}">
                <a16:creationId xmlns:a16="http://schemas.microsoft.com/office/drawing/2014/main" id="{C59D291A-B749-49FF-B378-C223A9FAE50C}"/>
              </a:ext>
            </a:extLst>
          </p:cNvPr>
          <p:cNvSpPr/>
          <p:nvPr/>
        </p:nvSpPr>
        <p:spPr>
          <a:xfrm>
            <a:off x="21424362" y="9202353"/>
            <a:ext cx="1024128" cy="1846659"/>
          </a:xfrm>
          <a:prstGeom prst="rect">
            <a:avLst/>
          </a:prstGeom>
          <a:solidFill>
            <a:schemeClr val="accent2"/>
          </a:solidFill>
          <a:ln>
            <a:noFill/>
          </a:ln>
          <a:scene3d>
            <a:camera prst="orthographicFront"/>
            <a:lightRig rig="threePt" dir="t"/>
          </a:scene3d>
          <a:sp3d>
            <a:bevelT w="114300" prst="artDeco"/>
          </a:sp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ru-RU" sz="3200" b="0" i="0" u="none" strike="noStrike" cap="none" spc="0" normalizeH="0" baseline="0">
              <a:ln>
                <a:noFill/>
              </a:ln>
              <a:solidFill>
                <a:srgbClr val="FFFFFF"/>
              </a:solidFill>
              <a:effectLst/>
              <a:uFillTx/>
              <a:latin typeface="+mn-lt"/>
              <a:ea typeface="+mn-ea"/>
              <a:cs typeface="+mn-cs"/>
              <a:sym typeface="Helvetica Neue Medium"/>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All the world is made of faith, and trust, and pixie dust."/>
          <p:cNvSpPr txBox="1"/>
          <p:nvPr/>
        </p:nvSpPr>
        <p:spPr>
          <a:xfrm>
            <a:off x="914400" y="457200"/>
            <a:ext cx="22402800" cy="1463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nchor="t">
            <a:normAutofit/>
          </a:bodyPr>
          <a:lstStyle>
            <a:lvl1pPr algn="l">
              <a:defRPr sz="5000" b="0">
                <a:solidFill>
                  <a:srgbClr val="242423"/>
                </a:solidFill>
                <a:latin typeface="Montserrat Bold"/>
                <a:ea typeface="Montserrat Bold"/>
                <a:cs typeface="Montserrat Bold"/>
                <a:sym typeface="Montserrat Bold"/>
              </a:defRPr>
            </a:lvl1pPr>
          </a:lstStyle>
          <a:p>
            <a:pPr algn="ctr">
              <a:lnSpc>
                <a:spcPct val="110000"/>
              </a:lnSpc>
              <a:defRPr sz="3600" b="1">
                <a:solidFill>
                  <a:srgbClr val="FFFFFF"/>
                </a:solidFill>
                <a:latin typeface="Arial"/>
              </a:defRPr>
            </a:pPr>
            <a:r>
              <a:rPr lang="ru-RU" sz="3600" b="1" dirty="0">
                <a:solidFill>
                  <a:srgbClr val="FFFFFF"/>
                </a:solidFill>
                <a:latin typeface="Arial"/>
                <a:cs typeface="Arial"/>
              </a:rPr>
              <a:t>Д.Б. Гурметов — модель бизнес-процессов</a:t>
            </a:r>
          </a:p>
        </p:txBody>
      </p:sp>
      <p:sp>
        <p:nvSpPr>
          <p:cNvPr id="7" name="Rectangle">
            <a:extLst>
              <a:ext uri="{FF2B5EF4-FFF2-40B4-BE49-F238E27FC236}">
                <a16:creationId xmlns:a16="http://schemas.microsoft.com/office/drawing/2014/main" id="{955C94AE-B80E-4918-B201-60D7FF67FDAB}"/>
              </a:ext>
            </a:extLst>
          </p:cNvPr>
          <p:cNvSpPr/>
          <p:nvPr/>
        </p:nvSpPr>
        <p:spPr>
          <a:xfrm>
            <a:off x="349" y="2139697"/>
            <a:ext cx="24383652" cy="4718304"/>
          </a:xfrm>
          <a:prstGeom prst="rect">
            <a:avLst/>
          </a:prstGeom>
          <a:solidFill>
            <a:srgbClr val="EFF0EF"/>
          </a:solidFill>
          <a:ln w="12700">
            <a:solidFill>
              <a:srgbClr val="EFF0EF"/>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5" name="Lorem ipsum dolor sit amet, consectetur adipiscing elit, sed do eiusmod tempor incididunt ut labore et dolore magna aliqua. Arcu dictum varius duis at consectetur lorem donec. Volutpat maecenas volutpat blandit aliquam. Egestas quis ipsum suspendisse ult">
            <a:extLst>
              <a:ext uri="{FF2B5EF4-FFF2-40B4-BE49-F238E27FC236}">
                <a16:creationId xmlns:a16="http://schemas.microsoft.com/office/drawing/2014/main" id="{E6279DB2-1E4D-40C3-9C0D-E60BDFD49116}"/>
              </a:ext>
            </a:extLst>
          </p:cNvPr>
          <p:cNvSpPr txBox="1"/>
          <p:nvPr/>
        </p:nvSpPr>
        <p:spPr>
          <a:xfrm>
            <a:off x="1371600" y="3200400"/>
            <a:ext cx="10972800" cy="9144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normAutofit/>
          </a:bodyPr>
          <a:lstStyle/>
          <a:p>
            <a:pPr>
              <a:lnSpc>
                <a:spcPct val="130000"/>
              </a:lnSpc>
              <a:defRPr sz="2200">
                <a:solidFill>
                  <a:srgbClr val="000000"/>
                </a:solidFill>
                <a:latin typeface="Arial"/>
              </a:defRPr>
            </a:pPr>
            <a:r>
              <a:rPr lang="ru-RU" sz="3200" dirty="0">
                <a:solidFill>
                  <a:srgbClr val="000000"/>
                </a:solidFill>
                <a:latin typeface="Arial"/>
                <a:cs typeface="Arial"/>
              </a:rPr>
              <a:t>Автоматизируемые процессы: </a:t>
            </a:r>
            <a:r>
              <a:rPr lang="ru-RU" sz="3200" b="0" dirty="0">
                <a:solidFill>
                  <a:srgbClr val="000000"/>
                </a:solidFill>
                <a:latin typeface="Arial"/>
                <a:cs typeface="Arial"/>
              </a:rPr>
              <a:t>ведение справочника поставщиков и договоров; управление карточками товаров, ценами и скидками; импорт и экспорт каталога в Excel; фильтрация номенклатуры; управление статусами позиций.</a:t>
            </a:r>
          </a:p>
          <a:p>
            <a:pPr>
              <a:lnSpc>
                <a:spcPct val="130000"/>
              </a:lnSpc>
              <a:defRPr sz="2200">
                <a:solidFill>
                  <a:srgbClr val="000000"/>
                </a:solidFill>
                <a:latin typeface="Arial"/>
              </a:defRPr>
            </a:pPr>
            <a:r>
              <a:rPr lang="ru-RU" sz="3200" b="0" dirty="0">
                <a:solidFill>
                  <a:srgbClr val="000000"/>
                </a:solidFill>
                <a:latin typeface="Arial"/>
                <a:cs typeface="Arial"/>
              </a:rPr>
              <a:t>Бизнес-процессы описаны нотацией IDEF0 (контекстная модель веб-модуля закупок) и DFD (потоки данных между пользователем, процессами и хранилищами).</a:t>
            </a:r>
          </a:p>
          <a:p>
            <a:pPr>
              <a:lnSpc>
                <a:spcPct val="130000"/>
              </a:lnSpc>
              <a:defRPr sz="2200">
                <a:solidFill>
                  <a:srgbClr val="000000"/>
                </a:solidFill>
                <a:latin typeface="Arial"/>
              </a:defRPr>
            </a:pPr>
            <a:r>
              <a:rPr lang="ru-RU" sz="3200" dirty="0">
                <a:solidFill>
                  <a:srgbClr val="000000"/>
                </a:solidFill>
                <a:latin typeface="Arial"/>
                <a:cs typeface="Arial"/>
              </a:rPr>
              <a:t>Предметная область — </a:t>
            </a:r>
            <a:r>
              <a:rPr lang="ru-RU" sz="3200" b="0" dirty="0">
                <a:solidFill>
                  <a:srgbClr val="000000"/>
                </a:solidFill>
                <a:latin typeface="Arial"/>
                <a:cs typeface="Arial"/>
              </a:rPr>
              <a:t>закупочная деятельность в части централизованного ведения каталога и поставщиков.</a:t>
            </a:r>
          </a:p>
        </p:txBody>
      </p:sp>
      <p:pic>
        <p:nvPicPr>
          <p:cNvPr id="77" name="Picture 76" descr="idef0_catalog.png"/>
          <p:cNvPicPr>
            <a:picLocks noChangeAspect="1"/>
          </p:cNvPicPr>
          <p:nvPr/>
        </p:nvPicPr>
        <p:blipFill>
          <a:blip r:embed="rId2"/>
          <a:stretch>
            <a:fillRect/>
          </a:stretch>
        </p:blipFill>
        <p:spPr>
          <a:xfrm>
            <a:off x="12801600" y="3291840"/>
            <a:ext cx="10972800" cy="8229600"/>
          </a:xfrm>
          <a:prstGeom prst="rect">
            <a:avLst/>
          </a:prstGeom>
        </p:spPr>
      </p:pic>
      <p:sp>
        <p:nvSpPr>
          <p:cNvPr id="78" name="TextBox 77"/>
          <p:cNvSpPr txBox="1"/>
          <p:nvPr/>
        </p:nvSpPr>
        <p:spPr>
          <a:xfrm>
            <a:off x="12801600" y="11521440"/>
            <a:ext cx="10972800" cy="457200"/>
          </a:xfrm>
          <a:prstGeom prst="rect">
            <a:avLst/>
          </a:prstGeom>
          <a:noFill/>
        </p:spPr>
        <p:txBody>
          <a:bodyPr wrap="square">
            <a:spAutoFit/>
          </a:bodyPr>
          <a:lstStyle/>
          <a:p>
            <a:pPr algn="ctr"/>
            <a:r>
              <a:rPr sz="1400" b="1">
                <a:solidFill>
                  <a:srgbClr val="6B1A2E"/>
                </a:solidFill>
                <a:latin typeface="Calibri"/>
              </a:rPr>
              <a:t>IDEF0 — контекст модуля каталога</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All the world is made of faith, and trust, and pixie dust."/>
          <p:cNvSpPr txBox="1"/>
          <p:nvPr/>
        </p:nvSpPr>
        <p:spPr>
          <a:xfrm>
            <a:off x="914400" y="457200"/>
            <a:ext cx="22402800" cy="1463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nchor="t">
            <a:normAutofit/>
          </a:bodyPr>
          <a:lstStyle>
            <a:lvl1pPr algn="l">
              <a:defRPr sz="5000" b="0">
                <a:solidFill>
                  <a:srgbClr val="242423"/>
                </a:solidFill>
                <a:latin typeface="Montserrat Bold"/>
                <a:ea typeface="Montserrat Bold"/>
                <a:cs typeface="Montserrat Bold"/>
                <a:sym typeface="Montserrat Bold"/>
              </a:defRPr>
            </a:lvl1pPr>
          </a:lstStyle>
          <a:p>
            <a:pPr algn="ctr">
              <a:lnSpc>
                <a:spcPct val="110000"/>
              </a:lnSpc>
              <a:defRPr sz="3600" b="1">
                <a:solidFill>
                  <a:srgbClr val="FFFFFF"/>
                </a:solidFill>
                <a:latin typeface="Arial"/>
              </a:defRPr>
            </a:pPr>
            <a:r>
              <a:rPr lang="ru-RU" sz="3600" b="1" dirty="0">
                <a:solidFill>
                  <a:srgbClr val="FFFFFF"/>
                </a:solidFill>
                <a:latin typeface="Arial"/>
                <a:cs typeface="Arial"/>
              </a:rPr>
              <a:t>Д.Б. Гурметов — требования к ИС</a:t>
            </a:r>
          </a:p>
        </p:txBody>
      </p:sp>
      <p:sp>
        <p:nvSpPr>
          <p:cNvPr id="7" name="Rectangle">
            <a:extLst>
              <a:ext uri="{FF2B5EF4-FFF2-40B4-BE49-F238E27FC236}">
                <a16:creationId xmlns:a16="http://schemas.microsoft.com/office/drawing/2014/main" id="{955C94AE-B80E-4918-B201-60D7FF67FDAB}"/>
              </a:ext>
            </a:extLst>
          </p:cNvPr>
          <p:cNvSpPr/>
          <p:nvPr/>
        </p:nvSpPr>
        <p:spPr>
          <a:xfrm>
            <a:off x="349" y="2139697"/>
            <a:ext cx="24383652" cy="4718304"/>
          </a:xfrm>
          <a:prstGeom prst="rect">
            <a:avLst/>
          </a:prstGeom>
          <a:solidFill>
            <a:srgbClr val="EFF0EF"/>
          </a:solidFill>
          <a:ln w="12700">
            <a:solidFill>
              <a:srgbClr val="EFF0EF"/>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4" name="Lorem ipsum dolor sit amet, consectetur adipiscing elit, sed do eiusmod tempor incididunt ut labore et dolore magna aliqua. Arcu dictum varius duis at consectetur lorem donec. Volutpat maecenas volutpat blandit aliquam. Egestas quis ipsum suspendisse ult">
            <a:extLst>
              <a:ext uri="{FF2B5EF4-FFF2-40B4-BE49-F238E27FC236}">
                <a16:creationId xmlns:a16="http://schemas.microsoft.com/office/drawing/2014/main" id="{A702AD97-02BC-4CA9-8208-10BA43CABD35}"/>
              </a:ext>
            </a:extLst>
          </p:cNvPr>
          <p:cNvSpPr txBox="1"/>
          <p:nvPr/>
        </p:nvSpPr>
        <p:spPr>
          <a:xfrm>
            <a:off x="1371600" y="3200400"/>
            <a:ext cx="10515600" cy="100584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normAutofit/>
          </a:bodyPr>
          <a:lstStyle/>
          <a:p>
            <a:pPr>
              <a:lnSpc>
                <a:spcPct val="128000"/>
              </a:lnSpc>
              <a:defRPr sz="2100">
                <a:solidFill>
                  <a:srgbClr val="000000"/>
                </a:solidFill>
                <a:latin typeface="Arial"/>
              </a:defRPr>
            </a:pPr>
            <a:r>
              <a:rPr lang="ru-RU" sz="3200" dirty="0">
                <a:solidFill>
                  <a:srgbClr val="000000"/>
                </a:solidFill>
                <a:latin typeface="Arial"/>
                <a:cs typeface="Arial"/>
              </a:rPr>
              <a:t>Функциональные: </a:t>
            </a:r>
            <a:r>
              <a:rPr lang="ru-RU" sz="3200" b="0" dirty="0">
                <a:solidFill>
                  <a:srgbClr val="000000"/>
                </a:solidFill>
                <a:latin typeface="Arial"/>
                <a:cs typeface="Arial"/>
              </a:rPr>
              <a:t>ведение поставщиков, контактных лиц и договоров; карточки товаров с ценой, скидкой, остатком и статусом; импорт/экспорт каталога в Excel; поиск и фильтрация по поставщику, цене, наличию; управление статусами «active» / «discontinued»; история изменения цен.</a:t>
            </a:r>
            <a:endParaRPr lang="en-US" sz="3200" b="0" dirty="0">
              <a:solidFill>
                <a:srgbClr val="000000"/>
              </a:solidFill>
              <a:latin typeface="Arial"/>
              <a:cs typeface="Arial"/>
            </a:endParaRPr>
          </a:p>
          <a:p>
            <a:pPr>
              <a:lnSpc>
                <a:spcPct val="128000"/>
              </a:lnSpc>
              <a:defRPr sz="2100">
                <a:solidFill>
                  <a:srgbClr val="000000"/>
                </a:solidFill>
                <a:latin typeface="Arial"/>
              </a:defRPr>
            </a:pPr>
            <a:endParaRPr lang="ru-RU" sz="3200" b="0" dirty="0">
              <a:solidFill>
                <a:srgbClr val="000000"/>
              </a:solidFill>
              <a:latin typeface="Arial"/>
              <a:cs typeface="Arial"/>
            </a:endParaRPr>
          </a:p>
          <a:p>
            <a:pPr>
              <a:lnSpc>
                <a:spcPct val="128000"/>
              </a:lnSpc>
              <a:defRPr sz="2100">
                <a:solidFill>
                  <a:srgbClr val="000000"/>
                </a:solidFill>
                <a:latin typeface="Arial"/>
              </a:defRPr>
            </a:pPr>
            <a:r>
              <a:rPr lang="ru-RU" sz="3200" dirty="0">
                <a:solidFill>
                  <a:srgbClr val="000000"/>
                </a:solidFill>
                <a:latin typeface="Arial"/>
                <a:cs typeface="Arial"/>
              </a:rPr>
              <a:t>Нефункциональные: </a:t>
            </a:r>
            <a:r>
              <a:rPr lang="ru-RU" sz="3200" b="0" dirty="0">
                <a:solidFill>
                  <a:srgbClr val="000000"/>
                </a:solidFill>
                <a:latin typeface="Arial"/>
                <a:cs typeface="Arial"/>
              </a:rPr>
              <a:t>веб-доступ, целостность данных, модульная архитектура, низкое потребление ресурсов для локального развертывания.</a:t>
            </a:r>
            <a:endParaRPr lang="en-US" sz="3200" b="0" dirty="0">
              <a:solidFill>
                <a:srgbClr val="000000"/>
              </a:solidFill>
              <a:latin typeface="Arial"/>
              <a:cs typeface="Arial"/>
            </a:endParaRPr>
          </a:p>
          <a:p>
            <a:pPr>
              <a:lnSpc>
                <a:spcPct val="128000"/>
              </a:lnSpc>
              <a:defRPr sz="2100">
                <a:solidFill>
                  <a:srgbClr val="000000"/>
                </a:solidFill>
                <a:latin typeface="Arial"/>
              </a:defRPr>
            </a:pPr>
            <a:endParaRPr lang="ru-RU" sz="3200" b="0" dirty="0">
              <a:solidFill>
                <a:srgbClr val="000000"/>
              </a:solidFill>
              <a:latin typeface="Arial"/>
              <a:cs typeface="Arial"/>
            </a:endParaRPr>
          </a:p>
          <a:p>
            <a:pPr>
              <a:lnSpc>
                <a:spcPct val="128000"/>
              </a:lnSpc>
              <a:defRPr sz="2100">
                <a:solidFill>
                  <a:srgbClr val="000000"/>
                </a:solidFill>
                <a:latin typeface="Arial"/>
              </a:defRPr>
            </a:pPr>
            <a:r>
              <a:rPr lang="ru-RU" sz="3200" dirty="0">
                <a:solidFill>
                  <a:srgbClr val="000000"/>
                </a:solidFill>
                <a:latin typeface="Arial"/>
                <a:cs typeface="Arial"/>
              </a:rPr>
              <a:t>Инструменты: </a:t>
            </a:r>
            <a:r>
              <a:rPr lang="ru-RU" sz="3200" b="0" dirty="0">
                <a:solidFill>
                  <a:srgbClr val="000000"/>
                </a:solidFill>
                <a:latin typeface="Arial"/>
                <a:cs typeface="Arial"/>
              </a:rPr>
              <a:t>Python 3 + Flask, SQLAlchemy (ORM), СУБД SQLite, Jinja2 + HTML/CSS, openpyxl для Excel-обмена.</a:t>
            </a:r>
          </a:p>
        </p:txBody>
      </p:sp>
      <p:sp>
        <p:nvSpPr>
          <p:cNvPr id="77" name="TextBox 76"/>
          <p:cNvSpPr txBox="1"/>
          <p:nvPr/>
        </p:nvSpPr>
        <p:spPr>
          <a:xfrm>
            <a:off x="12801600" y="2743200"/>
            <a:ext cx="10972800" cy="457200"/>
          </a:xfrm>
          <a:prstGeom prst="rect">
            <a:avLst/>
          </a:prstGeom>
          <a:noFill/>
        </p:spPr>
        <p:txBody>
          <a:bodyPr wrap="square">
            <a:spAutoFit/>
          </a:bodyPr>
          <a:lstStyle/>
          <a:p>
            <a:pPr algn="ctr"/>
            <a:r>
              <a:rPr sz="1400" b="1">
                <a:solidFill>
                  <a:srgbClr val="6B1A2E"/>
                </a:solidFill>
                <a:latin typeface="Calibri"/>
              </a:rPr>
              <a:t>Требования к модулю каталога</a:t>
            </a:r>
          </a:p>
        </p:txBody>
      </p:sp>
      <p:graphicFrame>
        <p:nvGraphicFramePr>
          <p:cNvPr id="78" name="Table 77"/>
          <p:cNvGraphicFramePr>
            <a:graphicFrameLocks noGrp="1"/>
          </p:cNvGraphicFramePr>
          <p:nvPr/>
        </p:nvGraphicFramePr>
        <p:xfrm>
          <a:off x="12801600" y="3383280"/>
          <a:ext cx="10972800" cy="7772400"/>
        </p:xfrm>
        <a:graphic>
          <a:graphicData uri="http://schemas.openxmlformats.org/drawingml/2006/table">
            <a:tbl>
              <a:tblPr firstRow="1" bandRow="1">
                <a:tableStyleId>{5C22544A-7EE6-4342-B048-85BDC9FD1C3A}</a:tableStyleId>
              </a:tblPr>
              <a:tblGrid>
                <a:gridCol w="5486400"/>
                <a:gridCol w="5486400"/>
              </a:tblGrid>
              <a:tr h="863600">
                <a:tc>
                  <a:txBody>
                    <a:bodyPr wrap="square"/>
                    <a:lstStyle/>
                    <a:p>
                      <a:r>
                        <a:rPr sz="1300" b="1">
                          <a:solidFill>
                            <a:srgbClr val="FFFFFF"/>
                          </a:solidFill>
                          <a:latin typeface="Calibri"/>
                        </a:rPr>
                        <a:t>Тип</a:t>
                      </a:r>
                    </a:p>
                  </a:txBody>
                  <a:tcPr>
                    <a:solidFill>
                      <a:srgbClr val="6B1A2E"/>
                    </a:solidFill>
                  </a:tcPr>
                </a:tc>
                <a:tc>
                  <a:txBody>
                    <a:bodyPr wrap="square"/>
                    <a:lstStyle/>
                    <a:p>
                      <a:r>
                        <a:rPr sz="1300" b="1">
                          <a:solidFill>
                            <a:srgbClr val="FFFFFF"/>
                          </a:solidFill>
                          <a:latin typeface="Calibri"/>
                        </a:rPr>
                        <a:t>Требование</a:t>
                      </a:r>
                    </a:p>
                  </a:txBody>
                  <a:tcPr>
                    <a:solidFill>
                      <a:srgbClr val="6B1A2E"/>
                    </a:solidFill>
                  </a:tcPr>
                </a:tc>
              </a:tr>
              <a:tr h="863600">
                <a:tc>
                  <a:txBody>
                    <a:bodyPr wrap="square"/>
                    <a:lstStyle/>
                    <a:p>
                      <a:r>
                        <a:rPr sz="1100">
                          <a:solidFill>
                            <a:srgbClr val="3A3A3A"/>
                          </a:solidFill>
                          <a:latin typeface="Calibri"/>
                        </a:rPr>
                        <a:t>Функциональное</a:t>
                      </a:r>
                    </a:p>
                  </a:txBody>
                  <a:tcPr>
                    <a:solidFill>
                      <a:srgbClr val="FFFFFF"/>
                    </a:solidFill>
                  </a:tcPr>
                </a:tc>
                <a:tc>
                  <a:txBody>
                    <a:bodyPr wrap="square"/>
                    <a:lstStyle/>
                    <a:p>
                      <a:r>
                        <a:rPr sz="1100">
                          <a:solidFill>
                            <a:srgbClr val="3A3A3A"/>
                          </a:solidFill>
                          <a:latin typeface="Calibri"/>
                        </a:rPr>
                        <a:t>Ведение справочника поставщиков, договоров</a:t>
                      </a:r>
                    </a:p>
                  </a:txBody>
                  <a:tcPr>
                    <a:solidFill>
                      <a:srgbClr val="FFFFFF"/>
                    </a:solidFill>
                  </a:tcPr>
                </a:tc>
              </a:tr>
              <a:tr h="863600">
                <a:tc>
                  <a:txBody>
                    <a:bodyPr wrap="square"/>
                    <a:lstStyle/>
                    <a:p>
                      <a:r>
                        <a:rPr sz="1100">
                          <a:solidFill>
                            <a:srgbClr val="3A3A3A"/>
                          </a:solidFill>
                          <a:latin typeface="Calibri"/>
                        </a:rPr>
                        <a:t>Функциональное</a:t>
                      </a:r>
                    </a:p>
                  </a:txBody>
                  <a:tcPr>
                    <a:solidFill>
                      <a:srgbClr val="F4EDE4"/>
                    </a:solidFill>
                  </a:tcPr>
                </a:tc>
                <a:tc>
                  <a:txBody>
                    <a:bodyPr wrap="square"/>
                    <a:lstStyle/>
                    <a:p>
                      <a:r>
                        <a:rPr sz="1100">
                          <a:solidFill>
                            <a:srgbClr val="3A3A3A"/>
                          </a:solidFill>
                          <a:latin typeface="Calibri"/>
                        </a:rPr>
                        <a:t>Карточки товаров: цена, скидка, остаток, статус</a:t>
                      </a:r>
                    </a:p>
                  </a:txBody>
                  <a:tcPr>
                    <a:solidFill>
                      <a:srgbClr val="F4EDE4"/>
                    </a:solidFill>
                  </a:tcPr>
                </a:tc>
              </a:tr>
              <a:tr h="863600">
                <a:tc>
                  <a:txBody>
                    <a:bodyPr wrap="square"/>
                    <a:lstStyle/>
                    <a:p>
                      <a:r>
                        <a:rPr sz="1100">
                          <a:solidFill>
                            <a:srgbClr val="3A3A3A"/>
                          </a:solidFill>
                          <a:latin typeface="Calibri"/>
                        </a:rPr>
                        <a:t>Функциональное</a:t>
                      </a:r>
                    </a:p>
                  </a:txBody>
                  <a:tcPr>
                    <a:solidFill>
                      <a:srgbClr val="FFFFFF"/>
                    </a:solidFill>
                  </a:tcPr>
                </a:tc>
                <a:tc>
                  <a:txBody>
                    <a:bodyPr wrap="square"/>
                    <a:lstStyle/>
                    <a:p>
                      <a:r>
                        <a:rPr sz="1100">
                          <a:solidFill>
                            <a:srgbClr val="3A3A3A"/>
                          </a:solidFill>
                          <a:latin typeface="Calibri"/>
                        </a:rPr>
                        <a:t>Импорт / экспорт каталога в Excel (openpyxl)</a:t>
                      </a:r>
                    </a:p>
                  </a:txBody>
                  <a:tcPr>
                    <a:solidFill>
                      <a:srgbClr val="FFFFFF"/>
                    </a:solidFill>
                  </a:tcPr>
                </a:tc>
              </a:tr>
              <a:tr h="863600">
                <a:tc>
                  <a:txBody>
                    <a:bodyPr wrap="square"/>
                    <a:lstStyle/>
                    <a:p>
                      <a:r>
                        <a:rPr sz="1100">
                          <a:solidFill>
                            <a:srgbClr val="3A3A3A"/>
                          </a:solidFill>
                          <a:latin typeface="Calibri"/>
                        </a:rPr>
                        <a:t>Функциональное</a:t>
                      </a:r>
                    </a:p>
                  </a:txBody>
                  <a:tcPr>
                    <a:solidFill>
                      <a:srgbClr val="F4EDE4"/>
                    </a:solidFill>
                  </a:tcPr>
                </a:tc>
                <a:tc>
                  <a:txBody>
                    <a:bodyPr wrap="square"/>
                    <a:lstStyle/>
                    <a:p>
                      <a:r>
                        <a:rPr sz="1100">
                          <a:solidFill>
                            <a:srgbClr val="3A3A3A"/>
                          </a:solidFill>
                          <a:latin typeface="Calibri"/>
                        </a:rPr>
                        <a:t>Поиск и фильтрация по поставщику, цене, наличию</a:t>
                      </a:r>
                    </a:p>
                  </a:txBody>
                  <a:tcPr>
                    <a:solidFill>
                      <a:srgbClr val="F4EDE4"/>
                    </a:solidFill>
                  </a:tcPr>
                </a:tc>
              </a:tr>
              <a:tr h="863600">
                <a:tc>
                  <a:txBody>
                    <a:bodyPr wrap="square"/>
                    <a:lstStyle/>
                    <a:p>
                      <a:r>
                        <a:rPr sz="1100">
                          <a:solidFill>
                            <a:srgbClr val="3A3A3A"/>
                          </a:solidFill>
                          <a:latin typeface="Calibri"/>
                        </a:rPr>
                        <a:t>Функциональное</a:t>
                      </a:r>
                    </a:p>
                  </a:txBody>
                  <a:tcPr>
                    <a:solidFill>
                      <a:srgbClr val="FFFFFF"/>
                    </a:solidFill>
                  </a:tcPr>
                </a:tc>
                <a:tc>
                  <a:txBody>
                    <a:bodyPr wrap="square"/>
                    <a:lstStyle/>
                    <a:p>
                      <a:r>
                        <a:rPr sz="1100">
                          <a:solidFill>
                            <a:srgbClr val="3A3A3A"/>
                          </a:solidFill>
                          <a:latin typeface="Calibri"/>
                        </a:rPr>
                        <a:t>Статусы active / discontinued, история цен</a:t>
                      </a:r>
                    </a:p>
                  </a:txBody>
                  <a:tcPr>
                    <a:solidFill>
                      <a:srgbClr val="FFFFFF"/>
                    </a:solidFill>
                  </a:tcPr>
                </a:tc>
              </a:tr>
              <a:tr h="863600">
                <a:tc>
                  <a:txBody>
                    <a:bodyPr wrap="square"/>
                    <a:lstStyle/>
                    <a:p>
                      <a:r>
                        <a:rPr sz="1100">
                          <a:solidFill>
                            <a:srgbClr val="3A3A3A"/>
                          </a:solidFill>
                          <a:latin typeface="Calibri"/>
                        </a:rPr>
                        <a:t>Нефункциональное</a:t>
                      </a:r>
                    </a:p>
                  </a:txBody>
                  <a:tcPr>
                    <a:solidFill>
                      <a:srgbClr val="F4EDE4"/>
                    </a:solidFill>
                  </a:tcPr>
                </a:tc>
                <a:tc>
                  <a:txBody>
                    <a:bodyPr wrap="square"/>
                    <a:lstStyle/>
                    <a:p>
                      <a:r>
                        <a:rPr sz="1100">
                          <a:solidFill>
                            <a:srgbClr val="3A3A3A"/>
                          </a:solidFill>
                          <a:latin typeface="Calibri"/>
                        </a:rPr>
                        <a:t>Веб-доступ, модульная архитектура</a:t>
                      </a:r>
                    </a:p>
                  </a:txBody>
                  <a:tcPr>
                    <a:solidFill>
                      <a:srgbClr val="F4EDE4"/>
                    </a:solidFill>
                  </a:tcPr>
                </a:tc>
              </a:tr>
              <a:tr h="863600">
                <a:tc>
                  <a:txBody>
                    <a:bodyPr wrap="square"/>
                    <a:lstStyle/>
                    <a:p>
                      <a:r>
                        <a:rPr sz="1100">
                          <a:solidFill>
                            <a:srgbClr val="3A3A3A"/>
                          </a:solidFill>
                          <a:latin typeface="Calibri"/>
                        </a:rPr>
                        <a:t>Нефункциональное</a:t>
                      </a:r>
                    </a:p>
                  </a:txBody>
                  <a:tcPr>
                    <a:solidFill>
                      <a:srgbClr val="FFFFFF"/>
                    </a:solidFill>
                  </a:tcPr>
                </a:tc>
                <a:tc>
                  <a:txBody>
                    <a:bodyPr wrap="square"/>
                    <a:lstStyle/>
                    <a:p>
                      <a:r>
                        <a:rPr sz="1100">
                          <a:solidFill>
                            <a:srgbClr val="3A3A3A"/>
                          </a:solidFill>
                          <a:latin typeface="Calibri"/>
                        </a:rPr>
                        <a:t>Целостность данных, низкое потребление ресурсов</a:t>
                      </a:r>
                    </a:p>
                  </a:txBody>
                  <a:tcPr>
                    <a:solidFill>
                      <a:srgbClr val="FFFFFF"/>
                    </a:solidFill>
                  </a:tcPr>
                </a:tc>
              </a:tr>
              <a:tr h="863600">
                <a:tc>
                  <a:txBody>
                    <a:bodyPr wrap="square"/>
                    <a:lstStyle/>
                    <a:p>
                      <a:r>
                        <a:rPr sz="1100">
                          <a:solidFill>
                            <a:srgbClr val="3A3A3A"/>
                          </a:solidFill>
                          <a:latin typeface="Calibri"/>
                        </a:rPr>
                        <a:t>Инструменты</a:t>
                      </a:r>
                    </a:p>
                  </a:txBody>
                  <a:tcPr>
                    <a:solidFill>
                      <a:srgbClr val="F4EDE4"/>
                    </a:solidFill>
                  </a:tcPr>
                </a:tc>
                <a:tc>
                  <a:txBody>
                    <a:bodyPr wrap="square"/>
                    <a:lstStyle/>
                    <a:p>
                      <a:r>
                        <a:rPr sz="1100">
                          <a:solidFill>
                            <a:srgbClr val="3A3A3A"/>
                          </a:solidFill>
                          <a:latin typeface="Calibri"/>
                        </a:rPr>
                        <a:t>Python 3 + Flask + SQLAlchemy + SQLite + Jinja2</a:t>
                      </a:r>
                    </a:p>
                  </a:txBody>
                  <a:tcPr>
                    <a:solidFill>
                      <a:srgbClr val="F4EDE4"/>
                    </a:solidFill>
                  </a:tcPr>
                </a:tc>
              </a:tr>
            </a:tbl>
          </a:graphicData>
        </a:graphic>
      </p:graphicFrame>
    </p:spTree>
    <p:extLst>
      <p:ext uri="{BB962C8B-B14F-4D97-AF65-F5344CB8AC3E}">
        <p14:creationId xmlns:p14="http://schemas.microsoft.com/office/powerpoint/2010/main" val="3902844470"/>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All the world is made of faith, and trust, and pixie dust."/>
          <p:cNvSpPr txBox="1"/>
          <p:nvPr/>
        </p:nvSpPr>
        <p:spPr>
          <a:xfrm>
            <a:off x="914400" y="457200"/>
            <a:ext cx="22402800" cy="1463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nchor="t">
            <a:normAutofit/>
          </a:bodyPr>
          <a:lstStyle>
            <a:lvl1pPr algn="l">
              <a:defRPr sz="5000" b="0">
                <a:solidFill>
                  <a:srgbClr val="242423"/>
                </a:solidFill>
                <a:latin typeface="Montserrat Bold"/>
                <a:ea typeface="Montserrat Bold"/>
                <a:cs typeface="Montserrat Bold"/>
                <a:sym typeface="Montserrat Bold"/>
              </a:defRPr>
            </a:lvl1pPr>
          </a:lstStyle>
          <a:p>
            <a:pPr algn="ctr">
              <a:lnSpc>
                <a:spcPct val="110000"/>
              </a:lnSpc>
              <a:defRPr sz="3200" b="1">
                <a:solidFill>
                  <a:srgbClr val="FFFFFF"/>
                </a:solidFill>
                <a:latin typeface="Arial"/>
              </a:defRPr>
            </a:pPr>
            <a:r>
              <a:rPr lang="ru-RU" sz="3200" b="1" dirty="0">
                <a:solidFill>
                  <a:srgbClr val="FFFFFF"/>
                </a:solidFill>
                <a:latin typeface="Arial"/>
                <a:cs typeface="Arial"/>
              </a:rPr>
              <a:t>Д.Б. Гурметов — информационное и программное обеспечение</a:t>
            </a:r>
          </a:p>
        </p:txBody>
      </p:sp>
      <p:sp>
        <p:nvSpPr>
          <p:cNvPr id="7" name="Rectangle">
            <a:extLst>
              <a:ext uri="{FF2B5EF4-FFF2-40B4-BE49-F238E27FC236}">
                <a16:creationId xmlns:a16="http://schemas.microsoft.com/office/drawing/2014/main" id="{955C94AE-B80E-4918-B201-60D7FF67FDAB}"/>
              </a:ext>
            </a:extLst>
          </p:cNvPr>
          <p:cNvSpPr/>
          <p:nvPr/>
        </p:nvSpPr>
        <p:spPr>
          <a:xfrm>
            <a:off x="349" y="2139697"/>
            <a:ext cx="24383652" cy="4718304"/>
          </a:xfrm>
          <a:prstGeom prst="rect">
            <a:avLst/>
          </a:prstGeom>
          <a:solidFill>
            <a:srgbClr val="EFF0EF"/>
          </a:solidFill>
          <a:ln w="12700">
            <a:solidFill>
              <a:srgbClr val="EFF0EF"/>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4" name="Lorem ipsum dolor sit amet, consectetur adipiscing elit, sed do eiusmod tempor incididunt ut labore et dolore magna aliqua. Arcu dictum varius duis at consectetur lorem donec. Volutpat maecenas volutpat blandit aliquam. Egestas quis ipsum suspendisse ult">
            <a:extLst>
              <a:ext uri="{FF2B5EF4-FFF2-40B4-BE49-F238E27FC236}">
                <a16:creationId xmlns:a16="http://schemas.microsoft.com/office/drawing/2014/main" id="{CD0C1FE3-0CF6-4BA9-9372-AAF16C7A55B3}"/>
              </a:ext>
            </a:extLst>
          </p:cNvPr>
          <p:cNvSpPr txBox="1"/>
          <p:nvPr/>
        </p:nvSpPr>
        <p:spPr>
          <a:xfrm>
            <a:off x="1371600" y="3200400"/>
            <a:ext cx="10972800" cy="100584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normAutofit/>
          </a:bodyPr>
          <a:lstStyle/>
          <a:p>
            <a:pPr>
              <a:lnSpc>
                <a:spcPct val="125000"/>
              </a:lnSpc>
              <a:defRPr sz="2000">
                <a:solidFill>
                  <a:srgbClr val="000000"/>
                </a:solidFill>
                <a:latin typeface="Arial"/>
              </a:defRPr>
            </a:pPr>
            <a:r>
              <a:rPr lang="ru-RU" sz="3200" dirty="0">
                <a:solidFill>
                  <a:srgbClr val="000000"/>
                </a:solidFill>
                <a:latin typeface="Arial"/>
                <a:cs typeface="Arial"/>
              </a:rPr>
              <a:t>БД построена вокруг четырёх сущностей:</a:t>
            </a:r>
          </a:p>
          <a:p>
            <a:pPr>
              <a:lnSpc>
                <a:spcPct val="125000"/>
              </a:lnSpc>
              <a:defRPr sz="2000">
                <a:solidFill>
                  <a:srgbClr val="000000"/>
                </a:solidFill>
                <a:latin typeface="Arial"/>
              </a:defRPr>
            </a:pPr>
            <a:r>
              <a:rPr lang="ru-RU" sz="3200" b="0" dirty="0">
                <a:solidFill>
                  <a:srgbClr val="000000"/>
                </a:solidFill>
                <a:latin typeface="Arial"/>
                <a:cs typeface="Arial"/>
              </a:rPr>
              <a:t>— Supplier (id, name, email, phone, reliability);</a:t>
            </a:r>
          </a:p>
          <a:p>
            <a:pPr>
              <a:lnSpc>
                <a:spcPct val="125000"/>
              </a:lnSpc>
              <a:defRPr sz="2000">
                <a:solidFill>
                  <a:srgbClr val="000000"/>
                </a:solidFill>
                <a:latin typeface="Arial"/>
              </a:defRPr>
            </a:pPr>
            <a:r>
              <a:rPr lang="ru-RU" sz="3200" b="0" dirty="0">
                <a:solidFill>
                  <a:srgbClr val="000000"/>
                </a:solidFill>
                <a:latin typeface="Arial"/>
                <a:cs typeface="Arial"/>
              </a:rPr>
              <a:t>— Contract (id, supplier_id, number, start_date, end_date, file_path);</a:t>
            </a:r>
          </a:p>
          <a:p>
            <a:pPr>
              <a:lnSpc>
                <a:spcPct val="125000"/>
              </a:lnSpc>
              <a:defRPr sz="2000">
                <a:solidFill>
                  <a:srgbClr val="000000"/>
                </a:solidFill>
                <a:latin typeface="Arial"/>
              </a:defRPr>
            </a:pPr>
            <a:r>
              <a:rPr lang="ru-RU" sz="3200" b="0" dirty="0">
                <a:solidFill>
                  <a:srgbClr val="000000"/>
                </a:solidFill>
                <a:latin typeface="Arial"/>
                <a:cs typeface="Arial"/>
              </a:rPr>
              <a:t>— CatalogItem (id, sku, name, unit, price, discount, available_qty, status, supplier_id);</a:t>
            </a:r>
          </a:p>
          <a:p>
            <a:pPr>
              <a:lnSpc>
                <a:spcPct val="125000"/>
              </a:lnSpc>
              <a:defRPr sz="2000">
                <a:solidFill>
                  <a:srgbClr val="000000"/>
                </a:solidFill>
                <a:latin typeface="Arial"/>
              </a:defRPr>
            </a:pPr>
            <a:r>
              <a:rPr lang="ru-RU" sz="3200" b="0" dirty="0">
                <a:solidFill>
                  <a:srgbClr val="000000"/>
                </a:solidFill>
                <a:latin typeface="Arial"/>
                <a:cs typeface="Arial"/>
              </a:rPr>
              <a:t>— PriceHistory (id, catalog_item_id, price, </a:t>
            </a:r>
            <a:r>
              <a:rPr lang="ru-RU" sz="3200" b="0" dirty="0" err="1">
                <a:solidFill>
                  <a:srgbClr val="000000"/>
                </a:solidFill>
                <a:latin typeface="Arial"/>
                <a:cs typeface="Arial"/>
              </a:rPr>
              <a:t>date</a:t>
            </a:r>
            <a:r>
              <a:rPr lang="ru-RU" sz="3200" b="0" dirty="0">
                <a:solidFill>
                  <a:srgbClr val="000000"/>
                </a:solidFill>
                <a:latin typeface="Arial"/>
                <a:cs typeface="Arial"/>
              </a:rPr>
              <a:t>).</a:t>
            </a:r>
            <a:endParaRPr lang="en-US" sz="3200" b="0" dirty="0">
              <a:solidFill>
                <a:srgbClr val="000000"/>
              </a:solidFill>
              <a:latin typeface="Arial"/>
              <a:cs typeface="Arial"/>
            </a:endParaRPr>
          </a:p>
          <a:p>
            <a:pPr>
              <a:lnSpc>
                <a:spcPct val="125000"/>
              </a:lnSpc>
              <a:defRPr sz="2000">
                <a:solidFill>
                  <a:srgbClr val="000000"/>
                </a:solidFill>
                <a:latin typeface="Arial"/>
              </a:defRPr>
            </a:pPr>
            <a:endParaRPr lang="ru-RU" sz="3200" b="0" dirty="0">
              <a:solidFill>
                <a:srgbClr val="000000"/>
              </a:solidFill>
              <a:latin typeface="Arial"/>
              <a:cs typeface="Arial"/>
            </a:endParaRPr>
          </a:p>
          <a:p>
            <a:pPr>
              <a:lnSpc>
                <a:spcPct val="125000"/>
              </a:lnSpc>
              <a:defRPr sz="2000">
                <a:solidFill>
                  <a:srgbClr val="000000"/>
                </a:solidFill>
                <a:latin typeface="Arial"/>
              </a:defRPr>
            </a:pPr>
            <a:r>
              <a:rPr lang="ru-RU" sz="3200" dirty="0">
                <a:solidFill>
                  <a:srgbClr val="000000"/>
                </a:solidFill>
                <a:latin typeface="Arial"/>
                <a:cs typeface="Arial"/>
              </a:rPr>
              <a:t>Связи: </a:t>
            </a:r>
            <a:r>
              <a:rPr lang="ru-RU" sz="3200" b="0" dirty="0">
                <a:solidFill>
                  <a:srgbClr val="000000"/>
                </a:solidFill>
                <a:latin typeface="Arial"/>
                <a:cs typeface="Arial"/>
              </a:rPr>
              <a:t>Supplier 1—N Contract, Supplier 1—N CatalogItem, CatalogItem 1—N PriceHistory.</a:t>
            </a:r>
          </a:p>
          <a:p>
            <a:pPr>
              <a:lnSpc>
                <a:spcPct val="125000"/>
              </a:lnSpc>
              <a:defRPr sz="2000">
                <a:solidFill>
                  <a:srgbClr val="000000"/>
                </a:solidFill>
                <a:latin typeface="Arial"/>
              </a:defRPr>
            </a:pPr>
            <a:r>
              <a:rPr lang="ru-RU" sz="3200" b="0" dirty="0">
                <a:solidFill>
                  <a:srgbClr val="000000"/>
                </a:solidFill>
                <a:latin typeface="Arial"/>
                <a:cs typeface="Arial"/>
              </a:rPr>
              <a:t>Программная архитектура: Flask + create_app, Blueprint /suppliers, /contracts, /catalog; шаблоны Jinja base.html, suppliers.html, catalog.html. Паттерны: Application Factory, MVC.</a:t>
            </a:r>
          </a:p>
        </p:txBody>
      </p:sp>
      <p:pic>
        <p:nvPicPr>
          <p:cNvPr id="77" name="Picture 76" descr="erd_catalog.png"/>
          <p:cNvPicPr>
            <a:picLocks noChangeAspect="1"/>
          </p:cNvPicPr>
          <p:nvPr/>
        </p:nvPicPr>
        <p:blipFill>
          <a:blip r:embed="rId2"/>
          <a:stretch>
            <a:fillRect/>
          </a:stretch>
        </p:blipFill>
        <p:spPr>
          <a:xfrm>
            <a:off x="12801600" y="3108960"/>
            <a:ext cx="10972800" cy="8961120"/>
          </a:xfrm>
          <a:prstGeom prst="rect">
            <a:avLst/>
          </a:prstGeom>
        </p:spPr>
      </p:pic>
      <p:sp>
        <p:nvSpPr>
          <p:cNvPr id="78" name="TextBox 77"/>
          <p:cNvSpPr txBox="1"/>
          <p:nvPr/>
        </p:nvSpPr>
        <p:spPr>
          <a:xfrm>
            <a:off x="12801600" y="12070080"/>
            <a:ext cx="10972800" cy="457200"/>
          </a:xfrm>
          <a:prstGeom prst="rect">
            <a:avLst/>
          </a:prstGeom>
          <a:noFill/>
        </p:spPr>
        <p:txBody>
          <a:bodyPr wrap="square">
            <a:spAutoFit/>
          </a:bodyPr>
          <a:lstStyle/>
          <a:p>
            <a:pPr algn="ctr"/>
            <a:r>
              <a:rPr sz="1200" b="1">
                <a:solidFill>
                  <a:srgbClr val="6B1A2E"/>
                </a:solidFill>
                <a:latin typeface="Calibri"/>
              </a:rPr>
              <a:t>ER-модель: Supplier, Contract, CatalogItem, PriceHistory</a:t>
            </a:r>
          </a:p>
        </p:txBody>
      </p:sp>
    </p:spTree>
    <p:extLst>
      <p:ext uri="{BB962C8B-B14F-4D97-AF65-F5344CB8AC3E}">
        <p14:creationId xmlns:p14="http://schemas.microsoft.com/office/powerpoint/2010/main" val="572606655"/>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All the world is made of faith, and trust, and pixie dust."/>
          <p:cNvSpPr txBox="1"/>
          <p:nvPr/>
        </p:nvSpPr>
        <p:spPr>
          <a:xfrm>
            <a:off x="914400" y="457200"/>
            <a:ext cx="22402800" cy="1463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nchor="t">
            <a:normAutofit/>
          </a:bodyPr>
          <a:lstStyle>
            <a:lvl1pPr algn="l">
              <a:defRPr sz="5000" b="0">
                <a:solidFill>
                  <a:srgbClr val="242423"/>
                </a:solidFill>
                <a:latin typeface="Montserrat Bold"/>
                <a:ea typeface="Montserrat Bold"/>
                <a:cs typeface="Montserrat Bold"/>
                <a:sym typeface="Montserrat Bold"/>
              </a:defRPr>
            </a:lvl1pPr>
          </a:lstStyle>
          <a:p>
            <a:pPr algn="ctr">
              <a:lnSpc>
                <a:spcPct val="110000"/>
              </a:lnSpc>
              <a:defRPr sz="3600" b="1">
                <a:solidFill>
                  <a:srgbClr val="FFFFFF"/>
                </a:solidFill>
                <a:latin typeface="Arial"/>
              </a:defRPr>
            </a:pPr>
            <a:r>
              <a:rPr lang="ru-RU" sz="3600" b="1" dirty="0">
                <a:solidFill>
                  <a:srgbClr val="FFFFFF"/>
                </a:solidFill>
                <a:latin typeface="Arial"/>
                <a:cs typeface="Arial"/>
              </a:rPr>
              <a:t>Д.Б. Гурметов — выводы по модулю</a:t>
            </a:r>
          </a:p>
        </p:txBody>
      </p:sp>
      <p:sp>
        <p:nvSpPr>
          <p:cNvPr id="7" name="Rectangle">
            <a:extLst>
              <a:ext uri="{FF2B5EF4-FFF2-40B4-BE49-F238E27FC236}">
                <a16:creationId xmlns:a16="http://schemas.microsoft.com/office/drawing/2014/main" id="{955C94AE-B80E-4918-B201-60D7FF67FDAB}"/>
              </a:ext>
            </a:extLst>
          </p:cNvPr>
          <p:cNvSpPr/>
          <p:nvPr/>
        </p:nvSpPr>
        <p:spPr>
          <a:xfrm>
            <a:off x="349" y="2139697"/>
            <a:ext cx="24383652" cy="4718304"/>
          </a:xfrm>
          <a:prstGeom prst="rect">
            <a:avLst/>
          </a:prstGeom>
          <a:solidFill>
            <a:srgbClr val="EFF0EF"/>
          </a:solidFill>
          <a:ln w="12700">
            <a:solidFill>
              <a:srgbClr val="EFF0EF"/>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2" name="Управляющая кнопка: документ 1">
            <a:hlinkClick r:id="rId2" action="ppaction://hlinksldjump" highlightClick="1"/>
            <a:extLst>
              <a:ext uri="{FF2B5EF4-FFF2-40B4-BE49-F238E27FC236}">
                <a16:creationId xmlns:a16="http://schemas.microsoft.com/office/drawing/2014/main" id="{DA318A56-F2AF-46A7-9F6C-7C2EFC01BFE8}"/>
              </a:ext>
            </a:extLst>
          </p:cNvPr>
          <p:cNvSpPr/>
          <p:nvPr/>
        </p:nvSpPr>
        <p:spPr>
          <a:xfrm>
            <a:off x="23134320" y="12435838"/>
            <a:ext cx="1115568" cy="1170433"/>
          </a:xfrm>
          <a:prstGeom prst="actionButtonDocumen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ru-RU"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6" name="Lorem ipsum dolor sit amet, consectetur adipiscing elit, sed do eiusmod tempor incididunt ut labore et dolore magna aliqua. Arcu dictum varius duis at consectetur lorem donec. Volutpat maecenas volutpat blandit aliquam. Egestas quis ipsum suspendisse ult">
            <a:extLst>
              <a:ext uri="{FF2B5EF4-FFF2-40B4-BE49-F238E27FC236}">
                <a16:creationId xmlns:a16="http://schemas.microsoft.com/office/drawing/2014/main" id="{B9083FB9-A161-4706-A8CC-09006749EF22}"/>
              </a:ext>
            </a:extLst>
          </p:cNvPr>
          <p:cNvSpPr txBox="1"/>
          <p:nvPr/>
        </p:nvSpPr>
        <p:spPr>
          <a:xfrm>
            <a:off x="1371600" y="3200400"/>
            <a:ext cx="10972800" cy="9144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normAutofit/>
          </a:bodyPr>
          <a:lstStyle/>
          <a:p>
            <a:pPr>
              <a:lnSpc>
                <a:spcPct val="135000"/>
              </a:lnSpc>
              <a:defRPr sz="2600">
                <a:solidFill>
                  <a:srgbClr val="000000"/>
                </a:solidFill>
                <a:latin typeface="Arial"/>
              </a:defRPr>
            </a:pPr>
            <a:r>
              <a:rPr lang="ru-RU" sz="3200" b="0" dirty="0">
                <a:solidFill>
                  <a:srgbClr val="000000"/>
                </a:solidFill>
                <a:latin typeface="Arial"/>
                <a:cs typeface="Arial"/>
              </a:rPr>
              <a:t>Реализован веб-модуль ведения каталога и поставщиков, интегрируемый в общий веб-сервис закупок. Обеспечены ведение справочников, импорт/экспорт Excel, фильтрация, история цен и управление статусами. Архитектура построена по принципу разделения ответственности между UI, серверной логикой и слоем хранения.</a:t>
            </a:r>
          </a:p>
        </p:txBody>
      </p:sp>
      <p:pic>
        <p:nvPicPr>
          <p:cNvPr id="77" name="Picture 76" descr="ui_catalog.png"/>
          <p:cNvPicPr>
            <a:picLocks noChangeAspect="1"/>
          </p:cNvPicPr>
          <p:nvPr/>
        </p:nvPicPr>
        <p:blipFill>
          <a:blip r:embed="rId3"/>
          <a:stretch>
            <a:fillRect/>
          </a:stretch>
        </p:blipFill>
        <p:spPr>
          <a:xfrm>
            <a:off x="12801600" y="3657600"/>
            <a:ext cx="10972800" cy="6858000"/>
          </a:xfrm>
          <a:prstGeom prst="rect">
            <a:avLst/>
          </a:prstGeom>
        </p:spPr>
      </p:pic>
      <p:sp>
        <p:nvSpPr>
          <p:cNvPr id="78" name="TextBox 77"/>
          <p:cNvSpPr txBox="1"/>
          <p:nvPr/>
        </p:nvSpPr>
        <p:spPr>
          <a:xfrm>
            <a:off x="12801600" y="10607040"/>
            <a:ext cx="10972800" cy="457200"/>
          </a:xfrm>
          <a:prstGeom prst="rect">
            <a:avLst/>
          </a:prstGeom>
          <a:noFill/>
        </p:spPr>
        <p:txBody>
          <a:bodyPr wrap="square">
            <a:spAutoFit/>
          </a:bodyPr>
          <a:lstStyle/>
          <a:p>
            <a:pPr algn="ctr"/>
            <a:r>
              <a:rPr sz="1400" b="1">
                <a:solidFill>
                  <a:srgbClr val="6B1A2E"/>
                </a:solidFill>
                <a:latin typeface="Calibri"/>
              </a:rPr>
              <a:t>Интерфейс модуля каталога</a:t>
            </a:r>
          </a:p>
        </p:txBody>
      </p:sp>
    </p:spTree>
    <p:extLst>
      <p:ext uri="{BB962C8B-B14F-4D97-AF65-F5344CB8AC3E}">
        <p14:creationId xmlns:p14="http://schemas.microsoft.com/office/powerpoint/2010/main" val="1727171704"/>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All the world is made of faith, and trust, and pixie dust."/>
          <p:cNvSpPr txBox="1"/>
          <p:nvPr/>
        </p:nvSpPr>
        <p:spPr>
          <a:xfrm>
            <a:off x="914400" y="457200"/>
            <a:ext cx="22402800" cy="1463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nchor="t">
            <a:normAutofit/>
          </a:bodyPr>
          <a:lstStyle>
            <a:lvl1pPr algn="l">
              <a:defRPr sz="5000" b="0">
                <a:solidFill>
                  <a:srgbClr val="242423"/>
                </a:solidFill>
                <a:latin typeface="Montserrat Bold"/>
                <a:ea typeface="Montserrat Bold"/>
                <a:cs typeface="Montserrat Bold"/>
                <a:sym typeface="Montserrat Bold"/>
              </a:defRPr>
            </a:lvl1pPr>
          </a:lstStyle>
          <a:p>
            <a:pPr algn="ctr">
              <a:lnSpc>
                <a:spcPct val="110000"/>
              </a:lnSpc>
              <a:defRPr sz="3600" b="1">
                <a:solidFill>
                  <a:srgbClr val="FFFFFF"/>
                </a:solidFill>
                <a:latin typeface="Arial"/>
              </a:defRPr>
            </a:pPr>
            <a:r>
              <a:rPr lang="ru-RU" sz="3600" b="1" dirty="0">
                <a:solidFill>
                  <a:srgbClr val="FFFFFF"/>
                </a:solidFill>
                <a:latin typeface="Arial"/>
                <a:cs typeface="Arial"/>
              </a:rPr>
              <a:t>Н.А. Мушегян — модель бизнес-процессов</a:t>
            </a:r>
          </a:p>
        </p:txBody>
      </p:sp>
      <p:sp>
        <p:nvSpPr>
          <p:cNvPr id="7" name="Rectangle">
            <a:extLst>
              <a:ext uri="{FF2B5EF4-FFF2-40B4-BE49-F238E27FC236}">
                <a16:creationId xmlns:a16="http://schemas.microsoft.com/office/drawing/2014/main" id="{955C94AE-B80E-4918-B201-60D7FF67FDAB}"/>
              </a:ext>
            </a:extLst>
          </p:cNvPr>
          <p:cNvSpPr/>
          <p:nvPr/>
        </p:nvSpPr>
        <p:spPr>
          <a:xfrm>
            <a:off x="349" y="2139697"/>
            <a:ext cx="24383652" cy="4718304"/>
          </a:xfrm>
          <a:prstGeom prst="rect">
            <a:avLst/>
          </a:prstGeom>
          <a:solidFill>
            <a:srgbClr val="EFF0EF"/>
          </a:solidFill>
          <a:ln w="12700">
            <a:solidFill>
              <a:srgbClr val="EFF0EF"/>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5" name="Lorem ipsum dolor sit amet, consectetur adipiscing elit, sed do eiusmod tempor incididunt ut labore et dolore magna aliqua. Arcu dictum varius duis at consectetur lorem donec. Volutpat maecenas volutpat blandit aliquam. Egestas quis ipsum suspendisse ult">
            <a:extLst>
              <a:ext uri="{FF2B5EF4-FFF2-40B4-BE49-F238E27FC236}">
                <a16:creationId xmlns:a16="http://schemas.microsoft.com/office/drawing/2014/main" id="{E6279DB2-1E4D-40C3-9C0D-E60BDFD49116}"/>
              </a:ext>
            </a:extLst>
          </p:cNvPr>
          <p:cNvSpPr txBox="1"/>
          <p:nvPr/>
        </p:nvSpPr>
        <p:spPr>
          <a:xfrm>
            <a:off x="1371600" y="3200400"/>
            <a:ext cx="10972800" cy="9144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normAutofit/>
          </a:bodyPr>
          <a:lstStyle/>
          <a:p>
            <a:pPr>
              <a:lnSpc>
                <a:spcPct val="130000"/>
              </a:lnSpc>
              <a:defRPr sz="2200">
                <a:solidFill>
                  <a:srgbClr val="000000"/>
                </a:solidFill>
                <a:latin typeface="Arial"/>
              </a:defRPr>
            </a:pPr>
            <a:r>
              <a:rPr lang="ru-RU" sz="3200" dirty="0">
                <a:solidFill>
                  <a:srgbClr val="000000"/>
                </a:solidFill>
                <a:latin typeface="Arial"/>
                <a:cs typeface="Arial"/>
              </a:rPr>
              <a:t>Автоматизируемые процессы: </a:t>
            </a:r>
            <a:r>
              <a:rPr lang="ru-RU" sz="3200" b="0" dirty="0">
                <a:solidFill>
                  <a:srgbClr val="000000"/>
                </a:solidFill>
                <a:latin typeface="Arial"/>
                <a:cs typeface="Arial"/>
              </a:rPr>
              <a:t>создание и согласование заявок подразделений; отправка коммерческих запросов поставщикам; регистрация и сравнение коммерческих предложений; формирование заказов; контроль исполнения и просрочек поставки.</a:t>
            </a:r>
          </a:p>
          <a:p>
            <a:pPr>
              <a:lnSpc>
                <a:spcPct val="130000"/>
              </a:lnSpc>
              <a:defRPr sz="2200">
                <a:solidFill>
                  <a:srgbClr val="000000"/>
                </a:solidFill>
                <a:latin typeface="Arial"/>
              </a:defRPr>
            </a:pPr>
            <a:r>
              <a:rPr lang="ru-RU" sz="3200" b="0" dirty="0">
                <a:solidFill>
                  <a:srgbClr val="000000"/>
                </a:solidFill>
                <a:latin typeface="Arial"/>
                <a:cs typeface="Arial"/>
              </a:rPr>
              <a:t>Контекст — нотация IDEF0: вход — потребность и предложения, выход — заявка, заказ, сведения о просрочках. Сквозной маршрут: PurchaseRequest → SupplierQuote → PurchaseOrder.</a:t>
            </a:r>
          </a:p>
        </p:txBody>
      </p:sp>
      <p:pic>
        <p:nvPicPr>
          <p:cNvPr id="77" name="Picture 76" descr="idef0_requests.png"/>
          <p:cNvPicPr>
            <a:picLocks noChangeAspect="1"/>
          </p:cNvPicPr>
          <p:nvPr/>
        </p:nvPicPr>
        <p:blipFill>
          <a:blip r:embed="rId2"/>
          <a:stretch>
            <a:fillRect/>
          </a:stretch>
        </p:blipFill>
        <p:spPr>
          <a:xfrm>
            <a:off x="12801600" y="3291840"/>
            <a:ext cx="10972800" cy="8229600"/>
          </a:xfrm>
          <a:prstGeom prst="rect">
            <a:avLst/>
          </a:prstGeom>
        </p:spPr>
      </p:pic>
      <p:sp>
        <p:nvSpPr>
          <p:cNvPr id="78" name="TextBox 77"/>
          <p:cNvSpPr txBox="1"/>
          <p:nvPr/>
        </p:nvSpPr>
        <p:spPr>
          <a:xfrm>
            <a:off x="12801600" y="11521440"/>
            <a:ext cx="10972800" cy="457200"/>
          </a:xfrm>
          <a:prstGeom prst="rect">
            <a:avLst/>
          </a:prstGeom>
          <a:noFill/>
        </p:spPr>
        <p:txBody>
          <a:bodyPr wrap="square">
            <a:spAutoFit/>
          </a:bodyPr>
          <a:lstStyle/>
          <a:p>
            <a:pPr algn="ctr"/>
            <a:r>
              <a:rPr sz="1400" b="1">
                <a:solidFill>
                  <a:srgbClr val="6B1A2E"/>
                </a:solidFill>
                <a:latin typeface="Calibri"/>
              </a:rPr>
              <a:t>Сквозной маршрут: заявка → предложение → заказ</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All the world is made of faith, and trust, and pixie dust."/>
          <p:cNvSpPr txBox="1"/>
          <p:nvPr/>
        </p:nvSpPr>
        <p:spPr>
          <a:xfrm>
            <a:off x="914400" y="457200"/>
            <a:ext cx="22402800" cy="1463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nchor="t">
            <a:normAutofit/>
          </a:bodyPr>
          <a:lstStyle>
            <a:lvl1pPr algn="l">
              <a:defRPr sz="5000" b="0">
                <a:solidFill>
                  <a:srgbClr val="242423"/>
                </a:solidFill>
                <a:latin typeface="Montserrat Bold"/>
                <a:ea typeface="Montserrat Bold"/>
                <a:cs typeface="Montserrat Bold"/>
                <a:sym typeface="Montserrat Bold"/>
              </a:defRPr>
            </a:lvl1pPr>
          </a:lstStyle>
          <a:p>
            <a:pPr algn="ctr">
              <a:lnSpc>
                <a:spcPct val="110000"/>
              </a:lnSpc>
              <a:defRPr sz="3600" b="1">
                <a:solidFill>
                  <a:srgbClr val="FFFFFF"/>
                </a:solidFill>
                <a:latin typeface="Arial"/>
              </a:defRPr>
            </a:pPr>
            <a:r>
              <a:rPr lang="ru-RU" sz="3600" b="1" dirty="0">
                <a:solidFill>
                  <a:srgbClr val="FFFFFF"/>
                </a:solidFill>
                <a:latin typeface="Arial"/>
                <a:cs typeface="Arial"/>
              </a:rPr>
              <a:t>Н.А. Мушегян — требования к ИС</a:t>
            </a:r>
          </a:p>
        </p:txBody>
      </p:sp>
      <p:sp>
        <p:nvSpPr>
          <p:cNvPr id="7" name="Rectangle">
            <a:extLst>
              <a:ext uri="{FF2B5EF4-FFF2-40B4-BE49-F238E27FC236}">
                <a16:creationId xmlns:a16="http://schemas.microsoft.com/office/drawing/2014/main" id="{955C94AE-B80E-4918-B201-60D7FF67FDAB}"/>
              </a:ext>
            </a:extLst>
          </p:cNvPr>
          <p:cNvSpPr/>
          <p:nvPr/>
        </p:nvSpPr>
        <p:spPr>
          <a:xfrm>
            <a:off x="349" y="2139697"/>
            <a:ext cx="24383652" cy="4718304"/>
          </a:xfrm>
          <a:prstGeom prst="rect">
            <a:avLst/>
          </a:prstGeom>
          <a:solidFill>
            <a:srgbClr val="EFF0EF"/>
          </a:solidFill>
          <a:ln w="12700">
            <a:solidFill>
              <a:srgbClr val="EFF0EF"/>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4" name="Lorem ipsum dolor sit amet, consectetur adipiscing elit, sed do eiusmod tempor incididunt ut labore et dolore magna aliqua. Arcu dictum varius duis at consectetur lorem donec. Volutpat maecenas volutpat blandit aliquam. Egestas quis ipsum suspendisse ult">
            <a:extLst>
              <a:ext uri="{FF2B5EF4-FFF2-40B4-BE49-F238E27FC236}">
                <a16:creationId xmlns:a16="http://schemas.microsoft.com/office/drawing/2014/main" id="{A702AD97-02BC-4CA9-8208-10BA43CABD35}"/>
              </a:ext>
            </a:extLst>
          </p:cNvPr>
          <p:cNvSpPr txBox="1"/>
          <p:nvPr/>
        </p:nvSpPr>
        <p:spPr>
          <a:xfrm>
            <a:off x="1371600" y="3200400"/>
            <a:ext cx="10515600" cy="100584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normAutofit/>
          </a:bodyPr>
          <a:lstStyle/>
          <a:p>
            <a:pPr>
              <a:lnSpc>
                <a:spcPct val="128000"/>
              </a:lnSpc>
              <a:defRPr sz="2100">
                <a:solidFill>
                  <a:srgbClr val="000000"/>
                </a:solidFill>
                <a:latin typeface="Arial"/>
              </a:defRPr>
            </a:pPr>
            <a:r>
              <a:rPr lang="ru-RU" sz="3200" dirty="0">
                <a:solidFill>
                  <a:srgbClr val="000000"/>
                </a:solidFill>
                <a:latin typeface="Arial"/>
                <a:cs typeface="Arial"/>
              </a:rPr>
              <a:t>Функциональные: </a:t>
            </a:r>
            <a:r>
              <a:rPr lang="ru-RU" sz="3200" b="0" dirty="0">
                <a:solidFill>
                  <a:srgbClr val="000000"/>
                </a:solidFill>
                <a:latin typeface="Arial"/>
                <a:cs typeface="Arial"/>
              </a:rPr>
              <a:t>создание и согласование заявок; отправка коммерческих запросов; регистрация и сопоставление предложений; формирование заказа на основании выбранного предложения; контроль фактической даты поставки и оценки качества; уведомления о просрочках; изменение статусов на каждом этапе.</a:t>
            </a:r>
            <a:endParaRPr lang="en-US" sz="3200" b="0" dirty="0">
              <a:solidFill>
                <a:srgbClr val="000000"/>
              </a:solidFill>
              <a:latin typeface="Arial"/>
              <a:cs typeface="Arial"/>
            </a:endParaRPr>
          </a:p>
          <a:p>
            <a:pPr>
              <a:lnSpc>
                <a:spcPct val="128000"/>
              </a:lnSpc>
              <a:defRPr sz="2100">
                <a:solidFill>
                  <a:srgbClr val="000000"/>
                </a:solidFill>
                <a:latin typeface="Arial"/>
              </a:defRPr>
            </a:pPr>
            <a:endParaRPr lang="ru-RU" sz="3200" b="0" dirty="0">
              <a:solidFill>
                <a:srgbClr val="000000"/>
              </a:solidFill>
              <a:latin typeface="Arial"/>
              <a:cs typeface="Arial"/>
            </a:endParaRPr>
          </a:p>
          <a:p>
            <a:pPr>
              <a:lnSpc>
                <a:spcPct val="128000"/>
              </a:lnSpc>
              <a:defRPr sz="2100">
                <a:solidFill>
                  <a:srgbClr val="000000"/>
                </a:solidFill>
                <a:latin typeface="Arial"/>
              </a:defRPr>
            </a:pPr>
            <a:r>
              <a:rPr lang="ru-RU" sz="3200" dirty="0">
                <a:solidFill>
                  <a:srgbClr val="000000"/>
                </a:solidFill>
                <a:latin typeface="Arial"/>
                <a:cs typeface="Arial"/>
              </a:rPr>
              <a:t>Нефункциональные: </a:t>
            </a:r>
            <a:r>
              <a:rPr lang="ru-RU" sz="3200" b="0" dirty="0">
                <a:solidFill>
                  <a:srgbClr val="000000"/>
                </a:solidFill>
                <a:latin typeface="Arial"/>
                <a:cs typeface="Arial"/>
              </a:rPr>
              <a:t>связность заявка — предложение — заказ, прозрачность статусов, единое цифровое пространство малого предприятия.</a:t>
            </a:r>
            <a:endParaRPr lang="en-US" sz="3200" b="0" dirty="0">
              <a:solidFill>
                <a:srgbClr val="000000"/>
              </a:solidFill>
              <a:latin typeface="Arial"/>
              <a:cs typeface="Arial"/>
            </a:endParaRPr>
          </a:p>
          <a:p>
            <a:pPr>
              <a:lnSpc>
                <a:spcPct val="128000"/>
              </a:lnSpc>
              <a:defRPr sz="2100">
                <a:solidFill>
                  <a:srgbClr val="000000"/>
                </a:solidFill>
                <a:latin typeface="Arial"/>
              </a:defRPr>
            </a:pPr>
            <a:endParaRPr lang="ru-RU" sz="3200" b="0" dirty="0">
              <a:solidFill>
                <a:srgbClr val="000000"/>
              </a:solidFill>
              <a:latin typeface="Arial"/>
              <a:cs typeface="Arial"/>
            </a:endParaRPr>
          </a:p>
          <a:p>
            <a:pPr>
              <a:lnSpc>
                <a:spcPct val="128000"/>
              </a:lnSpc>
              <a:defRPr sz="2100">
                <a:solidFill>
                  <a:srgbClr val="000000"/>
                </a:solidFill>
                <a:latin typeface="Arial"/>
              </a:defRPr>
            </a:pPr>
            <a:r>
              <a:rPr lang="ru-RU" sz="3200" dirty="0">
                <a:solidFill>
                  <a:srgbClr val="000000"/>
                </a:solidFill>
                <a:latin typeface="Arial"/>
                <a:cs typeface="Arial"/>
              </a:rPr>
              <a:t>Инструменты: </a:t>
            </a:r>
            <a:r>
              <a:rPr lang="ru-RU" sz="3200" b="0" dirty="0">
                <a:solidFill>
                  <a:srgbClr val="000000"/>
                </a:solidFill>
                <a:latin typeface="Arial"/>
                <a:cs typeface="Arial"/>
              </a:rPr>
              <a:t>Python 3 + Flask (маршруты /requests, /quotes, /orders), SQLAlchemy ORM, SQLite, HTML/Jinja, Pytest для тестирования</a:t>
            </a:r>
            <a:r>
              <a:rPr lang="ru-RU" sz="2100" b="0" dirty="0">
                <a:solidFill>
                  <a:srgbClr val="000000"/>
                </a:solidFill>
                <a:latin typeface="Arial"/>
                <a:cs typeface="Arial"/>
              </a:rPr>
              <a:t>.</a:t>
            </a:r>
          </a:p>
        </p:txBody>
      </p:sp>
      <p:sp>
        <p:nvSpPr>
          <p:cNvPr id="77" name="TextBox 76"/>
          <p:cNvSpPr txBox="1"/>
          <p:nvPr/>
        </p:nvSpPr>
        <p:spPr>
          <a:xfrm>
            <a:off x="12801600" y="2743200"/>
            <a:ext cx="10972800" cy="457200"/>
          </a:xfrm>
          <a:prstGeom prst="rect">
            <a:avLst/>
          </a:prstGeom>
          <a:noFill/>
        </p:spPr>
        <p:txBody>
          <a:bodyPr wrap="square">
            <a:spAutoFit/>
          </a:bodyPr>
          <a:lstStyle/>
          <a:p>
            <a:pPr algn="ctr"/>
            <a:r>
              <a:rPr sz="1400" b="1">
                <a:solidFill>
                  <a:srgbClr val="6B1A2E"/>
                </a:solidFill>
                <a:latin typeface="Calibri"/>
              </a:rPr>
              <a:t>Требования к модулю заявок и заказов</a:t>
            </a:r>
          </a:p>
        </p:txBody>
      </p:sp>
      <p:graphicFrame>
        <p:nvGraphicFramePr>
          <p:cNvPr id="78" name="Table 77"/>
          <p:cNvGraphicFramePr>
            <a:graphicFrameLocks noGrp="1"/>
          </p:cNvGraphicFramePr>
          <p:nvPr/>
        </p:nvGraphicFramePr>
        <p:xfrm>
          <a:off x="12801600" y="3383280"/>
          <a:ext cx="10972800" cy="5486400"/>
        </p:xfrm>
        <a:graphic>
          <a:graphicData uri="http://schemas.openxmlformats.org/drawingml/2006/table">
            <a:tbl>
              <a:tblPr firstRow="1" bandRow="1">
                <a:tableStyleId>{5C22544A-7EE6-4342-B048-85BDC9FD1C3A}</a:tableStyleId>
              </a:tblPr>
              <a:tblGrid>
                <a:gridCol w="5486400"/>
                <a:gridCol w="5486400"/>
              </a:tblGrid>
              <a:tr h="609600">
                <a:tc>
                  <a:txBody>
                    <a:bodyPr wrap="square"/>
                    <a:lstStyle/>
                    <a:p>
                      <a:r>
                        <a:rPr sz="1300" b="1">
                          <a:solidFill>
                            <a:srgbClr val="FFFFFF"/>
                          </a:solidFill>
                          <a:latin typeface="Calibri"/>
                        </a:rPr>
                        <a:t>Тип</a:t>
                      </a:r>
                    </a:p>
                  </a:txBody>
                  <a:tcPr>
                    <a:solidFill>
                      <a:srgbClr val="6B1A2E"/>
                    </a:solidFill>
                  </a:tcPr>
                </a:tc>
                <a:tc>
                  <a:txBody>
                    <a:bodyPr wrap="square"/>
                    <a:lstStyle/>
                    <a:p>
                      <a:r>
                        <a:rPr sz="1300" b="1">
                          <a:solidFill>
                            <a:srgbClr val="FFFFFF"/>
                          </a:solidFill>
                          <a:latin typeface="Calibri"/>
                        </a:rPr>
                        <a:t>Требование</a:t>
                      </a:r>
                    </a:p>
                  </a:txBody>
                  <a:tcPr>
                    <a:solidFill>
                      <a:srgbClr val="6B1A2E"/>
                    </a:solidFill>
                  </a:tcPr>
                </a:tc>
              </a:tr>
              <a:tr h="609600">
                <a:tc>
                  <a:txBody>
                    <a:bodyPr wrap="square"/>
                    <a:lstStyle/>
                    <a:p>
                      <a:r>
                        <a:rPr sz="1100">
                          <a:solidFill>
                            <a:srgbClr val="3A3A3A"/>
                          </a:solidFill>
                          <a:latin typeface="Calibri"/>
                        </a:rPr>
                        <a:t>Функциональное</a:t>
                      </a:r>
                    </a:p>
                  </a:txBody>
                  <a:tcPr>
                    <a:solidFill>
                      <a:srgbClr val="FFFFFF"/>
                    </a:solidFill>
                  </a:tcPr>
                </a:tc>
                <a:tc>
                  <a:txBody>
                    <a:bodyPr wrap="square"/>
                    <a:lstStyle/>
                    <a:p>
                      <a:r>
                        <a:rPr sz="1100">
                          <a:solidFill>
                            <a:srgbClr val="3A3A3A"/>
                          </a:solidFill>
                          <a:latin typeface="Calibri"/>
                        </a:rPr>
                        <a:t>Создание и согласование заявок подразделений</a:t>
                      </a:r>
                    </a:p>
                  </a:txBody>
                  <a:tcPr>
                    <a:solidFill>
                      <a:srgbClr val="FFFFFF"/>
                    </a:solidFill>
                  </a:tcPr>
                </a:tc>
              </a:tr>
              <a:tr h="609600">
                <a:tc>
                  <a:txBody>
                    <a:bodyPr wrap="square"/>
                    <a:lstStyle/>
                    <a:p>
                      <a:r>
                        <a:rPr sz="1100">
                          <a:solidFill>
                            <a:srgbClr val="3A3A3A"/>
                          </a:solidFill>
                          <a:latin typeface="Calibri"/>
                        </a:rPr>
                        <a:t>Функциональное</a:t>
                      </a:r>
                    </a:p>
                  </a:txBody>
                  <a:tcPr>
                    <a:solidFill>
                      <a:srgbClr val="F4EDE4"/>
                    </a:solidFill>
                  </a:tcPr>
                </a:tc>
                <a:tc>
                  <a:txBody>
                    <a:bodyPr wrap="square"/>
                    <a:lstStyle/>
                    <a:p>
                      <a:r>
                        <a:rPr sz="1100">
                          <a:solidFill>
                            <a:srgbClr val="3A3A3A"/>
                          </a:solidFill>
                          <a:latin typeface="Calibri"/>
                        </a:rPr>
                        <a:t>Отправка коммерческих запросов, регистрация предложений</a:t>
                      </a:r>
                    </a:p>
                  </a:txBody>
                  <a:tcPr>
                    <a:solidFill>
                      <a:srgbClr val="F4EDE4"/>
                    </a:solidFill>
                  </a:tcPr>
                </a:tc>
              </a:tr>
              <a:tr h="609600">
                <a:tc>
                  <a:txBody>
                    <a:bodyPr wrap="square"/>
                    <a:lstStyle/>
                    <a:p>
                      <a:r>
                        <a:rPr sz="1100">
                          <a:solidFill>
                            <a:srgbClr val="3A3A3A"/>
                          </a:solidFill>
                          <a:latin typeface="Calibri"/>
                        </a:rPr>
                        <a:t>Функциональное</a:t>
                      </a:r>
                    </a:p>
                  </a:txBody>
                  <a:tcPr>
                    <a:solidFill>
                      <a:srgbClr val="FFFFFF"/>
                    </a:solidFill>
                  </a:tcPr>
                </a:tc>
                <a:tc>
                  <a:txBody>
                    <a:bodyPr wrap="square"/>
                    <a:lstStyle/>
                    <a:p>
                      <a:r>
                        <a:rPr sz="1100">
                          <a:solidFill>
                            <a:srgbClr val="3A3A3A"/>
                          </a:solidFill>
                          <a:latin typeface="Calibri"/>
                        </a:rPr>
                        <a:t>Формирование заказа на основе выбранного предложения</a:t>
                      </a:r>
                    </a:p>
                  </a:txBody>
                  <a:tcPr>
                    <a:solidFill>
                      <a:srgbClr val="FFFFFF"/>
                    </a:solidFill>
                  </a:tcPr>
                </a:tc>
              </a:tr>
              <a:tr h="609600">
                <a:tc>
                  <a:txBody>
                    <a:bodyPr wrap="square"/>
                    <a:lstStyle/>
                    <a:p>
                      <a:r>
                        <a:rPr sz="1100">
                          <a:solidFill>
                            <a:srgbClr val="3A3A3A"/>
                          </a:solidFill>
                          <a:latin typeface="Calibri"/>
                        </a:rPr>
                        <a:t>Функциональное</a:t>
                      </a:r>
                    </a:p>
                  </a:txBody>
                  <a:tcPr>
                    <a:solidFill>
                      <a:srgbClr val="F4EDE4"/>
                    </a:solidFill>
                  </a:tcPr>
                </a:tc>
                <a:tc>
                  <a:txBody>
                    <a:bodyPr wrap="square"/>
                    <a:lstStyle/>
                    <a:p>
                      <a:r>
                        <a:rPr sz="1100">
                          <a:solidFill>
                            <a:srgbClr val="3A3A3A"/>
                          </a:solidFill>
                          <a:latin typeface="Calibri"/>
                        </a:rPr>
                        <a:t>Контроль фактической даты поставки и quality_score</a:t>
                      </a:r>
                    </a:p>
                  </a:txBody>
                  <a:tcPr>
                    <a:solidFill>
                      <a:srgbClr val="F4EDE4"/>
                    </a:solidFill>
                  </a:tcPr>
                </a:tc>
              </a:tr>
              <a:tr h="609600">
                <a:tc>
                  <a:txBody>
                    <a:bodyPr wrap="square"/>
                    <a:lstStyle/>
                    <a:p>
                      <a:r>
                        <a:rPr sz="1100">
                          <a:solidFill>
                            <a:srgbClr val="3A3A3A"/>
                          </a:solidFill>
                          <a:latin typeface="Calibri"/>
                        </a:rPr>
                        <a:t>Функциональное</a:t>
                      </a:r>
                    </a:p>
                  </a:txBody>
                  <a:tcPr>
                    <a:solidFill>
                      <a:srgbClr val="FFFFFF"/>
                    </a:solidFill>
                  </a:tcPr>
                </a:tc>
                <a:tc>
                  <a:txBody>
                    <a:bodyPr wrap="square"/>
                    <a:lstStyle/>
                    <a:p>
                      <a:r>
                        <a:rPr sz="1100">
                          <a:solidFill>
                            <a:srgbClr val="3A3A3A"/>
                          </a:solidFill>
                          <a:latin typeface="Calibri"/>
                        </a:rPr>
                        <a:t>Уведомления о просрочках, смена статуса delayed</a:t>
                      </a:r>
                    </a:p>
                  </a:txBody>
                  <a:tcPr>
                    <a:solidFill>
                      <a:srgbClr val="FFFFFF"/>
                    </a:solidFill>
                  </a:tcPr>
                </a:tc>
              </a:tr>
              <a:tr h="609600">
                <a:tc>
                  <a:txBody>
                    <a:bodyPr wrap="square"/>
                    <a:lstStyle/>
                    <a:p>
                      <a:r>
                        <a:rPr sz="1100">
                          <a:solidFill>
                            <a:srgbClr val="3A3A3A"/>
                          </a:solidFill>
                          <a:latin typeface="Calibri"/>
                        </a:rPr>
                        <a:t>Нефункциональное</a:t>
                      </a:r>
                    </a:p>
                  </a:txBody>
                  <a:tcPr>
                    <a:solidFill>
                      <a:srgbClr val="F4EDE4"/>
                    </a:solidFill>
                  </a:tcPr>
                </a:tc>
                <a:tc>
                  <a:txBody>
                    <a:bodyPr wrap="square"/>
                    <a:lstStyle/>
                    <a:p>
                      <a:r>
                        <a:rPr sz="1100">
                          <a:solidFill>
                            <a:srgbClr val="3A3A3A"/>
                          </a:solidFill>
                          <a:latin typeface="Calibri"/>
                        </a:rPr>
                        <a:t>Связность заявка — предложение — заказ</a:t>
                      </a:r>
                    </a:p>
                  </a:txBody>
                  <a:tcPr>
                    <a:solidFill>
                      <a:srgbClr val="F4EDE4"/>
                    </a:solidFill>
                  </a:tcPr>
                </a:tc>
              </a:tr>
              <a:tr h="609600">
                <a:tc>
                  <a:txBody>
                    <a:bodyPr wrap="square"/>
                    <a:lstStyle/>
                    <a:p>
                      <a:r>
                        <a:rPr sz="1100">
                          <a:solidFill>
                            <a:srgbClr val="3A3A3A"/>
                          </a:solidFill>
                          <a:latin typeface="Calibri"/>
                        </a:rPr>
                        <a:t>Нефункциональное</a:t>
                      </a:r>
                    </a:p>
                  </a:txBody>
                  <a:tcPr>
                    <a:solidFill>
                      <a:srgbClr val="FFFFFF"/>
                    </a:solidFill>
                  </a:tcPr>
                </a:tc>
                <a:tc>
                  <a:txBody>
                    <a:bodyPr wrap="square"/>
                    <a:lstStyle/>
                    <a:p>
                      <a:r>
                        <a:rPr sz="1100">
                          <a:solidFill>
                            <a:srgbClr val="3A3A3A"/>
                          </a:solidFill>
                          <a:latin typeface="Calibri"/>
                        </a:rPr>
                        <a:t>Прозрачность статусов, единое цифровое пространство</a:t>
                      </a:r>
                    </a:p>
                  </a:txBody>
                  <a:tcPr>
                    <a:solidFill>
                      <a:srgbClr val="FFFFFF"/>
                    </a:solidFill>
                  </a:tcPr>
                </a:tc>
              </a:tr>
              <a:tr h="609600">
                <a:tc>
                  <a:txBody>
                    <a:bodyPr wrap="square"/>
                    <a:lstStyle/>
                    <a:p>
                      <a:r>
                        <a:rPr sz="1100">
                          <a:solidFill>
                            <a:srgbClr val="3A3A3A"/>
                          </a:solidFill>
                          <a:latin typeface="Calibri"/>
                        </a:rPr>
                        <a:t>Инструменты</a:t>
                      </a:r>
                    </a:p>
                  </a:txBody>
                  <a:tcPr>
                    <a:solidFill>
                      <a:srgbClr val="F4EDE4"/>
                    </a:solidFill>
                  </a:tcPr>
                </a:tc>
                <a:tc>
                  <a:txBody>
                    <a:bodyPr wrap="square"/>
                    <a:lstStyle/>
                    <a:p>
                      <a:r>
                        <a:rPr sz="1100">
                          <a:solidFill>
                            <a:srgbClr val="3A3A3A"/>
                          </a:solidFill>
                          <a:latin typeface="Calibri"/>
                        </a:rPr>
                        <a:t>Flask + SQLAlchemy + SQLite + Jinja2 + Pytest</a:t>
                      </a:r>
                    </a:p>
                  </a:txBody>
                  <a:tcPr>
                    <a:solidFill>
                      <a:srgbClr val="F4EDE4"/>
                    </a:solidFill>
                  </a:tcPr>
                </a:tc>
              </a:tr>
            </a:tbl>
          </a:graphicData>
        </a:graphic>
      </p:graphicFrame>
      <p:sp>
        <p:nvSpPr>
          <p:cNvPr id="79" name="TextBox 78"/>
          <p:cNvSpPr txBox="1"/>
          <p:nvPr/>
        </p:nvSpPr>
        <p:spPr>
          <a:xfrm>
            <a:off x="12801600" y="9144000"/>
            <a:ext cx="10972800" cy="457200"/>
          </a:xfrm>
          <a:prstGeom prst="rect">
            <a:avLst/>
          </a:prstGeom>
          <a:noFill/>
        </p:spPr>
        <p:txBody>
          <a:bodyPr wrap="square">
            <a:spAutoFit/>
          </a:bodyPr>
          <a:lstStyle/>
          <a:p>
            <a:pPr algn="ctr"/>
            <a:r>
              <a:rPr sz="1200" b="1">
                <a:solidFill>
                  <a:srgbClr val="6B1A2E"/>
                </a:solidFill>
                <a:latin typeface="Calibri"/>
              </a:rPr>
              <a:t>Статусы заказа</a:t>
            </a:r>
          </a:p>
        </p:txBody>
      </p:sp>
      <p:graphicFrame>
        <p:nvGraphicFramePr>
          <p:cNvPr id="80" name="Table 79"/>
          <p:cNvGraphicFramePr>
            <a:graphicFrameLocks noGrp="1"/>
          </p:cNvGraphicFramePr>
          <p:nvPr/>
        </p:nvGraphicFramePr>
        <p:xfrm>
          <a:off x="12801600" y="9692640"/>
          <a:ext cx="10972800" cy="3200400"/>
        </p:xfrm>
        <a:graphic>
          <a:graphicData uri="http://schemas.openxmlformats.org/drawingml/2006/table">
            <a:tbl>
              <a:tblPr firstRow="1" bandRow="1">
                <a:tableStyleId>{5C22544A-7EE6-4342-B048-85BDC9FD1C3A}</a:tableStyleId>
              </a:tblPr>
              <a:tblGrid>
                <a:gridCol w="5486400"/>
                <a:gridCol w="5486400"/>
              </a:tblGrid>
              <a:tr h="457200">
                <a:tc>
                  <a:txBody>
                    <a:bodyPr wrap="square"/>
                    <a:lstStyle/>
                    <a:p>
                      <a:r>
                        <a:rPr sz="1200" b="1">
                          <a:solidFill>
                            <a:srgbClr val="FFFFFF"/>
                          </a:solidFill>
                          <a:latin typeface="Calibri"/>
                        </a:rPr>
                        <a:t>Статус</a:t>
                      </a:r>
                    </a:p>
                  </a:txBody>
                  <a:tcPr>
                    <a:solidFill>
                      <a:srgbClr val="6B1A2E"/>
                    </a:solidFill>
                  </a:tcPr>
                </a:tc>
                <a:tc>
                  <a:txBody>
                    <a:bodyPr wrap="square"/>
                    <a:lstStyle/>
                    <a:p>
                      <a:r>
                        <a:rPr sz="1200" b="1">
                          <a:solidFill>
                            <a:srgbClr val="FFFFFF"/>
                          </a:solidFill>
                          <a:latin typeface="Calibri"/>
                        </a:rPr>
                        <a:t>Описание</a:t>
                      </a:r>
                    </a:p>
                  </a:txBody>
                  <a:tcPr>
                    <a:solidFill>
                      <a:srgbClr val="6B1A2E"/>
                    </a:solidFill>
                  </a:tcPr>
                </a:tc>
              </a:tr>
              <a:tr h="457200">
                <a:tc>
                  <a:txBody>
                    <a:bodyPr wrap="square"/>
                    <a:lstStyle/>
                    <a:p>
                      <a:r>
                        <a:rPr sz="1000">
                          <a:solidFill>
                            <a:srgbClr val="3A3A3A"/>
                          </a:solidFill>
                          <a:latin typeface="Calibri"/>
                        </a:rPr>
                        <a:t>created</a:t>
                      </a:r>
                    </a:p>
                  </a:txBody>
                  <a:tcPr>
                    <a:solidFill>
                      <a:srgbClr val="FFFFFF"/>
                    </a:solidFill>
                  </a:tcPr>
                </a:tc>
                <a:tc>
                  <a:txBody>
                    <a:bodyPr wrap="square"/>
                    <a:lstStyle/>
                    <a:p>
                      <a:r>
                        <a:rPr sz="1000">
                          <a:solidFill>
                            <a:srgbClr val="3A3A3A"/>
                          </a:solidFill>
                          <a:latin typeface="Calibri"/>
                        </a:rPr>
                        <a:t>Заявка создана подразделением</a:t>
                      </a:r>
                    </a:p>
                  </a:txBody>
                  <a:tcPr>
                    <a:solidFill>
                      <a:srgbClr val="FFFFFF"/>
                    </a:solidFill>
                  </a:tcPr>
                </a:tc>
              </a:tr>
              <a:tr h="457200">
                <a:tc>
                  <a:txBody>
                    <a:bodyPr wrap="square"/>
                    <a:lstStyle/>
                    <a:p>
                      <a:r>
                        <a:rPr sz="1000">
                          <a:solidFill>
                            <a:srgbClr val="3A3A3A"/>
                          </a:solidFill>
                          <a:latin typeface="Calibri"/>
                        </a:rPr>
                        <a:t>approved</a:t>
                      </a:r>
                    </a:p>
                  </a:txBody>
                  <a:tcPr>
                    <a:solidFill>
                      <a:srgbClr val="F4EDE4"/>
                    </a:solidFill>
                  </a:tcPr>
                </a:tc>
                <a:tc>
                  <a:txBody>
                    <a:bodyPr wrap="square"/>
                    <a:lstStyle/>
                    <a:p>
                      <a:r>
                        <a:rPr sz="1000">
                          <a:solidFill>
                            <a:srgbClr val="3A3A3A"/>
                          </a:solidFill>
                          <a:latin typeface="Calibri"/>
                        </a:rPr>
                        <a:t>Заявка согласована, RFQ возможен</a:t>
                      </a:r>
                    </a:p>
                  </a:txBody>
                  <a:tcPr>
                    <a:solidFill>
                      <a:srgbClr val="F4EDE4"/>
                    </a:solidFill>
                  </a:tcPr>
                </a:tc>
              </a:tr>
              <a:tr h="457200">
                <a:tc>
                  <a:txBody>
                    <a:bodyPr wrap="square"/>
                    <a:lstStyle/>
                    <a:p>
                      <a:r>
                        <a:rPr sz="1000">
                          <a:solidFill>
                            <a:srgbClr val="3A3A3A"/>
                          </a:solidFill>
                          <a:latin typeface="Calibri"/>
                        </a:rPr>
                        <a:t>rejected</a:t>
                      </a:r>
                    </a:p>
                  </a:txBody>
                  <a:tcPr>
                    <a:solidFill>
                      <a:srgbClr val="FFFFFF"/>
                    </a:solidFill>
                  </a:tcPr>
                </a:tc>
                <a:tc>
                  <a:txBody>
                    <a:bodyPr wrap="square"/>
                    <a:lstStyle/>
                    <a:p>
                      <a:r>
                        <a:rPr sz="1000">
                          <a:solidFill>
                            <a:srgbClr val="3A3A3A"/>
                          </a:solidFill>
                          <a:latin typeface="Calibri"/>
                        </a:rPr>
                        <a:t>Отказ согласующего</a:t>
                      </a:r>
                    </a:p>
                  </a:txBody>
                  <a:tcPr>
                    <a:solidFill>
                      <a:srgbClr val="FFFFFF"/>
                    </a:solidFill>
                  </a:tcPr>
                </a:tc>
              </a:tr>
              <a:tr h="457200">
                <a:tc>
                  <a:txBody>
                    <a:bodyPr wrap="square"/>
                    <a:lstStyle/>
                    <a:p>
                      <a:r>
                        <a:rPr sz="1000">
                          <a:solidFill>
                            <a:srgbClr val="3A3A3A"/>
                          </a:solidFill>
                          <a:latin typeface="Calibri"/>
                        </a:rPr>
                        <a:t>ordered</a:t>
                      </a:r>
                    </a:p>
                  </a:txBody>
                  <a:tcPr>
                    <a:solidFill>
                      <a:srgbClr val="F4EDE4"/>
                    </a:solidFill>
                  </a:tcPr>
                </a:tc>
                <a:tc>
                  <a:txBody>
                    <a:bodyPr wrap="square"/>
                    <a:lstStyle/>
                    <a:p>
                      <a:r>
                        <a:rPr sz="1000">
                          <a:solidFill>
                            <a:srgbClr val="3A3A3A"/>
                          </a:solidFill>
                          <a:latin typeface="Calibri"/>
                        </a:rPr>
                        <a:t>Заказ сформирован у поставщика</a:t>
                      </a:r>
                    </a:p>
                  </a:txBody>
                  <a:tcPr>
                    <a:solidFill>
                      <a:srgbClr val="F4EDE4"/>
                    </a:solidFill>
                  </a:tcPr>
                </a:tc>
              </a:tr>
              <a:tr h="457200">
                <a:tc>
                  <a:txBody>
                    <a:bodyPr wrap="square"/>
                    <a:lstStyle/>
                    <a:p>
                      <a:r>
                        <a:rPr sz="1000">
                          <a:solidFill>
                            <a:srgbClr val="3A3A3A"/>
                          </a:solidFill>
                          <a:latin typeface="Calibri"/>
                        </a:rPr>
                        <a:t>delivered</a:t>
                      </a:r>
                    </a:p>
                  </a:txBody>
                  <a:tcPr>
                    <a:solidFill>
                      <a:srgbClr val="FFFFFF"/>
                    </a:solidFill>
                  </a:tcPr>
                </a:tc>
                <a:tc>
                  <a:txBody>
                    <a:bodyPr wrap="square"/>
                    <a:lstStyle/>
                    <a:p>
                      <a:r>
                        <a:rPr sz="1000">
                          <a:solidFill>
                            <a:srgbClr val="3A3A3A"/>
                          </a:solidFill>
                          <a:latin typeface="Calibri"/>
                        </a:rPr>
                        <a:t>Фактическая поставка зафиксирована</a:t>
                      </a:r>
                    </a:p>
                  </a:txBody>
                  <a:tcPr>
                    <a:solidFill>
                      <a:srgbClr val="FFFFFF"/>
                    </a:solidFill>
                  </a:tcPr>
                </a:tc>
              </a:tr>
              <a:tr h="457200">
                <a:tc>
                  <a:txBody>
                    <a:bodyPr wrap="square"/>
                    <a:lstStyle/>
                    <a:p>
                      <a:r>
                        <a:rPr sz="1000">
                          <a:solidFill>
                            <a:srgbClr val="3A3A3A"/>
                          </a:solidFill>
                          <a:latin typeface="Calibri"/>
                        </a:rPr>
                        <a:t>delayed</a:t>
                      </a:r>
                    </a:p>
                  </a:txBody>
                  <a:tcPr>
                    <a:solidFill>
                      <a:srgbClr val="F4EDE4"/>
                    </a:solidFill>
                  </a:tcPr>
                </a:tc>
                <a:tc>
                  <a:txBody>
                    <a:bodyPr wrap="square"/>
                    <a:lstStyle/>
                    <a:p>
                      <a:r>
                        <a:rPr sz="1000">
                          <a:solidFill>
                            <a:srgbClr val="3A3A3A"/>
                          </a:solidFill>
                          <a:latin typeface="Calibri"/>
                        </a:rPr>
                        <a:t>delivered_date &gt; expected_date</a:t>
                      </a:r>
                    </a:p>
                  </a:txBody>
                  <a:tcPr>
                    <a:solidFill>
                      <a:srgbClr val="F4EDE4"/>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All the world is made of faith, and trust, and pixie dust."/>
          <p:cNvSpPr txBox="1"/>
          <p:nvPr/>
        </p:nvSpPr>
        <p:spPr>
          <a:xfrm>
            <a:off x="914400" y="457200"/>
            <a:ext cx="22402800" cy="1463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nchor="t">
            <a:normAutofit/>
          </a:bodyPr>
          <a:lstStyle>
            <a:lvl1pPr algn="l">
              <a:defRPr sz="5000" b="0">
                <a:solidFill>
                  <a:srgbClr val="242423"/>
                </a:solidFill>
                <a:latin typeface="Montserrat Bold"/>
                <a:ea typeface="Montserrat Bold"/>
                <a:cs typeface="Montserrat Bold"/>
                <a:sym typeface="Montserrat Bold"/>
              </a:defRPr>
            </a:lvl1pPr>
          </a:lstStyle>
          <a:p>
            <a:pPr algn="ctr">
              <a:lnSpc>
                <a:spcPct val="110000"/>
              </a:lnSpc>
              <a:defRPr sz="3200" b="1">
                <a:solidFill>
                  <a:srgbClr val="FFFFFF"/>
                </a:solidFill>
                <a:latin typeface="Arial"/>
              </a:defRPr>
            </a:pPr>
            <a:r>
              <a:rPr lang="ru-RU" sz="3200" b="1" dirty="0">
                <a:solidFill>
                  <a:srgbClr val="FFFFFF"/>
                </a:solidFill>
                <a:latin typeface="Arial"/>
                <a:cs typeface="Arial"/>
              </a:rPr>
              <a:t>Н.А. Мушегян — информационное и программное обеспечение</a:t>
            </a:r>
          </a:p>
        </p:txBody>
      </p:sp>
      <p:sp>
        <p:nvSpPr>
          <p:cNvPr id="7" name="Rectangle">
            <a:extLst>
              <a:ext uri="{FF2B5EF4-FFF2-40B4-BE49-F238E27FC236}">
                <a16:creationId xmlns:a16="http://schemas.microsoft.com/office/drawing/2014/main" id="{955C94AE-B80E-4918-B201-60D7FF67FDAB}"/>
              </a:ext>
            </a:extLst>
          </p:cNvPr>
          <p:cNvSpPr/>
          <p:nvPr/>
        </p:nvSpPr>
        <p:spPr>
          <a:xfrm>
            <a:off x="349" y="2139697"/>
            <a:ext cx="24383652" cy="4718304"/>
          </a:xfrm>
          <a:prstGeom prst="rect">
            <a:avLst/>
          </a:prstGeom>
          <a:solidFill>
            <a:srgbClr val="EFF0EF"/>
          </a:solidFill>
          <a:ln w="12700">
            <a:solidFill>
              <a:srgbClr val="EFF0EF"/>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4" name="Lorem ipsum dolor sit amet, consectetur adipiscing elit, sed do eiusmod tempor incididunt ut labore et dolore magna aliqua. Arcu dictum varius duis at consectetur lorem donec. Volutpat maecenas volutpat blandit aliquam. Egestas quis ipsum suspendisse ult">
            <a:extLst>
              <a:ext uri="{FF2B5EF4-FFF2-40B4-BE49-F238E27FC236}">
                <a16:creationId xmlns:a16="http://schemas.microsoft.com/office/drawing/2014/main" id="{CD0C1FE3-0CF6-4BA9-9372-AAF16C7A55B3}"/>
              </a:ext>
            </a:extLst>
          </p:cNvPr>
          <p:cNvSpPr txBox="1"/>
          <p:nvPr/>
        </p:nvSpPr>
        <p:spPr>
          <a:xfrm>
            <a:off x="1371600" y="3200400"/>
            <a:ext cx="10972800" cy="100584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normAutofit/>
          </a:bodyPr>
          <a:lstStyle/>
          <a:p>
            <a:pPr>
              <a:lnSpc>
                <a:spcPct val="125000"/>
              </a:lnSpc>
              <a:defRPr sz="2000">
                <a:solidFill>
                  <a:srgbClr val="000000"/>
                </a:solidFill>
                <a:latin typeface="Arial"/>
              </a:defRPr>
            </a:pPr>
            <a:r>
              <a:rPr lang="ru-RU" sz="3200" dirty="0">
                <a:solidFill>
                  <a:srgbClr val="000000"/>
                </a:solidFill>
                <a:latin typeface="Arial"/>
                <a:cs typeface="Arial"/>
              </a:rPr>
              <a:t>БД содержит три ключевые сущности:</a:t>
            </a:r>
          </a:p>
          <a:p>
            <a:pPr>
              <a:lnSpc>
                <a:spcPct val="125000"/>
              </a:lnSpc>
              <a:defRPr sz="2000">
                <a:solidFill>
                  <a:srgbClr val="000000"/>
                </a:solidFill>
                <a:latin typeface="Arial"/>
              </a:defRPr>
            </a:pPr>
            <a:r>
              <a:rPr lang="ru-RU" sz="3200" b="0" dirty="0">
                <a:solidFill>
                  <a:srgbClr val="000000"/>
                </a:solidFill>
                <a:latin typeface="Arial"/>
                <a:cs typeface="Arial"/>
              </a:rPr>
              <a:t>— PurchaseRequest (id, item_name, quantity, comment, required_date, status);</a:t>
            </a:r>
          </a:p>
          <a:p>
            <a:pPr>
              <a:lnSpc>
                <a:spcPct val="125000"/>
              </a:lnSpc>
              <a:defRPr sz="2000">
                <a:solidFill>
                  <a:srgbClr val="000000"/>
                </a:solidFill>
                <a:latin typeface="Arial"/>
              </a:defRPr>
            </a:pPr>
            <a:r>
              <a:rPr lang="ru-RU" sz="3200" b="0" dirty="0">
                <a:solidFill>
                  <a:srgbClr val="000000"/>
                </a:solidFill>
                <a:latin typeface="Arial"/>
                <a:cs typeface="Arial"/>
              </a:rPr>
              <a:t>— SupplierQuote (id, request_id, supplier_name, price, delivery_time, comment);</a:t>
            </a:r>
          </a:p>
          <a:p>
            <a:pPr>
              <a:lnSpc>
                <a:spcPct val="125000"/>
              </a:lnSpc>
              <a:defRPr sz="2000">
                <a:solidFill>
                  <a:srgbClr val="000000"/>
                </a:solidFill>
                <a:latin typeface="Arial"/>
              </a:defRPr>
            </a:pPr>
            <a:r>
              <a:rPr lang="ru-RU" sz="3200" b="0" dirty="0">
                <a:solidFill>
                  <a:srgbClr val="000000"/>
                </a:solidFill>
                <a:latin typeface="Arial"/>
                <a:cs typeface="Arial"/>
              </a:rPr>
              <a:t>— PurchaseOrder (id, quote_id, expected_date, delivered_date, quality_score, status).</a:t>
            </a:r>
          </a:p>
          <a:p>
            <a:pPr>
              <a:lnSpc>
                <a:spcPct val="125000"/>
              </a:lnSpc>
              <a:defRPr sz="2000">
                <a:solidFill>
                  <a:srgbClr val="000000"/>
                </a:solidFill>
                <a:latin typeface="Arial"/>
              </a:defRPr>
            </a:pPr>
            <a:r>
              <a:rPr lang="ru-RU" sz="3200" b="0" dirty="0">
                <a:solidFill>
                  <a:srgbClr val="000000"/>
                </a:solidFill>
                <a:latin typeface="Arial"/>
                <a:cs typeface="Arial"/>
              </a:rPr>
              <a:t>Связи 1—N через request_id и quote_id отражают сквозной закупочный сценарий. Статусы: created, approved, rejected, ordered, delivered, </a:t>
            </a:r>
            <a:r>
              <a:rPr lang="ru-RU" sz="3200" b="0" dirty="0" err="1">
                <a:solidFill>
                  <a:srgbClr val="000000"/>
                </a:solidFill>
                <a:latin typeface="Arial"/>
                <a:cs typeface="Arial"/>
              </a:rPr>
              <a:t>delayed</a:t>
            </a:r>
            <a:r>
              <a:rPr lang="ru-RU" sz="3200" b="0" dirty="0">
                <a:solidFill>
                  <a:srgbClr val="000000"/>
                </a:solidFill>
                <a:latin typeface="Arial"/>
                <a:cs typeface="Arial"/>
              </a:rPr>
              <a:t>.</a:t>
            </a:r>
            <a:endParaRPr lang="en-US" sz="3200" b="0" dirty="0">
              <a:solidFill>
                <a:srgbClr val="000000"/>
              </a:solidFill>
              <a:latin typeface="Arial"/>
              <a:cs typeface="Arial"/>
            </a:endParaRPr>
          </a:p>
          <a:p>
            <a:pPr>
              <a:lnSpc>
                <a:spcPct val="125000"/>
              </a:lnSpc>
              <a:defRPr sz="2000">
                <a:solidFill>
                  <a:srgbClr val="000000"/>
                </a:solidFill>
                <a:latin typeface="Arial"/>
              </a:defRPr>
            </a:pPr>
            <a:endParaRPr lang="ru-RU" sz="3200" b="0" dirty="0">
              <a:solidFill>
                <a:srgbClr val="000000"/>
              </a:solidFill>
              <a:latin typeface="Arial"/>
              <a:cs typeface="Arial"/>
            </a:endParaRPr>
          </a:p>
          <a:p>
            <a:pPr>
              <a:lnSpc>
                <a:spcPct val="125000"/>
              </a:lnSpc>
              <a:defRPr sz="2000">
                <a:solidFill>
                  <a:srgbClr val="000000"/>
                </a:solidFill>
                <a:latin typeface="Arial"/>
              </a:defRPr>
            </a:pPr>
            <a:r>
              <a:rPr lang="ru-RU" sz="3200" dirty="0">
                <a:solidFill>
                  <a:srgbClr val="000000"/>
                </a:solidFill>
                <a:latin typeface="Arial"/>
                <a:cs typeface="Arial"/>
              </a:rPr>
              <a:t>ПО: </a:t>
            </a:r>
            <a:r>
              <a:rPr lang="ru-RU" sz="3200" b="0" dirty="0">
                <a:solidFill>
                  <a:srgbClr val="000000"/>
                </a:solidFill>
                <a:latin typeface="Arial"/>
                <a:cs typeface="Arial"/>
              </a:rPr>
              <a:t>Flask Blueprint объединяет обработчики, шаблоны Jinja, модель MVC; поля input type="date"/"number" для дат поставки и оценки качества.</a:t>
            </a:r>
          </a:p>
        </p:txBody>
      </p:sp>
      <p:pic>
        <p:nvPicPr>
          <p:cNvPr id="77" name="Picture 76" descr="erd_requests.png"/>
          <p:cNvPicPr>
            <a:picLocks noChangeAspect="1"/>
          </p:cNvPicPr>
          <p:nvPr/>
        </p:nvPicPr>
        <p:blipFill>
          <a:blip r:embed="rId2"/>
          <a:stretch>
            <a:fillRect/>
          </a:stretch>
        </p:blipFill>
        <p:spPr>
          <a:xfrm>
            <a:off x="12801600" y="3108960"/>
            <a:ext cx="10972800" cy="8961120"/>
          </a:xfrm>
          <a:prstGeom prst="rect">
            <a:avLst/>
          </a:prstGeom>
        </p:spPr>
      </p:pic>
      <p:sp>
        <p:nvSpPr>
          <p:cNvPr id="78" name="TextBox 77"/>
          <p:cNvSpPr txBox="1"/>
          <p:nvPr/>
        </p:nvSpPr>
        <p:spPr>
          <a:xfrm>
            <a:off x="12801600" y="12070080"/>
            <a:ext cx="10972800" cy="457200"/>
          </a:xfrm>
          <a:prstGeom prst="rect">
            <a:avLst/>
          </a:prstGeom>
          <a:noFill/>
        </p:spPr>
        <p:txBody>
          <a:bodyPr wrap="square">
            <a:spAutoFit/>
          </a:bodyPr>
          <a:lstStyle/>
          <a:p>
            <a:pPr algn="ctr"/>
            <a:r>
              <a:rPr sz="1400" b="1">
                <a:solidFill>
                  <a:srgbClr val="6B1A2E"/>
                </a:solidFill>
                <a:latin typeface="Calibri"/>
              </a:rPr>
              <a:t>ER-модель и статусы PurchaseOrder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All the world is made of faith, and trust, and pixie dust."/>
          <p:cNvSpPr txBox="1"/>
          <p:nvPr/>
        </p:nvSpPr>
        <p:spPr>
          <a:xfrm>
            <a:off x="914400" y="457200"/>
            <a:ext cx="22402800" cy="1463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nchor="t">
            <a:normAutofit/>
          </a:bodyPr>
          <a:lstStyle>
            <a:lvl1pPr algn="l">
              <a:defRPr sz="5000" b="0">
                <a:solidFill>
                  <a:srgbClr val="242423"/>
                </a:solidFill>
                <a:latin typeface="Montserrat Bold"/>
                <a:ea typeface="Montserrat Bold"/>
                <a:cs typeface="Montserrat Bold"/>
                <a:sym typeface="Montserrat Bold"/>
              </a:defRPr>
            </a:lvl1pPr>
          </a:lstStyle>
          <a:p>
            <a:pPr algn="ctr">
              <a:lnSpc>
                <a:spcPct val="110000"/>
              </a:lnSpc>
              <a:defRPr sz="3600" b="1">
                <a:solidFill>
                  <a:srgbClr val="FFFFFF"/>
                </a:solidFill>
                <a:latin typeface="Arial"/>
              </a:defRPr>
            </a:pPr>
            <a:r>
              <a:rPr lang="ru-RU" sz="3600" b="1" dirty="0">
                <a:solidFill>
                  <a:srgbClr val="FFFFFF"/>
                </a:solidFill>
                <a:latin typeface="Arial"/>
                <a:cs typeface="Arial"/>
              </a:rPr>
              <a:t>Н.А. Мушегян — выводы по модулю</a:t>
            </a:r>
          </a:p>
        </p:txBody>
      </p:sp>
      <p:sp>
        <p:nvSpPr>
          <p:cNvPr id="7" name="Rectangle">
            <a:extLst>
              <a:ext uri="{FF2B5EF4-FFF2-40B4-BE49-F238E27FC236}">
                <a16:creationId xmlns:a16="http://schemas.microsoft.com/office/drawing/2014/main" id="{955C94AE-B80E-4918-B201-60D7FF67FDAB}"/>
              </a:ext>
            </a:extLst>
          </p:cNvPr>
          <p:cNvSpPr/>
          <p:nvPr/>
        </p:nvSpPr>
        <p:spPr>
          <a:xfrm>
            <a:off x="349" y="2139697"/>
            <a:ext cx="24383652" cy="4718304"/>
          </a:xfrm>
          <a:prstGeom prst="rect">
            <a:avLst/>
          </a:prstGeom>
          <a:solidFill>
            <a:srgbClr val="EFF0EF"/>
          </a:solidFill>
          <a:ln w="12700">
            <a:solidFill>
              <a:srgbClr val="EFF0EF"/>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2" name="Управляющая кнопка: документ 1">
            <a:hlinkClick r:id="" action="ppaction://hlinksldjump" highlightClick="1"/>
            <a:extLst>
              <a:ext uri="{FF2B5EF4-FFF2-40B4-BE49-F238E27FC236}">
                <a16:creationId xmlns:a16="http://schemas.microsoft.com/office/drawing/2014/main" id="{DA318A56-F2AF-46A7-9F6C-7C2EFC01BFE8}"/>
              </a:ext>
            </a:extLst>
          </p:cNvPr>
          <p:cNvSpPr/>
          <p:nvPr/>
        </p:nvSpPr>
        <p:spPr>
          <a:xfrm>
            <a:off x="23134320" y="12435838"/>
            <a:ext cx="1115568" cy="1170433"/>
          </a:xfrm>
          <a:prstGeom prst="actionButtonDocumen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ru-RU"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6" name="Lorem ipsum dolor sit amet, consectetur adipiscing elit, sed do eiusmod tempor incididunt ut labore et dolore magna aliqua. Arcu dictum varius duis at consectetur lorem donec. Volutpat maecenas volutpat blandit aliquam. Egestas quis ipsum suspendisse ult">
            <a:extLst>
              <a:ext uri="{FF2B5EF4-FFF2-40B4-BE49-F238E27FC236}">
                <a16:creationId xmlns:a16="http://schemas.microsoft.com/office/drawing/2014/main" id="{B9083FB9-A161-4706-A8CC-09006749EF22}"/>
              </a:ext>
            </a:extLst>
          </p:cNvPr>
          <p:cNvSpPr txBox="1"/>
          <p:nvPr/>
        </p:nvSpPr>
        <p:spPr>
          <a:xfrm>
            <a:off x="1371600" y="3200400"/>
            <a:ext cx="10972800" cy="9144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normAutofit/>
          </a:bodyPr>
          <a:lstStyle/>
          <a:p>
            <a:pPr>
              <a:lnSpc>
                <a:spcPct val="135000"/>
              </a:lnSpc>
              <a:defRPr sz="2600">
                <a:solidFill>
                  <a:srgbClr val="000000"/>
                </a:solidFill>
                <a:latin typeface="Arial"/>
              </a:defRPr>
            </a:pPr>
            <a:r>
              <a:rPr lang="ru-RU" sz="3200" b="0" dirty="0">
                <a:solidFill>
                  <a:srgbClr val="000000"/>
                </a:solidFill>
                <a:latin typeface="Arial"/>
                <a:cs typeface="Arial"/>
              </a:rPr>
              <a:t>Реализован модуль сквозного закупочного цикла малого предприятия: заявка → коммерческое предложение → заказ → контроль исполнения. Введены поля плановой и фактической даты поставки, оценка качества (quality_score), система просрочек. Достигнута прозрачность статусов внутри единого веб-приложения.</a:t>
            </a:r>
          </a:p>
        </p:txBody>
      </p:sp>
      <p:pic>
        <p:nvPicPr>
          <p:cNvPr id="77" name="Picture 76" descr="lifecycle_request.png"/>
          <p:cNvPicPr>
            <a:picLocks noChangeAspect="1"/>
          </p:cNvPicPr>
          <p:nvPr/>
        </p:nvPicPr>
        <p:blipFill>
          <a:blip r:embed="rId2"/>
          <a:stretch>
            <a:fillRect/>
          </a:stretch>
        </p:blipFill>
        <p:spPr>
          <a:xfrm>
            <a:off x="12801600" y="4114800"/>
            <a:ext cx="10972800" cy="5943600"/>
          </a:xfrm>
          <a:prstGeom prst="rect">
            <a:avLst/>
          </a:prstGeom>
        </p:spPr>
      </p:pic>
      <p:sp>
        <p:nvSpPr>
          <p:cNvPr id="78" name="TextBox 77"/>
          <p:cNvSpPr txBox="1"/>
          <p:nvPr/>
        </p:nvSpPr>
        <p:spPr>
          <a:xfrm>
            <a:off x="12801600" y="10149840"/>
            <a:ext cx="10972800" cy="457200"/>
          </a:xfrm>
          <a:prstGeom prst="rect">
            <a:avLst/>
          </a:prstGeom>
          <a:noFill/>
        </p:spPr>
        <p:txBody>
          <a:bodyPr wrap="square">
            <a:spAutoFit/>
          </a:bodyPr>
          <a:lstStyle/>
          <a:p>
            <a:pPr algn="ctr"/>
            <a:r>
              <a:rPr sz="1400" b="1">
                <a:solidFill>
                  <a:srgbClr val="6B1A2E"/>
                </a:solidFill>
                <a:latin typeface="Calibri"/>
              </a:rPr>
              <a:t>Жизненный цикл заявки в модуле</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All the world is made of faith, and trust, and pixie dust."/>
          <p:cNvSpPr txBox="1"/>
          <p:nvPr/>
        </p:nvSpPr>
        <p:spPr>
          <a:xfrm>
            <a:off x="914400" y="457200"/>
            <a:ext cx="22402800" cy="1463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nchor="t">
            <a:normAutofit/>
          </a:bodyPr>
          <a:lstStyle>
            <a:lvl1pPr algn="l">
              <a:defRPr sz="5000" b="0">
                <a:solidFill>
                  <a:srgbClr val="242423"/>
                </a:solidFill>
                <a:latin typeface="Montserrat Bold"/>
                <a:ea typeface="Montserrat Bold"/>
                <a:cs typeface="Montserrat Bold"/>
                <a:sym typeface="Montserrat Bold"/>
              </a:defRPr>
            </a:lvl1pPr>
          </a:lstStyle>
          <a:p>
            <a:pPr algn="ctr">
              <a:lnSpc>
                <a:spcPct val="110000"/>
              </a:lnSpc>
              <a:defRPr sz="3600" b="1">
                <a:solidFill>
                  <a:srgbClr val="FFFFFF"/>
                </a:solidFill>
                <a:latin typeface="Arial"/>
              </a:defRPr>
            </a:pPr>
            <a:r>
              <a:rPr lang="ru-RU" sz="3600" b="1" dirty="0">
                <a:solidFill>
                  <a:srgbClr val="FFFFFF"/>
                </a:solidFill>
                <a:latin typeface="Arial"/>
                <a:cs typeface="Arial"/>
              </a:rPr>
              <a:t>С.Э. Маммедов — модель бизнес-процессов</a:t>
            </a:r>
          </a:p>
        </p:txBody>
      </p:sp>
      <p:sp>
        <p:nvSpPr>
          <p:cNvPr id="7" name="Rectangle">
            <a:extLst>
              <a:ext uri="{FF2B5EF4-FFF2-40B4-BE49-F238E27FC236}">
                <a16:creationId xmlns:a16="http://schemas.microsoft.com/office/drawing/2014/main" id="{955C94AE-B80E-4918-B201-60D7FF67FDAB}"/>
              </a:ext>
            </a:extLst>
          </p:cNvPr>
          <p:cNvSpPr/>
          <p:nvPr/>
        </p:nvSpPr>
        <p:spPr>
          <a:xfrm>
            <a:off x="349" y="2139697"/>
            <a:ext cx="24383652" cy="4718304"/>
          </a:xfrm>
          <a:prstGeom prst="rect">
            <a:avLst/>
          </a:prstGeom>
          <a:solidFill>
            <a:srgbClr val="EFF0EF"/>
          </a:solidFill>
          <a:ln w="12700">
            <a:solidFill>
              <a:srgbClr val="EFF0EF"/>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5" name="Lorem ipsum dolor sit amet, consectetur adipiscing elit, sed do eiusmod tempor incididunt ut labore et dolore magna aliqua. Arcu dictum varius duis at consectetur lorem donec. Volutpat maecenas volutpat blandit aliquam. Egestas quis ipsum suspendisse ult">
            <a:extLst>
              <a:ext uri="{FF2B5EF4-FFF2-40B4-BE49-F238E27FC236}">
                <a16:creationId xmlns:a16="http://schemas.microsoft.com/office/drawing/2014/main" id="{E6279DB2-1E4D-40C3-9C0D-E60BDFD49116}"/>
              </a:ext>
            </a:extLst>
          </p:cNvPr>
          <p:cNvSpPr txBox="1"/>
          <p:nvPr/>
        </p:nvSpPr>
        <p:spPr>
          <a:xfrm>
            <a:off x="1371600" y="3200400"/>
            <a:ext cx="10972800" cy="9144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normAutofit/>
          </a:bodyPr>
          <a:lstStyle/>
          <a:p>
            <a:pPr>
              <a:lnSpc>
                <a:spcPct val="130000"/>
              </a:lnSpc>
              <a:defRPr sz="2200">
                <a:solidFill>
                  <a:srgbClr val="000000"/>
                </a:solidFill>
                <a:latin typeface="Arial"/>
              </a:defRPr>
            </a:pPr>
            <a:r>
              <a:rPr lang="ru-RU" sz="3200" dirty="0">
                <a:solidFill>
                  <a:srgbClr val="000000"/>
                </a:solidFill>
                <a:latin typeface="Arial"/>
                <a:cs typeface="Arial"/>
              </a:rPr>
              <a:t>Автоматизируемые процессы: </a:t>
            </a:r>
            <a:r>
              <a:rPr lang="ru-RU" sz="3200" b="0" dirty="0">
                <a:solidFill>
                  <a:srgbClr val="000000"/>
                </a:solidFill>
                <a:latin typeface="Arial"/>
                <a:cs typeface="Arial"/>
              </a:rPr>
              <a:t>сбор и агрегация операционных данных о заказах, поставщиках и ценах; расчёт KPI закупочной деятельности; визуализация показателей; оценка надёжности поставщиков; экспорт отчётов.</a:t>
            </a:r>
          </a:p>
          <a:p>
            <a:pPr>
              <a:lnSpc>
                <a:spcPct val="130000"/>
              </a:lnSpc>
              <a:defRPr sz="2200">
                <a:solidFill>
                  <a:srgbClr val="000000"/>
                </a:solidFill>
                <a:latin typeface="Arial"/>
              </a:defRPr>
            </a:pPr>
            <a:r>
              <a:rPr lang="ru-RU" sz="3200" dirty="0">
                <a:solidFill>
                  <a:srgbClr val="000000"/>
                </a:solidFill>
                <a:latin typeface="Arial"/>
                <a:cs typeface="Arial"/>
              </a:rPr>
              <a:t>Контекстная модель IDEF0: </a:t>
            </a:r>
            <a:r>
              <a:rPr lang="ru-RU" sz="3200" b="0" dirty="0">
                <a:solidFill>
                  <a:srgbClr val="000000"/>
                </a:solidFill>
                <a:latin typeface="Arial"/>
                <a:cs typeface="Arial"/>
              </a:rPr>
              <a:t>вход — заказы, поставщики, цены, сроки, качество исполнения; управление — требования к KPI и правила расчёта reliability score; выход — KPI, графики, рейтинг, Excel-отчёт.</a:t>
            </a:r>
          </a:p>
        </p:txBody>
      </p:sp>
      <p:pic>
        <p:nvPicPr>
          <p:cNvPr id="77" name="Picture 76" descr="idef0_analytics.png"/>
          <p:cNvPicPr>
            <a:picLocks noChangeAspect="1"/>
          </p:cNvPicPr>
          <p:nvPr/>
        </p:nvPicPr>
        <p:blipFill>
          <a:blip r:embed="rId2"/>
          <a:stretch>
            <a:fillRect/>
          </a:stretch>
        </p:blipFill>
        <p:spPr>
          <a:xfrm>
            <a:off x="12801600" y="3291840"/>
            <a:ext cx="10972800" cy="8229600"/>
          </a:xfrm>
          <a:prstGeom prst="rect">
            <a:avLst/>
          </a:prstGeom>
        </p:spPr>
      </p:pic>
      <p:sp>
        <p:nvSpPr>
          <p:cNvPr id="78" name="TextBox 77"/>
          <p:cNvSpPr txBox="1"/>
          <p:nvPr/>
        </p:nvSpPr>
        <p:spPr>
          <a:xfrm>
            <a:off x="12801600" y="11521440"/>
            <a:ext cx="10972800" cy="457200"/>
          </a:xfrm>
          <a:prstGeom prst="rect">
            <a:avLst/>
          </a:prstGeom>
          <a:noFill/>
        </p:spPr>
        <p:txBody>
          <a:bodyPr wrap="square">
            <a:spAutoFit/>
          </a:bodyPr>
          <a:lstStyle/>
          <a:p>
            <a:pPr algn="ctr"/>
            <a:r>
              <a:rPr sz="1400" b="1">
                <a:solidFill>
                  <a:srgbClr val="6B1A2E"/>
                </a:solidFill>
                <a:latin typeface="Calibri"/>
              </a:rPr>
              <a:t>IDEF0 — контекст модуля аналитики</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All the world is made of faith, and trust, and pixie dust."/>
          <p:cNvSpPr txBox="1"/>
          <p:nvPr/>
        </p:nvSpPr>
        <p:spPr>
          <a:xfrm>
            <a:off x="914400" y="457200"/>
            <a:ext cx="22402800" cy="1463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nchor="t">
            <a:normAutofit/>
          </a:bodyPr>
          <a:lstStyle>
            <a:lvl1pPr algn="l">
              <a:defRPr sz="5000" b="0">
                <a:solidFill>
                  <a:srgbClr val="242423"/>
                </a:solidFill>
                <a:latin typeface="Montserrat Bold"/>
                <a:ea typeface="Montserrat Bold"/>
                <a:cs typeface="Montserrat Bold"/>
                <a:sym typeface="Montserrat Bold"/>
              </a:defRPr>
            </a:lvl1pPr>
          </a:lstStyle>
          <a:p>
            <a:pPr algn="ctr">
              <a:lnSpc>
                <a:spcPct val="110000"/>
              </a:lnSpc>
              <a:defRPr sz="3600" b="1">
                <a:solidFill>
                  <a:srgbClr val="FFFFFF"/>
                </a:solidFill>
                <a:latin typeface="Arial"/>
              </a:defRPr>
            </a:pPr>
            <a:r>
              <a:rPr lang="ru-RU" sz="3600" b="1" dirty="0">
                <a:solidFill>
                  <a:srgbClr val="FFFFFF"/>
                </a:solidFill>
                <a:latin typeface="Arial"/>
                <a:cs typeface="Arial"/>
              </a:rPr>
              <a:t>С.Э. Маммедов — требования к ИС</a:t>
            </a:r>
          </a:p>
        </p:txBody>
      </p:sp>
      <p:sp>
        <p:nvSpPr>
          <p:cNvPr id="7" name="Rectangle">
            <a:extLst>
              <a:ext uri="{FF2B5EF4-FFF2-40B4-BE49-F238E27FC236}">
                <a16:creationId xmlns:a16="http://schemas.microsoft.com/office/drawing/2014/main" id="{955C94AE-B80E-4918-B201-60D7FF67FDAB}"/>
              </a:ext>
            </a:extLst>
          </p:cNvPr>
          <p:cNvSpPr/>
          <p:nvPr/>
        </p:nvSpPr>
        <p:spPr>
          <a:xfrm>
            <a:off x="349" y="2139697"/>
            <a:ext cx="24383652" cy="4718304"/>
          </a:xfrm>
          <a:prstGeom prst="rect">
            <a:avLst/>
          </a:prstGeom>
          <a:solidFill>
            <a:srgbClr val="EFF0EF"/>
          </a:solidFill>
          <a:ln w="12700">
            <a:solidFill>
              <a:srgbClr val="EFF0EF"/>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4" name="Lorem ipsum dolor sit amet, consectetur adipiscing elit, sed do eiusmod tempor incididunt ut labore et dolore magna aliqua. Arcu dictum varius duis at consectetur lorem donec. Volutpat maecenas volutpat blandit aliquam. Egestas quis ipsum suspendisse ult">
            <a:extLst>
              <a:ext uri="{FF2B5EF4-FFF2-40B4-BE49-F238E27FC236}">
                <a16:creationId xmlns:a16="http://schemas.microsoft.com/office/drawing/2014/main" id="{A702AD97-02BC-4CA9-8208-10BA43CABD35}"/>
              </a:ext>
            </a:extLst>
          </p:cNvPr>
          <p:cNvSpPr txBox="1"/>
          <p:nvPr/>
        </p:nvSpPr>
        <p:spPr>
          <a:xfrm>
            <a:off x="1371600" y="3200400"/>
            <a:ext cx="10515600" cy="100584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normAutofit/>
          </a:bodyPr>
          <a:lstStyle/>
          <a:p>
            <a:pPr>
              <a:lnSpc>
                <a:spcPct val="128000"/>
              </a:lnSpc>
              <a:defRPr sz="2100">
                <a:solidFill>
                  <a:srgbClr val="000000"/>
                </a:solidFill>
                <a:latin typeface="Arial"/>
              </a:defRPr>
            </a:pPr>
            <a:r>
              <a:rPr lang="ru-RU" sz="3200" dirty="0">
                <a:solidFill>
                  <a:srgbClr val="000000"/>
                </a:solidFill>
                <a:latin typeface="Arial"/>
                <a:cs typeface="Arial"/>
              </a:rPr>
              <a:t>Функциональные: </a:t>
            </a:r>
            <a:r>
              <a:rPr lang="ru-RU" sz="3200" b="0" dirty="0">
                <a:solidFill>
                  <a:srgbClr val="000000"/>
                </a:solidFill>
                <a:latin typeface="Arial"/>
                <a:cs typeface="Arial"/>
              </a:rPr>
              <a:t>расчёт KPI (общее число заказов, число просроченных, on time rate); агрегаты по поставщикам; reliability score = 0,6 × on_time_rate + 0,4 × avg_quality; график цен по SKU; экспорт отчётов в Excel; интеграция с модулями каталога, заявок и заказов.</a:t>
            </a:r>
            <a:endParaRPr lang="en-US" sz="3200" b="0" dirty="0">
              <a:solidFill>
                <a:srgbClr val="000000"/>
              </a:solidFill>
              <a:latin typeface="Arial"/>
              <a:cs typeface="Arial"/>
            </a:endParaRPr>
          </a:p>
          <a:p>
            <a:pPr>
              <a:lnSpc>
                <a:spcPct val="128000"/>
              </a:lnSpc>
              <a:defRPr sz="2100">
                <a:solidFill>
                  <a:srgbClr val="000000"/>
                </a:solidFill>
                <a:latin typeface="Arial"/>
              </a:defRPr>
            </a:pPr>
            <a:endParaRPr lang="ru-RU" sz="3200" b="0" dirty="0">
              <a:solidFill>
                <a:srgbClr val="000000"/>
              </a:solidFill>
              <a:latin typeface="Arial"/>
              <a:cs typeface="Arial"/>
            </a:endParaRPr>
          </a:p>
          <a:p>
            <a:pPr>
              <a:lnSpc>
                <a:spcPct val="128000"/>
              </a:lnSpc>
              <a:defRPr sz="2100">
                <a:solidFill>
                  <a:srgbClr val="000000"/>
                </a:solidFill>
                <a:latin typeface="Arial"/>
              </a:defRPr>
            </a:pPr>
            <a:r>
              <a:rPr lang="ru-RU" sz="3200" dirty="0">
                <a:solidFill>
                  <a:srgbClr val="000000"/>
                </a:solidFill>
                <a:latin typeface="Arial"/>
                <a:cs typeface="Arial"/>
              </a:rPr>
              <a:t>Нефункциональные: </a:t>
            </a:r>
            <a:r>
              <a:rPr lang="ru-RU" sz="3200" b="0" dirty="0">
                <a:solidFill>
                  <a:srgbClr val="000000"/>
                </a:solidFill>
                <a:latin typeface="Arial"/>
                <a:cs typeface="Arial"/>
              </a:rPr>
              <a:t>прозрачность источников KPI; корректность дат и числовых значений; устойчивость при росте объёма данных.</a:t>
            </a:r>
            <a:endParaRPr lang="en-US" sz="3200" b="0" dirty="0">
              <a:solidFill>
                <a:srgbClr val="000000"/>
              </a:solidFill>
              <a:latin typeface="Arial"/>
              <a:cs typeface="Arial"/>
            </a:endParaRPr>
          </a:p>
          <a:p>
            <a:pPr>
              <a:lnSpc>
                <a:spcPct val="128000"/>
              </a:lnSpc>
              <a:defRPr sz="2100">
                <a:solidFill>
                  <a:srgbClr val="000000"/>
                </a:solidFill>
                <a:latin typeface="Arial"/>
              </a:defRPr>
            </a:pPr>
            <a:endParaRPr lang="ru-RU" sz="3200" b="0" dirty="0">
              <a:solidFill>
                <a:srgbClr val="000000"/>
              </a:solidFill>
              <a:latin typeface="Arial"/>
              <a:cs typeface="Arial"/>
            </a:endParaRPr>
          </a:p>
          <a:p>
            <a:pPr>
              <a:lnSpc>
                <a:spcPct val="128000"/>
              </a:lnSpc>
              <a:defRPr sz="2100">
                <a:solidFill>
                  <a:srgbClr val="000000"/>
                </a:solidFill>
                <a:latin typeface="Arial"/>
              </a:defRPr>
            </a:pPr>
            <a:r>
              <a:rPr lang="ru-RU" sz="3200" dirty="0">
                <a:solidFill>
                  <a:srgbClr val="000000"/>
                </a:solidFill>
                <a:latin typeface="Arial"/>
                <a:cs typeface="Arial"/>
              </a:rPr>
              <a:t>Инструменты: </a:t>
            </a:r>
            <a:r>
              <a:rPr lang="ru-RU" sz="3200" b="0" dirty="0">
                <a:solidFill>
                  <a:srgbClr val="000000"/>
                </a:solidFill>
                <a:latin typeface="Arial"/>
                <a:cs typeface="Arial"/>
              </a:rPr>
              <a:t>Python 3 + Flask (маршрут /analytics), SQLAlchemy ORM, SQLite, Chart.js (bar — поставщики, line — динамика цен), openpyxl.</a:t>
            </a:r>
          </a:p>
        </p:txBody>
      </p:sp>
      <p:sp>
        <p:nvSpPr>
          <p:cNvPr id="77" name="TextBox 76"/>
          <p:cNvSpPr txBox="1"/>
          <p:nvPr/>
        </p:nvSpPr>
        <p:spPr>
          <a:xfrm>
            <a:off x="12801600" y="2743200"/>
            <a:ext cx="10972800" cy="457200"/>
          </a:xfrm>
          <a:prstGeom prst="rect">
            <a:avLst/>
          </a:prstGeom>
          <a:noFill/>
        </p:spPr>
        <p:txBody>
          <a:bodyPr wrap="square">
            <a:spAutoFit/>
          </a:bodyPr>
          <a:lstStyle/>
          <a:p>
            <a:pPr algn="ctr"/>
            <a:r>
              <a:rPr sz="1400" b="1">
                <a:solidFill>
                  <a:srgbClr val="6B1A2E"/>
                </a:solidFill>
                <a:latin typeface="Calibri"/>
              </a:rPr>
              <a:t>Требования к модулю аналитики и KPI</a:t>
            </a:r>
          </a:p>
        </p:txBody>
      </p:sp>
      <p:graphicFrame>
        <p:nvGraphicFramePr>
          <p:cNvPr id="78" name="Table 77"/>
          <p:cNvGraphicFramePr>
            <a:graphicFrameLocks noGrp="1"/>
          </p:cNvGraphicFramePr>
          <p:nvPr/>
        </p:nvGraphicFramePr>
        <p:xfrm>
          <a:off x="12801600" y="3383280"/>
          <a:ext cx="10972800" cy="5486400"/>
        </p:xfrm>
        <a:graphic>
          <a:graphicData uri="http://schemas.openxmlformats.org/drawingml/2006/table">
            <a:tbl>
              <a:tblPr firstRow="1" bandRow="1">
                <a:tableStyleId>{5C22544A-7EE6-4342-B048-85BDC9FD1C3A}</a:tableStyleId>
              </a:tblPr>
              <a:tblGrid>
                <a:gridCol w="5486400"/>
                <a:gridCol w="5486400"/>
              </a:tblGrid>
              <a:tr h="609600">
                <a:tc>
                  <a:txBody>
                    <a:bodyPr wrap="square"/>
                    <a:lstStyle/>
                    <a:p>
                      <a:r>
                        <a:rPr sz="1300" b="1">
                          <a:solidFill>
                            <a:srgbClr val="FFFFFF"/>
                          </a:solidFill>
                          <a:latin typeface="Calibri"/>
                        </a:rPr>
                        <a:t>Тип</a:t>
                      </a:r>
                    </a:p>
                  </a:txBody>
                  <a:tcPr>
                    <a:solidFill>
                      <a:srgbClr val="6B1A2E"/>
                    </a:solidFill>
                  </a:tcPr>
                </a:tc>
                <a:tc>
                  <a:txBody>
                    <a:bodyPr wrap="square"/>
                    <a:lstStyle/>
                    <a:p>
                      <a:r>
                        <a:rPr sz="1300" b="1">
                          <a:solidFill>
                            <a:srgbClr val="FFFFFF"/>
                          </a:solidFill>
                          <a:latin typeface="Calibri"/>
                        </a:rPr>
                        <a:t>Требование</a:t>
                      </a:r>
                    </a:p>
                  </a:txBody>
                  <a:tcPr>
                    <a:solidFill>
                      <a:srgbClr val="6B1A2E"/>
                    </a:solidFill>
                  </a:tcPr>
                </a:tc>
              </a:tr>
              <a:tr h="609600">
                <a:tc>
                  <a:txBody>
                    <a:bodyPr wrap="square"/>
                    <a:lstStyle/>
                    <a:p>
                      <a:r>
                        <a:rPr sz="1100">
                          <a:solidFill>
                            <a:srgbClr val="3A3A3A"/>
                          </a:solidFill>
                          <a:latin typeface="Calibri"/>
                        </a:rPr>
                        <a:t>Функциональное</a:t>
                      </a:r>
                    </a:p>
                  </a:txBody>
                  <a:tcPr>
                    <a:solidFill>
                      <a:srgbClr val="FFFFFF"/>
                    </a:solidFill>
                  </a:tcPr>
                </a:tc>
                <a:tc>
                  <a:txBody>
                    <a:bodyPr wrap="square"/>
                    <a:lstStyle/>
                    <a:p>
                      <a:r>
                        <a:rPr sz="1100">
                          <a:solidFill>
                            <a:srgbClr val="3A3A3A"/>
                          </a:solidFill>
                          <a:latin typeface="Calibri"/>
                        </a:rPr>
                        <a:t>Расчёт KPI: всего заказов, просрочено, on_time_rate</a:t>
                      </a:r>
                    </a:p>
                  </a:txBody>
                  <a:tcPr>
                    <a:solidFill>
                      <a:srgbClr val="FFFFFF"/>
                    </a:solidFill>
                  </a:tcPr>
                </a:tc>
              </a:tr>
              <a:tr h="609600">
                <a:tc>
                  <a:txBody>
                    <a:bodyPr wrap="square"/>
                    <a:lstStyle/>
                    <a:p>
                      <a:r>
                        <a:rPr sz="1100">
                          <a:solidFill>
                            <a:srgbClr val="3A3A3A"/>
                          </a:solidFill>
                          <a:latin typeface="Calibri"/>
                        </a:rPr>
                        <a:t>Функциональное</a:t>
                      </a:r>
                    </a:p>
                  </a:txBody>
                  <a:tcPr>
                    <a:solidFill>
                      <a:srgbClr val="F4EDE4"/>
                    </a:solidFill>
                  </a:tcPr>
                </a:tc>
                <a:tc>
                  <a:txBody>
                    <a:bodyPr wrap="square"/>
                    <a:lstStyle/>
                    <a:p>
                      <a:r>
                        <a:rPr sz="1100">
                          <a:solidFill>
                            <a:srgbClr val="3A3A3A"/>
                          </a:solidFill>
                          <a:latin typeface="Calibri"/>
                        </a:rPr>
                        <a:t>Агрегаты by_supplier и by_sku</a:t>
                      </a:r>
                    </a:p>
                  </a:txBody>
                  <a:tcPr>
                    <a:solidFill>
                      <a:srgbClr val="F4EDE4"/>
                    </a:solidFill>
                  </a:tcPr>
                </a:tc>
              </a:tr>
              <a:tr h="609600">
                <a:tc>
                  <a:txBody>
                    <a:bodyPr wrap="square"/>
                    <a:lstStyle/>
                    <a:p>
                      <a:r>
                        <a:rPr sz="1100">
                          <a:solidFill>
                            <a:srgbClr val="3A3A3A"/>
                          </a:solidFill>
                          <a:latin typeface="Calibri"/>
                        </a:rPr>
                        <a:t>Функциональное</a:t>
                      </a:r>
                    </a:p>
                  </a:txBody>
                  <a:tcPr>
                    <a:solidFill>
                      <a:srgbClr val="FFFFFF"/>
                    </a:solidFill>
                  </a:tcPr>
                </a:tc>
                <a:tc>
                  <a:txBody>
                    <a:bodyPr wrap="square"/>
                    <a:lstStyle/>
                    <a:p>
                      <a:r>
                        <a:rPr sz="1100">
                          <a:solidFill>
                            <a:srgbClr val="3A3A3A"/>
                          </a:solidFill>
                          <a:latin typeface="Calibri"/>
                        </a:rPr>
                        <a:t>Reliability score = 0,6·on_time + 0,4·avg_quality</a:t>
                      </a:r>
                    </a:p>
                  </a:txBody>
                  <a:tcPr>
                    <a:solidFill>
                      <a:srgbClr val="FFFFFF"/>
                    </a:solidFill>
                  </a:tcPr>
                </a:tc>
              </a:tr>
              <a:tr h="609600">
                <a:tc>
                  <a:txBody>
                    <a:bodyPr wrap="square"/>
                    <a:lstStyle/>
                    <a:p>
                      <a:r>
                        <a:rPr sz="1100">
                          <a:solidFill>
                            <a:srgbClr val="3A3A3A"/>
                          </a:solidFill>
                          <a:latin typeface="Calibri"/>
                        </a:rPr>
                        <a:t>Функциональное</a:t>
                      </a:r>
                    </a:p>
                  </a:txBody>
                  <a:tcPr>
                    <a:solidFill>
                      <a:srgbClr val="F4EDE4"/>
                    </a:solidFill>
                  </a:tcPr>
                </a:tc>
                <a:tc>
                  <a:txBody>
                    <a:bodyPr wrap="square"/>
                    <a:lstStyle/>
                    <a:p>
                      <a:r>
                        <a:rPr sz="1100">
                          <a:solidFill>
                            <a:srgbClr val="3A3A3A"/>
                          </a:solidFill>
                          <a:latin typeface="Calibri"/>
                        </a:rPr>
                        <a:t>Графики: bar (поставщики), line (цены SKU)</a:t>
                      </a:r>
                    </a:p>
                  </a:txBody>
                  <a:tcPr>
                    <a:solidFill>
                      <a:srgbClr val="F4EDE4"/>
                    </a:solidFill>
                  </a:tcPr>
                </a:tc>
              </a:tr>
              <a:tr h="609600">
                <a:tc>
                  <a:txBody>
                    <a:bodyPr wrap="square"/>
                    <a:lstStyle/>
                    <a:p>
                      <a:r>
                        <a:rPr sz="1100">
                          <a:solidFill>
                            <a:srgbClr val="3A3A3A"/>
                          </a:solidFill>
                          <a:latin typeface="Calibri"/>
                        </a:rPr>
                        <a:t>Функциональное</a:t>
                      </a:r>
                    </a:p>
                  </a:txBody>
                  <a:tcPr>
                    <a:solidFill>
                      <a:srgbClr val="FFFFFF"/>
                    </a:solidFill>
                  </a:tcPr>
                </a:tc>
                <a:tc>
                  <a:txBody>
                    <a:bodyPr wrap="square"/>
                    <a:lstStyle/>
                    <a:p>
                      <a:r>
                        <a:rPr sz="1100">
                          <a:solidFill>
                            <a:srgbClr val="3A3A3A"/>
                          </a:solidFill>
                          <a:latin typeface="Calibri"/>
                        </a:rPr>
                        <a:t>Экспорт отчётов в Excel (openpyxl)</a:t>
                      </a:r>
                    </a:p>
                  </a:txBody>
                  <a:tcPr>
                    <a:solidFill>
                      <a:srgbClr val="FFFFFF"/>
                    </a:solidFill>
                  </a:tcPr>
                </a:tc>
              </a:tr>
              <a:tr h="609600">
                <a:tc>
                  <a:txBody>
                    <a:bodyPr wrap="square"/>
                    <a:lstStyle/>
                    <a:p>
                      <a:r>
                        <a:rPr sz="1100">
                          <a:solidFill>
                            <a:srgbClr val="3A3A3A"/>
                          </a:solidFill>
                          <a:latin typeface="Calibri"/>
                        </a:rPr>
                        <a:t>Нефункциональное</a:t>
                      </a:r>
                    </a:p>
                  </a:txBody>
                  <a:tcPr>
                    <a:solidFill>
                      <a:srgbClr val="F4EDE4"/>
                    </a:solidFill>
                  </a:tcPr>
                </a:tc>
                <a:tc>
                  <a:txBody>
                    <a:bodyPr wrap="square"/>
                    <a:lstStyle/>
                    <a:p>
                      <a:r>
                        <a:rPr sz="1100">
                          <a:solidFill>
                            <a:srgbClr val="3A3A3A"/>
                          </a:solidFill>
                          <a:latin typeface="Calibri"/>
                        </a:rPr>
                        <a:t>Прозрачность источников KPI</a:t>
                      </a:r>
                    </a:p>
                  </a:txBody>
                  <a:tcPr>
                    <a:solidFill>
                      <a:srgbClr val="F4EDE4"/>
                    </a:solidFill>
                  </a:tcPr>
                </a:tc>
              </a:tr>
              <a:tr h="609600">
                <a:tc>
                  <a:txBody>
                    <a:bodyPr wrap="square"/>
                    <a:lstStyle/>
                    <a:p>
                      <a:r>
                        <a:rPr sz="1100">
                          <a:solidFill>
                            <a:srgbClr val="3A3A3A"/>
                          </a:solidFill>
                          <a:latin typeface="Calibri"/>
                        </a:rPr>
                        <a:t>Нефункциональное</a:t>
                      </a:r>
                    </a:p>
                  </a:txBody>
                  <a:tcPr>
                    <a:solidFill>
                      <a:srgbClr val="FFFFFF"/>
                    </a:solidFill>
                  </a:tcPr>
                </a:tc>
                <a:tc>
                  <a:txBody>
                    <a:bodyPr wrap="square"/>
                    <a:lstStyle/>
                    <a:p>
                      <a:r>
                        <a:rPr sz="1100">
                          <a:solidFill>
                            <a:srgbClr val="3A3A3A"/>
                          </a:solidFill>
                          <a:latin typeface="Calibri"/>
                        </a:rPr>
                        <a:t>Корректность дат и числовых значений</a:t>
                      </a:r>
                    </a:p>
                  </a:txBody>
                  <a:tcPr>
                    <a:solidFill>
                      <a:srgbClr val="FFFFFF"/>
                    </a:solidFill>
                  </a:tcPr>
                </a:tc>
              </a:tr>
              <a:tr h="609600">
                <a:tc>
                  <a:txBody>
                    <a:bodyPr wrap="square"/>
                    <a:lstStyle/>
                    <a:p>
                      <a:r>
                        <a:rPr sz="1100">
                          <a:solidFill>
                            <a:srgbClr val="3A3A3A"/>
                          </a:solidFill>
                          <a:latin typeface="Calibri"/>
                        </a:rPr>
                        <a:t>Инструменты</a:t>
                      </a:r>
                    </a:p>
                  </a:txBody>
                  <a:tcPr>
                    <a:solidFill>
                      <a:srgbClr val="F4EDE4"/>
                    </a:solidFill>
                  </a:tcPr>
                </a:tc>
                <a:tc>
                  <a:txBody>
                    <a:bodyPr wrap="square"/>
                    <a:lstStyle/>
                    <a:p>
                      <a:r>
                        <a:rPr sz="1100">
                          <a:solidFill>
                            <a:srgbClr val="3A3A3A"/>
                          </a:solidFill>
                          <a:latin typeface="Calibri"/>
                        </a:rPr>
                        <a:t>Flask /analytics, SQLAlchemy, Chart.js, openpyxl</a:t>
                      </a:r>
                    </a:p>
                  </a:txBody>
                  <a:tcPr>
                    <a:solidFill>
                      <a:srgbClr val="F4EDE4"/>
                    </a:solidFill>
                  </a:tcPr>
                </a:tc>
              </a:tr>
            </a:tbl>
          </a:graphicData>
        </a:graphic>
      </p:graphicFrame>
      <p:sp>
        <p:nvSpPr>
          <p:cNvPr id="79" name="TextBox 78"/>
          <p:cNvSpPr txBox="1"/>
          <p:nvPr/>
        </p:nvSpPr>
        <p:spPr>
          <a:xfrm>
            <a:off x="12801600" y="9144000"/>
            <a:ext cx="10972800" cy="457200"/>
          </a:xfrm>
          <a:prstGeom prst="rect">
            <a:avLst/>
          </a:prstGeom>
          <a:noFill/>
        </p:spPr>
        <p:txBody>
          <a:bodyPr wrap="square">
            <a:spAutoFit/>
          </a:bodyPr>
          <a:lstStyle/>
          <a:p>
            <a:pPr algn="ctr"/>
            <a:r>
              <a:rPr sz="1200" b="1">
                <a:solidFill>
                  <a:srgbClr val="6B1A2E"/>
                </a:solidFill>
                <a:latin typeface="Calibri"/>
              </a:rPr>
              <a:t>KPI закупочной деятельности</a:t>
            </a:r>
          </a:p>
        </p:txBody>
      </p:sp>
      <p:graphicFrame>
        <p:nvGraphicFramePr>
          <p:cNvPr id="80" name="Table 79"/>
          <p:cNvGraphicFramePr>
            <a:graphicFrameLocks noGrp="1"/>
          </p:cNvGraphicFramePr>
          <p:nvPr/>
        </p:nvGraphicFramePr>
        <p:xfrm>
          <a:off x="12801600" y="9692640"/>
          <a:ext cx="10972800" cy="2743200"/>
        </p:xfrm>
        <a:graphic>
          <a:graphicData uri="http://schemas.openxmlformats.org/drawingml/2006/table">
            <a:tbl>
              <a:tblPr firstRow="1" bandRow="1">
                <a:tableStyleId>{5C22544A-7EE6-4342-B048-85BDC9FD1C3A}</a:tableStyleId>
              </a:tblPr>
              <a:tblGrid>
                <a:gridCol w="5486400"/>
                <a:gridCol w="5486400"/>
              </a:tblGrid>
              <a:tr h="548640">
                <a:tc>
                  <a:txBody>
                    <a:bodyPr wrap="square"/>
                    <a:lstStyle/>
                    <a:p>
                      <a:r>
                        <a:rPr sz="1200" b="1">
                          <a:solidFill>
                            <a:srgbClr val="FFFFFF"/>
                          </a:solidFill>
                          <a:latin typeface="Calibri"/>
                        </a:rPr>
                        <a:t>KPI</a:t>
                      </a:r>
                    </a:p>
                  </a:txBody>
                  <a:tcPr>
                    <a:solidFill>
                      <a:srgbClr val="6B1A2E"/>
                    </a:solidFill>
                  </a:tcPr>
                </a:tc>
                <a:tc>
                  <a:txBody>
                    <a:bodyPr wrap="square"/>
                    <a:lstStyle/>
                    <a:p>
                      <a:r>
                        <a:rPr sz="1200" b="1">
                          <a:solidFill>
                            <a:srgbClr val="FFFFFF"/>
                          </a:solidFill>
                          <a:latin typeface="Calibri"/>
                        </a:rPr>
                        <a:t>Формула</a:t>
                      </a:r>
                    </a:p>
                  </a:txBody>
                  <a:tcPr>
                    <a:solidFill>
                      <a:srgbClr val="6B1A2E"/>
                    </a:solidFill>
                  </a:tcPr>
                </a:tc>
              </a:tr>
              <a:tr h="548640">
                <a:tc>
                  <a:txBody>
                    <a:bodyPr wrap="square"/>
                    <a:lstStyle/>
                    <a:p>
                      <a:r>
                        <a:rPr sz="1000">
                          <a:solidFill>
                            <a:srgbClr val="3A3A3A"/>
                          </a:solidFill>
                          <a:latin typeface="Calibri"/>
                        </a:rPr>
                        <a:t>on_time_rate</a:t>
                      </a:r>
                    </a:p>
                  </a:txBody>
                  <a:tcPr>
                    <a:solidFill>
                      <a:srgbClr val="FFFFFF"/>
                    </a:solidFill>
                  </a:tcPr>
                </a:tc>
                <a:tc>
                  <a:txBody>
                    <a:bodyPr wrap="square"/>
                    <a:lstStyle/>
                    <a:p>
                      <a:r>
                        <a:rPr sz="1000">
                          <a:solidFill>
                            <a:srgbClr val="3A3A3A"/>
                          </a:solidFill>
                          <a:latin typeface="Calibri"/>
                        </a:rPr>
                        <a:t>доставленных в срок / всего доставленных</a:t>
                      </a:r>
                    </a:p>
                  </a:txBody>
                  <a:tcPr>
                    <a:solidFill>
                      <a:srgbClr val="FFFFFF"/>
                    </a:solidFill>
                  </a:tcPr>
                </a:tc>
              </a:tr>
              <a:tr h="548640">
                <a:tc>
                  <a:txBody>
                    <a:bodyPr wrap="square"/>
                    <a:lstStyle/>
                    <a:p>
                      <a:r>
                        <a:rPr sz="1000">
                          <a:solidFill>
                            <a:srgbClr val="3A3A3A"/>
                          </a:solidFill>
                          <a:latin typeface="Calibri"/>
                        </a:rPr>
                        <a:t>overdue_count</a:t>
                      </a:r>
                    </a:p>
                  </a:txBody>
                  <a:tcPr>
                    <a:solidFill>
                      <a:srgbClr val="F4EDE4"/>
                    </a:solidFill>
                  </a:tcPr>
                </a:tc>
                <a:tc>
                  <a:txBody>
                    <a:bodyPr wrap="square"/>
                    <a:lstStyle/>
                    <a:p>
                      <a:r>
                        <a:rPr sz="1000">
                          <a:solidFill>
                            <a:srgbClr val="3A3A3A"/>
                          </a:solidFill>
                          <a:latin typeface="Calibri"/>
                        </a:rPr>
                        <a:t>COUNT(delivered_date &gt; expected_date)</a:t>
                      </a:r>
                    </a:p>
                  </a:txBody>
                  <a:tcPr>
                    <a:solidFill>
                      <a:srgbClr val="F4EDE4"/>
                    </a:solidFill>
                  </a:tcPr>
                </a:tc>
              </a:tr>
              <a:tr h="548640">
                <a:tc>
                  <a:txBody>
                    <a:bodyPr wrap="square"/>
                    <a:lstStyle/>
                    <a:p>
                      <a:r>
                        <a:rPr sz="1000">
                          <a:solidFill>
                            <a:srgbClr val="3A3A3A"/>
                          </a:solidFill>
                          <a:latin typeface="Calibri"/>
                        </a:rPr>
                        <a:t>avg_quality</a:t>
                      </a:r>
                    </a:p>
                  </a:txBody>
                  <a:tcPr>
                    <a:solidFill>
                      <a:srgbClr val="FFFFFF"/>
                    </a:solidFill>
                  </a:tcPr>
                </a:tc>
                <a:tc>
                  <a:txBody>
                    <a:bodyPr wrap="square"/>
                    <a:lstStyle/>
                    <a:p>
                      <a:r>
                        <a:rPr sz="1000">
                          <a:solidFill>
                            <a:srgbClr val="3A3A3A"/>
                          </a:solidFill>
                          <a:latin typeface="Calibri"/>
                        </a:rPr>
                        <a:t>AVG(quality_score) по поставщику</a:t>
                      </a:r>
                    </a:p>
                  </a:txBody>
                  <a:tcPr>
                    <a:solidFill>
                      <a:srgbClr val="FFFFFF"/>
                    </a:solidFill>
                  </a:tcPr>
                </a:tc>
              </a:tr>
              <a:tr h="548640">
                <a:tc>
                  <a:txBody>
                    <a:bodyPr wrap="square"/>
                    <a:lstStyle/>
                    <a:p>
                      <a:r>
                        <a:rPr sz="1000">
                          <a:solidFill>
                            <a:srgbClr val="3A3A3A"/>
                          </a:solidFill>
                          <a:latin typeface="Calibri"/>
                        </a:rPr>
                        <a:t>reliability</a:t>
                      </a:r>
                    </a:p>
                  </a:txBody>
                  <a:tcPr>
                    <a:solidFill>
                      <a:srgbClr val="F4EDE4"/>
                    </a:solidFill>
                  </a:tcPr>
                </a:tc>
                <a:tc>
                  <a:txBody>
                    <a:bodyPr wrap="square"/>
                    <a:lstStyle/>
                    <a:p>
                      <a:r>
                        <a:rPr sz="1000">
                          <a:solidFill>
                            <a:srgbClr val="3A3A3A"/>
                          </a:solidFill>
                          <a:latin typeface="Calibri"/>
                        </a:rPr>
                        <a:t>0,6·on_time_rate + 0,4·avg_quality</a:t>
                      </a:r>
                    </a:p>
                  </a:txBody>
                  <a:tcPr>
                    <a:solidFill>
                      <a:srgbClr val="F4EDE4"/>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All the world is made of faith, and trust, and pixie dust."/>
          <p:cNvSpPr txBox="1"/>
          <p:nvPr/>
        </p:nvSpPr>
        <p:spPr>
          <a:xfrm>
            <a:off x="914400" y="457200"/>
            <a:ext cx="22402800" cy="1463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nchor="t">
            <a:normAutofit/>
          </a:bodyPr>
          <a:lstStyle>
            <a:lvl1pPr algn="l">
              <a:defRPr sz="5000" b="0">
                <a:solidFill>
                  <a:srgbClr val="242423"/>
                </a:solidFill>
                <a:latin typeface="Montserrat Bold"/>
                <a:ea typeface="Montserrat Bold"/>
                <a:cs typeface="Montserrat Bold"/>
                <a:sym typeface="Montserrat Bold"/>
              </a:defRPr>
            </a:lvl1pPr>
          </a:lstStyle>
          <a:p>
            <a:pPr algn="ctr">
              <a:lnSpc>
                <a:spcPct val="110000"/>
              </a:lnSpc>
              <a:defRPr sz="3200" b="1">
                <a:solidFill>
                  <a:srgbClr val="FFFFFF"/>
                </a:solidFill>
                <a:latin typeface="Arial"/>
              </a:defRPr>
            </a:pPr>
            <a:r>
              <a:rPr lang="ru-RU" sz="3200" b="1" dirty="0">
                <a:solidFill>
                  <a:srgbClr val="FFFFFF"/>
                </a:solidFill>
                <a:latin typeface="Arial"/>
                <a:cs typeface="Arial"/>
              </a:rPr>
              <a:t>С.Э. Маммедов — информационное и программное обеспечение</a:t>
            </a:r>
          </a:p>
        </p:txBody>
      </p:sp>
      <p:sp>
        <p:nvSpPr>
          <p:cNvPr id="7" name="Rectangle">
            <a:extLst>
              <a:ext uri="{FF2B5EF4-FFF2-40B4-BE49-F238E27FC236}">
                <a16:creationId xmlns:a16="http://schemas.microsoft.com/office/drawing/2014/main" id="{955C94AE-B80E-4918-B201-60D7FF67FDAB}"/>
              </a:ext>
            </a:extLst>
          </p:cNvPr>
          <p:cNvSpPr/>
          <p:nvPr/>
        </p:nvSpPr>
        <p:spPr>
          <a:xfrm>
            <a:off x="349" y="2139697"/>
            <a:ext cx="24383652" cy="4718304"/>
          </a:xfrm>
          <a:prstGeom prst="rect">
            <a:avLst/>
          </a:prstGeom>
          <a:solidFill>
            <a:srgbClr val="EFF0EF"/>
          </a:solidFill>
          <a:ln w="12700">
            <a:solidFill>
              <a:srgbClr val="EFF0EF"/>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4" name="Lorem ipsum dolor sit amet, consectetur adipiscing elit, sed do eiusmod tempor incididunt ut labore et dolore magna aliqua. Arcu dictum varius duis at consectetur lorem donec. Volutpat maecenas volutpat blandit aliquam. Egestas quis ipsum suspendisse ult">
            <a:extLst>
              <a:ext uri="{FF2B5EF4-FFF2-40B4-BE49-F238E27FC236}">
                <a16:creationId xmlns:a16="http://schemas.microsoft.com/office/drawing/2014/main" id="{CD0C1FE3-0CF6-4BA9-9372-AAF16C7A55B3}"/>
              </a:ext>
            </a:extLst>
          </p:cNvPr>
          <p:cNvSpPr txBox="1"/>
          <p:nvPr/>
        </p:nvSpPr>
        <p:spPr>
          <a:xfrm>
            <a:off x="1371600" y="3200400"/>
            <a:ext cx="10972800" cy="100584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normAutofit/>
          </a:bodyPr>
          <a:lstStyle/>
          <a:p>
            <a:pPr>
              <a:lnSpc>
                <a:spcPct val="125000"/>
              </a:lnSpc>
              <a:defRPr sz="2000">
                <a:solidFill>
                  <a:srgbClr val="000000"/>
                </a:solidFill>
                <a:latin typeface="Arial"/>
              </a:defRPr>
            </a:pPr>
            <a:r>
              <a:rPr lang="ru-RU" sz="3200" dirty="0">
                <a:solidFill>
                  <a:srgbClr val="000000"/>
                </a:solidFill>
                <a:latin typeface="Arial"/>
                <a:cs typeface="Arial"/>
              </a:rPr>
              <a:t>Аналитика опирается на сущности других модулей: </a:t>
            </a:r>
            <a:r>
              <a:rPr lang="ru-RU" sz="3200" b="0" dirty="0">
                <a:solidFill>
                  <a:srgbClr val="000000"/>
                </a:solidFill>
                <a:latin typeface="Arial"/>
                <a:cs typeface="Arial"/>
              </a:rPr>
              <a:t>Supplier, Order, OrderItem, CatalogItem, </a:t>
            </a:r>
            <a:r>
              <a:rPr lang="ru-RU" sz="3200" b="0" dirty="0" err="1">
                <a:solidFill>
                  <a:srgbClr val="000000"/>
                </a:solidFill>
                <a:latin typeface="Arial"/>
                <a:cs typeface="Arial"/>
              </a:rPr>
              <a:t>PriceHistory</a:t>
            </a:r>
            <a:r>
              <a:rPr lang="ru-RU" sz="3200" b="0" dirty="0">
                <a:solidFill>
                  <a:srgbClr val="000000"/>
                </a:solidFill>
                <a:latin typeface="Arial"/>
                <a:cs typeface="Arial"/>
              </a:rPr>
              <a:t>.</a:t>
            </a:r>
            <a:endParaRPr lang="en-US" sz="3200" b="0" dirty="0">
              <a:solidFill>
                <a:srgbClr val="000000"/>
              </a:solidFill>
              <a:latin typeface="Arial"/>
              <a:cs typeface="Arial"/>
            </a:endParaRPr>
          </a:p>
          <a:p>
            <a:pPr>
              <a:lnSpc>
                <a:spcPct val="125000"/>
              </a:lnSpc>
              <a:defRPr sz="2000">
                <a:solidFill>
                  <a:srgbClr val="000000"/>
                </a:solidFill>
                <a:latin typeface="Arial"/>
              </a:defRPr>
            </a:pPr>
            <a:endParaRPr lang="ru-RU" sz="3200" b="0" dirty="0">
              <a:solidFill>
                <a:srgbClr val="000000"/>
              </a:solidFill>
              <a:latin typeface="Arial"/>
              <a:cs typeface="Arial"/>
            </a:endParaRPr>
          </a:p>
          <a:p>
            <a:pPr>
              <a:lnSpc>
                <a:spcPct val="125000"/>
              </a:lnSpc>
              <a:defRPr sz="2000">
                <a:solidFill>
                  <a:srgbClr val="000000"/>
                </a:solidFill>
                <a:latin typeface="Arial"/>
              </a:defRPr>
            </a:pPr>
            <a:r>
              <a:rPr lang="ru-RU" sz="3200" dirty="0">
                <a:solidFill>
                  <a:srgbClr val="000000"/>
                </a:solidFill>
                <a:latin typeface="Arial"/>
                <a:cs typeface="Arial"/>
              </a:rPr>
              <a:t>Три линии агрегации: </a:t>
            </a:r>
            <a:r>
              <a:rPr lang="ru-RU" sz="3200" b="0" dirty="0">
                <a:solidFill>
                  <a:srgbClr val="000000"/>
                </a:solidFill>
                <a:latin typeface="Arial"/>
                <a:cs typeface="Arial"/>
              </a:rPr>
              <a:t>сводные KPI; by_supplier (объём закупок и reliability); by_sku (динамика цен).</a:t>
            </a:r>
          </a:p>
          <a:p>
            <a:pPr>
              <a:lnSpc>
                <a:spcPct val="125000"/>
              </a:lnSpc>
              <a:defRPr sz="2000">
                <a:solidFill>
                  <a:srgbClr val="000000"/>
                </a:solidFill>
                <a:latin typeface="Arial"/>
              </a:defRPr>
            </a:pPr>
            <a:r>
              <a:rPr lang="ru-RU" sz="3200" b="0" dirty="0">
                <a:solidFill>
                  <a:srgbClr val="000000"/>
                </a:solidFill>
                <a:latin typeface="Arial"/>
                <a:cs typeface="Arial"/>
              </a:rPr>
              <a:t>Функция recalculate_supplier_reliability пересчитывает оценку надёжности.</a:t>
            </a:r>
            <a:endParaRPr lang="en-US" sz="3200" b="0" dirty="0">
              <a:solidFill>
                <a:srgbClr val="000000"/>
              </a:solidFill>
              <a:latin typeface="Arial"/>
              <a:cs typeface="Arial"/>
            </a:endParaRPr>
          </a:p>
          <a:p>
            <a:pPr>
              <a:lnSpc>
                <a:spcPct val="125000"/>
              </a:lnSpc>
              <a:defRPr sz="2000">
                <a:solidFill>
                  <a:srgbClr val="000000"/>
                </a:solidFill>
                <a:latin typeface="Arial"/>
              </a:defRPr>
            </a:pPr>
            <a:endParaRPr lang="ru-RU" sz="3200" b="0" dirty="0">
              <a:solidFill>
                <a:srgbClr val="000000"/>
              </a:solidFill>
              <a:latin typeface="Arial"/>
              <a:cs typeface="Arial"/>
            </a:endParaRPr>
          </a:p>
          <a:p>
            <a:pPr>
              <a:lnSpc>
                <a:spcPct val="125000"/>
              </a:lnSpc>
              <a:defRPr sz="2000">
                <a:solidFill>
                  <a:srgbClr val="000000"/>
                </a:solidFill>
                <a:latin typeface="Arial"/>
              </a:defRPr>
            </a:pPr>
            <a:r>
              <a:rPr lang="ru-RU" sz="3200" dirty="0">
                <a:solidFill>
                  <a:srgbClr val="000000"/>
                </a:solidFill>
                <a:latin typeface="Arial"/>
                <a:cs typeface="Arial"/>
              </a:rPr>
              <a:t>ПО: </a:t>
            </a:r>
            <a:r>
              <a:rPr lang="ru-RU" sz="3200" b="0" dirty="0">
                <a:solidFill>
                  <a:srgbClr val="000000"/>
                </a:solidFill>
                <a:latin typeface="Arial"/>
                <a:cs typeface="Arial"/>
              </a:rPr>
              <a:t>Flask-маршрут /analytics, шаблон панели с карточками KPI, диаграммами Chart.js и таблицей надёжности. Паттерны: Repository (выборки), Strategy (типы отчётов).</a:t>
            </a:r>
          </a:p>
        </p:txBody>
      </p:sp>
      <p:pic>
        <p:nvPicPr>
          <p:cNvPr id="77" name="Picture 76" descr="kpi_dashboard.png"/>
          <p:cNvPicPr>
            <a:picLocks noChangeAspect="1"/>
          </p:cNvPicPr>
          <p:nvPr/>
        </p:nvPicPr>
        <p:blipFill>
          <a:blip r:embed="rId2"/>
          <a:stretch>
            <a:fillRect/>
          </a:stretch>
        </p:blipFill>
        <p:spPr>
          <a:xfrm>
            <a:off x="12801600" y="3657600"/>
            <a:ext cx="10972800" cy="5486400"/>
          </a:xfrm>
          <a:prstGeom prst="rect">
            <a:avLst/>
          </a:prstGeom>
        </p:spPr>
      </p:pic>
      <p:sp>
        <p:nvSpPr>
          <p:cNvPr id="78" name="TextBox 77"/>
          <p:cNvSpPr txBox="1"/>
          <p:nvPr/>
        </p:nvSpPr>
        <p:spPr>
          <a:xfrm>
            <a:off x="12801600" y="9235440"/>
            <a:ext cx="10972800" cy="457200"/>
          </a:xfrm>
          <a:prstGeom prst="rect">
            <a:avLst/>
          </a:prstGeom>
          <a:noFill/>
        </p:spPr>
        <p:txBody>
          <a:bodyPr wrap="square">
            <a:spAutoFit/>
          </a:bodyPr>
          <a:lstStyle/>
          <a:p>
            <a:pPr algn="ctr"/>
            <a:r>
              <a:rPr sz="1400" b="1">
                <a:solidFill>
                  <a:srgbClr val="6B1A2E"/>
                </a:solidFill>
                <a:latin typeface="Calibri"/>
              </a:rPr>
              <a:t>Визуализация KPI (Chart.js): bar + line</a:t>
            </a:r>
          </a:p>
        </p:txBody>
      </p:sp>
      <p:graphicFrame>
        <p:nvGraphicFramePr>
          <p:cNvPr id="79" name="Table 78"/>
          <p:cNvGraphicFramePr>
            <a:graphicFrameLocks noGrp="1"/>
          </p:cNvGraphicFramePr>
          <p:nvPr/>
        </p:nvGraphicFramePr>
        <p:xfrm>
          <a:off x="12801600" y="9875520"/>
          <a:ext cx="10972800" cy="2468880"/>
        </p:xfrm>
        <a:graphic>
          <a:graphicData uri="http://schemas.openxmlformats.org/drawingml/2006/table">
            <a:tbl>
              <a:tblPr firstRow="1" bandRow="1">
                <a:tableStyleId>{5C22544A-7EE6-4342-B048-85BDC9FD1C3A}</a:tableStyleId>
              </a:tblPr>
              <a:tblGrid>
                <a:gridCol w="5486400"/>
                <a:gridCol w="5486400"/>
              </a:tblGrid>
              <a:tr h="617220">
                <a:tc>
                  <a:txBody>
                    <a:bodyPr wrap="square"/>
                    <a:lstStyle/>
                    <a:p>
                      <a:r>
                        <a:rPr sz="1200" b="1">
                          <a:solidFill>
                            <a:srgbClr val="FFFFFF"/>
                          </a:solidFill>
                          <a:latin typeface="Calibri"/>
                        </a:rPr>
                        <a:t>Линия агрегации</a:t>
                      </a:r>
                    </a:p>
                  </a:txBody>
                  <a:tcPr>
                    <a:solidFill>
                      <a:srgbClr val="6B1A2E"/>
                    </a:solidFill>
                  </a:tcPr>
                </a:tc>
                <a:tc>
                  <a:txBody>
                    <a:bodyPr wrap="square"/>
                    <a:lstStyle/>
                    <a:p>
                      <a:r>
                        <a:rPr sz="1200" b="1">
                          <a:solidFill>
                            <a:srgbClr val="FFFFFF"/>
                          </a:solidFill>
                          <a:latin typeface="Calibri"/>
                        </a:rPr>
                        <a:t>Что показывает</a:t>
                      </a:r>
                    </a:p>
                  </a:txBody>
                  <a:tcPr>
                    <a:solidFill>
                      <a:srgbClr val="6B1A2E"/>
                    </a:solidFill>
                  </a:tcPr>
                </a:tc>
              </a:tr>
              <a:tr h="617220">
                <a:tc>
                  <a:txBody>
                    <a:bodyPr wrap="square"/>
                    <a:lstStyle/>
                    <a:p>
                      <a:r>
                        <a:rPr sz="1100">
                          <a:solidFill>
                            <a:srgbClr val="3A3A3A"/>
                          </a:solidFill>
                          <a:latin typeface="Calibri"/>
                        </a:rPr>
                        <a:t>Сводные KPI</a:t>
                      </a:r>
                    </a:p>
                  </a:txBody>
                  <a:tcPr>
                    <a:solidFill>
                      <a:srgbClr val="FFFFFF"/>
                    </a:solidFill>
                  </a:tcPr>
                </a:tc>
                <a:tc>
                  <a:txBody>
                    <a:bodyPr wrap="square"/>
                    <a:lstStyle/>
                    <a:p>
                      <a:r>
                        <a:rPr sz="1100">
                          <a:solidFill>
                            <a:srgbClr val="3A3A3A"/>
                          </a:solidFill>
                          <a:latin typeface="Calibri"/>
                        </a:rPr>
                        <a:t>карточки заказы/просрочки/on_time</a:t>
                      </a:r>
                    </a:p>
                  </a:txBody>
                  <a:tcPr>
                    <a:solidFill>
                      <a:srgbClr val="FFFFFF"/>
                    </a:solidFill>
                  </a:tcPr>
                </a:tc>
              </a:tr>
              <a:tr h="617220">
                <a:tc>
                  <a:txBody>
                    <a:bodyPr wrap="square"/>
                    <a:lstStyle/>
                    <a:p>
                      <a:r>
                        <a:rPr sz="1100">
                          <a:solidFill>
                            <a:srgbClr val="3A3A3A"/>
                          </a:solidFill>
                          <a:latin typeface="Calibri"/>
                        </a:rPr>
                        <a:t>by_supplier</a:t>
                      </a:r>
                    </a:p>
                  </a:txBody>
                  <a:tcPr>
                    <a:solidFill>
                      <a:srgbClr val="F4EDE4"/>
                    </a:solidFill>
                  </a:tcPr>
                </a:tc>
                <a:tc>
                  <a:txBody>
                    <a:bodyPr wrap="square"/>
                    <a:lstStyle/>
                    <a:p>
                      <a:r>
                        <a:rPr sz="1100">
                          <a:solidFill>
                            <a:srgbClr val="3A3A3A"/>
                          </a:solidFill>
                          <a:latin typeface="Calibri"/>
                        </a:rPr>
                        <a:t>объём и reliability по контрагенту</a:t>
                      </a:r>
                    </a:p>
                  </a:txBody>
                  <a:tcPr>
                    <a:solidFill>
                      <a:srgbClr val="F4EDE4"/>
                    </a:solidFill>
                  </a:tcPr>
                </a:tc>
              </a:tr>
              <a:tr h="617220">
                <a:tc>
                  <a:txBody>
                    <a:bodyPr wrap="square"/>
                    <a:lstStyle/>
                    <a:p>
                      <a:r>
                        <a:rPr sz="1100">
                          <a:solidFill>
                            <a:srgbClr val="3A3A3A"/>
                          </a:solidFill>
                          <a:latin typeface="Calibri"/>
                        </a:rPr>
                        <a:t>by_sku</a:t>
                      </a:r>
                    </a:p>
                  </a:txBody>
                  <a:tcPr>
                    <a:solidFill>
                      <a:srgbClr val="FFFFFF"/>
                    </a:solidFill>
                  </a:tcPr>
                </a:tc>
                <a:tc>
                  <a:txBody>
                    <a:bodyPr wrap="square"/>
                    <a:lstStyle/>
                    <a:p>
                      <a:r>
                        <a:rPr sz="1100">
                          <a:solidFill>
                            <a:srgbClr val="3A3A3A"/>
                          </a:solidFill>
                          <a:latin typeface="Calibri"/>
                        </a:rPr>
                        <a:t>динамика цен по позиции</a:t>
                      </a:r>
                    </a:p>
                  </a:txBody>
                  <a:tcPr>
                    <a:solidFill>
                      <a:srgbClr val="FFFFFF"/>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All the world is made of faith, and trust, and pixie dust."/>
          <p:cNvSpPr txBox="1"/>
          <p:nvPr/>
        </p:nvSpPr>
        <p:spPr>
          <a:xfrm>
            <a:off x="914400" y="457200"/>
            <a:ext cx="22402800" cy="1463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nchor="t">
            <a:normAutofit/>
          </a:bodyPr>
          <a:lstStyle>
            <a:lvl1pPr algn="l">
              <a:defRPr sz="5000" b="0">
                <a:solidFill>
                  <a:srgbClr val="242423"/>
                </a:solidFill>
                <a:latin typeface="Montserrat Bold"/>
                <a:ea typeface="Montserrat Bold"/>
                <a:cs typeface="Montserrat Bold"/>
                <a:sym typeface="Montserrat Bold"/>
              </a:defRPr>
            </a:lvl1pPr>
          </a:lstStyle>
          <a:p>
            <a:pPr algn="ctr">
              <a:lnSpc>
                <a:spcPct val="110000"/>
              </a:lnSpc>
              <a:defRPr sz="3600" b="1">
                <a:solidFill>
                  <a:srgbClr val="FFFFFF"/>
                </a:solidFill>
                <a:latin typeface="Arial"/>
              </a:defRPr>
            </a:pPr>
            <a:r>
              <a:rPr lang="ru-RU" sz="3600" b="1" dirty="0">
                <a:solidFill>
                  <a:srgbClr val="FFFFFF"/>
                </a:solidFill>
                <a:latin typeface="Arial"/>
                <a:cs typeface="Arial"/>
              </a:rPr>
              <a:t>С.Э. Маммедов — выводы по модулю</a:t>
            </a:r>
          </a:p>
        </p:txBody>
      </p:sp>
      <p:sp>
        <p:nvSpPr>
          <p:cNvPr id="7" name="Rectangle">
            <a:extLst>
              <a:ext uri="{FF2B5EF4-FFF2-40B4-BE49-F238E27FC236}">
                <a16:creationId xmlns:a16="http://schemas.microsoft.com/office/drawing/2014/main" id="{955C94AE-B80E-4918-B201-60D7FF67FDAB}"/>
              </a:ext>
            </a:extLst>
          </p:cNvPr>
          <p:cNvSpPr/>
          <p:nvPr/>
        </p:nvSpPr>
        <p:spPr>
          <a:xfrm>
            <a:off x="349" y="2139697"/>
            <a:ext cx="24383652" cy="4718304"/>
          </a:xfrm>
          <a:prstGeom prst="rect">
            <a:avLst/>
          </a:prstGeom>
          <a:solidFill>
            <a:srgbClr val="EFF0EF"/>
          </a:solidFill>
          <a:ln w="12700">
            <a:solidFill>
              <a:srgbClr val="EFF0EF"/>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2" name="Управляющая кнопка: документ 1">
            <a:hlinkClick r:id="" action="ppaction://hlinksldjump" highlightClick="1"/>
            <a:extLst>
              <a:ext uri="{FF2B5EF4-FFF2-40B4-BE49-F238E27FC236}">
                <a16:creationId xmlns:a16="http://schemas.microsoft.com/office/drawing/2014/main" id="{DA318A56-F2AF-46A7-9F6C-7C2EFC01BFE8}"/>
              </a:ext>
            </a:extLst>
          </p:cNvPr>
          <p:cNvSpPr/>
          <p:nvPr/>
        </p:nvSpPr>
        <p:spPr>
          <a:xfrm>
            <a:off x="23134320" y="12435838"/>
            <a:ext cx="1115568" cy="1170433"/>
          </a:xfrm>
          <a:prstGeom prst="actionButtonDocumen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ru-RU"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6" name="Lorem ipsum dolor sit amet, consectetur adipiscing elit, sed do eiusmod tempor incididunt ut labore et dolore magna aliqua. Arcu dictum varius duis at consectetur lorem donec. Volutpat maecenas volutpat blandit aliquam. Egestas quis ipsum suspendisse ult">
            <a:extLst>
              <a:ext uri="{FF2B5EF4-FFF2-40B4-BE49-F238E27FC236}">
                <a16:creationId xmlns:a16="http://schemas.microsoft.com/office/drawing/2014/main" id="{B9083FB9-A161-4706-A8CC-09006749EF22}"/>
              </a:ext>
            </a:extLst>
          </p:cNvPr>
          <p:cNvSpPr txBox="1"/>
          <p:nvPr/>
        </p:nvSpPr>
        <p:spPr>
          <a:xfrm>
            <a:off x="1371600" y="3200400"/>
            <a:ext cx="10972800" cy="9144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normAutofit/>
          </a:bodyPr>
          <a:lstStyle/>
          <a:p>
            <a:pPr>
              <a:lnSpc>
                <a:spcPct val="135000"/>
              </a:lnSpc>
              <a:defRPr sz="2600">
                <a:solidFill>
                  <a:srgbClr val="000000"/>
                </a:solidFill>
                <a:latin typeface="Arial"/>
              </a:defRPr>
            </a:pPr>
            <a:r>
              <a:rPr lang="ru-RU" sz="3200" b="0" dirty="0">
                <a:solidFill>
                  <a:srgbClr val="000000"/>
                </a:solidFill>
                <a:latin typeface="Arial"/>
                <a:cs typeface="Arial"/>
              </a:rPr>
              <a:t>Получена интерактивная аналитическая панель с KPI, графиками и рейтингом поставщиков, интегрированная с остальными модулями веб-сервиса. Модуль сокращает путь от появления данных до управленческого вывода и поддерживает экспорт результатов в Excel.</a:t>
            </a:r>
          </a:p>
        </p:txBody>
      </p:sp>
      <p:pic>
        <p:nvPicPr>
          <p:cNvPr id="77" name="Picture 76" descr="ui_analytics.png"/>
          <p:cNvPicPr>
            <a:picLocks noChangeAspect="1"/>
          </p:cNvPicPr>
          <p:nvPr/>
        </p:nvPicPr>
        <p:blipFill>
          <a:blip r:embed="rId2"/>
          <a:stretch>
            <a:fillRect/>
          </a:stretch>
        </p:blipFill>
        <p:spPr>
          <a:xfrm>
            <a:off x="12801600" y="3657600"/>
            <a:ext cx="10972800" cy="6858000"/>
          </a:xfrm>
          <a:prstGeom prst="rect">
            <a:avLst/>
          </a:prstGeom>
        </p:spPr>
      </p:pic>
      <p:sp>
        <p:nvSpPr>
          <p:cNvPr id="78" name="TextBox 77"/>
          <p:cNvSpPr txBox="1"/>
          <p:nvPr/>
        </p:nvSpPr>
        <p:spPr>
          <a:xfrm>
            <a:off x="12801600" y="10607040"/>
            <a:ext cx="10972800" cy="457200"/>
          </a:xfrm>
          <a:prstGeom prst="rect">
            <a:avLst/>
          </a:prstGeom>
          <a:noFill/>
        </p:spPr>
        <p:txBody>
          <a:bodyPr wrap="square">
            <a:spAutoFit/>
          </a:bodyPr>
          <a:lstStyle/>
          <a:p>
            <a:pPr algn="ctr"/>
            <a:r>
              <a:rPr sz="1400" b="1">
                <a:solidFill>
                  <a:srgbClr val="6B1A2E"/>
                </a:solidFill>
                <a:latin typeface="Calibri"/>
              </a:rPr>
              <a:t>Интерактивная аналитическая панель</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All the world is made of faith, and trust, and pixie dust."/>
          <p:cNvSpPr txBox="1"/>
          <p:nvPr/>
        </p:nvSpPr>
        <p:spPr>
          <a:xfrm>
            <a:off x="914400" y="457200"/>
            <a:ext cx="22402800" cy="1463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nchor="t">
            <a:normAutofit/>
          </a:bodyPr>
          <a:lstStyle>
            <a:lvl1pPr algn="l">
              <a:defRPr sz="5000" b="0">
                <a:solidFill>
                  <a:srgbClr val="242423"/>
                </a:solidFill>
                <a:latin typeface="Montserrat Bold"/>
                <a:ea typeface="Montserrat Bold"/>
                <a:cs typeface="Montserrat Bold"/>
                <a:sym typeface="Montserrat Bold"/>
              </a:defRPr>
            </a:lvl1pPr>
          </a:lstStyle>
          <a:p>
            <a:pPr algn="ctr">
              <a:lnSpc>
                <a:spcPct val="110000"/>
              </a:lnSpc>
              <a:defRPr sz="3600" b="1">
                <a:solidFill>
                  <a:srgbClr val="FFFFFF"/>
                </a:solidFill>
                <a:latin typeface="Arial"/>
              </a:defRPr>
            </a:pPr>
            <a:r>
              <a:rPr lang="ru-RU" sz="3600" b="1" dirty="0">
                <a:solidFill>
                  <a:srgbClr val="FFFFFF"/>
                </a:solidFill>
                <a:latin typeface="Arial"/>
                <a:cs typeface="Arial"/>
              </a:rPr>
              <a:t>Е.М. Киселева — модель бизнес-процессов</a:t>
            </a:r>
          </a:p>
        </p:txBody>
      </p:sp>
      <p:sp>
        <p:nvSpPr>
          <p:cNvPr id="7" name="Rectangle">
            <a:extLst>
              <a:ext uri="{FF2B5EF4-FFF2-40B4-BE49-F238E27FC236}">
                <a16:creationId xmlns:a16="http://schemas.microsoft.com/office/drawing/2014/main" id="{955C94AE-B80E-4918-B201-60D7FF67FDAB}"/>
              </a:ext>
            </a:extLst>
          </p:cNvPr>
          <p:cNvSpPr/>
          <p:nvPr/>
        </p:nvSpPr>
        <p:spPr>
          <a:xfrm>
            <a:off x="349" y="2139697"/>
            <a:ext cx="24383652" cy="4718304"/>
          </a:xfrm>
          <a:prstGeom prst="rect">
            <a:avLst/>
          </a:prstGeom>
          <a:solidFill>
            <a:srgbClr val="EFF0EF"/>
          </a:solidFill>
          <a:ln w="12700">
            <a:solidFill>
              <a:srgbClr val="EFF0EF"/>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5" name="Lorem ipsum dolor sit amet, consectetur adipiscing elit, sed do eiusmod tempor incididunt ut labore et dolore magna aliqua. Arcu dictum varius duis at consectetur lorem donec. Volutpat maecenas volutpat blandit aliquam. Egestas quis ipsum suspendisse ult">
            <a:extLst>
              <a:ext uri="{FF2B5EF4-FFF2-40B4-BE49-F238E27FC236}">
                <a16:creationId xmlns:a16="http://schemas.microsoft.com/office/drawing/2014/main" id="{E6279DB2-1E4D-40C3-9C0D-E60BDFD49116}"/>
              </a:ext>
            </a:extLst>
          </p:cNvPr>
          <p:cNvSpPr txBox="1"/>
          <p:nvPr/>
        </p:nvSpPr>
        <p:spPr>
          <a:xfrm>
            <a:off x="1371600" y="3200400"/>
            <a:ext cx="10972800" cy="9144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normAutofit/>
          </a:bodyPr>
          <a:lstStyle/>
          <a:p>
            <a:pPr>
              <a:lnSpc>
                <a:spcPct val="130000"/>
              </a:lnSpc>
              <a:defRPr sz="2200">
                <a:solidFill>
                  <a:srgbClr val="000000"/>
                </a:solidFill>
                <a:latin typeface="Arial"/>
              </a:defRPr>
            </a:pPr>
            <a:r>
              <a:rPr lang="ru-RU" sz="3200" dirty="0">
                <a:solidFill>
                  <a:srgbClr val="000000"/>
                </a:solidFill>
                <a:latin typeface="Arial"/>
                <a:cs typeface="Arial"/>
              </a:rPr>
              <a:t>Автоматизируемые процессы: </a:t>
            </a:r>
            <a:r>
              <a:rPr lang="ru-RU" sz="3200" b="0" dirty="0">
                <a:solidFill>
                  <a:srgbClr val="000000"/>
                </a:solidFill>
                <a:latin typeface="Arial"/>
                <a:cs typeface="Arial"/>
              </a:rPr>
              <a:t>приём данных от внешней учётной системы (REST API и файловый обмен); синхронизация справочников и операционных документов; ведение журнала интеграции; обработка ошибок и разрешение конфликтов; контроль безопасности передачи.</a:t>
            </a:r>
          </a:p>
          <a:p>
            <a:pPr>
              <a:lnSpc>
                <a:spcPct val="130000"/>
              </a:lnSpc>
              <a:defRPr sz="2200">
                <a:solidFill>
                  <a:srgbClr val="000000"/>
                </a:solidFill>
                <a:latin typeface="Arial"/>
              </a:defRPr>
            </a:pPr>
            <a:r>
              <a:rPr lang="ru-RU" sz="3200" b="0" dirty="0">
                <a:solidFill>
                  <a:srgbClr val="000000"/>
                </a:solidFill>
                <a:latin typeface="Arial"/>
                <a:cs typeface="Arial"/>
              </a:rPr>
              <a:t>Контекстная модель — серверный контур внутри Flask-приложения: внешняя система → REST API / файл → контроллер → IntegrationLog → база данных.</a:t>
            </a:r>
          </a:p>
        </p:txBody>
      </p:sp>
      <p:pic>
        <p:nvPicPr>
          <p:cNvPr id="77" name="Picture 76" descr="integration_arch.png"/>
          <p:cNvPicPr>
            <a:picLocks noChangeAspect="1"/>
          </p:cNvPicPr>
          <p:nvPr/>
        </p:nvPicPr>
        <p:blipFill>
          <a:blip r:embed="rId2"/>
          <a:stretch>
            <a:fillRect/>
          </a:stretch>
        </p:blipFill>
        <p:spPr>
          <a:xfrm>
            <a:off x="12801600" y="3291840"/>
            <a:ext cx="10972800" cy="8229600"/>
          </a:xfrm>
          <a:prstGeom prst="rect">
            <a:avLst/>
          </a:prstGeom>
        </p:spPr>
      </p:pic>
      <p:sp>
        <p:nvSpPr>
          <p:cNvPr id="78" name="TextBox 77"/>
          <p:cNvSpPr txBox="1"/>
          <p:nvPr/>
        </p:nvSpPr>
        <p:spPr>
          <a:xfrm>
            <a:off x="12801600" y="11521440"/>
            <a:ext cx="10972800" cy="457200"/>
          </a:xfrm>
          <a:prstGeom prst="rect">
            <a:avLst/>
          </a:prstGeom>
          <a:noFill/>
        </p:spPr>
        <p:txBody>
          <a:bodyPr wrap="square">
            <a:spAutoFit/>
          </a:bodyPr>
          <a:lstStyle/>
          <a:p>
            <a:pPr algn="ctr"/>
            <a:r>
              <a:rPr sz="1400" b="1">
                <a:solidFill>
                  <a:srgbClr val="6B1A2E"/>
                </a:solidFill>
                <a:latin typeface="Calibri"/>
              </a:rPr>
              <a:t>Контекст серверного модуля интеграции</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All the world is made of faith, and trust, and pixie dust."/>
          <p:cNvSpPr txBox="1"/>
          <p:nvPr/>
        </p:nvSpPr>
        <p:spPr>
          <a:xfrm>
            <a:off x="914400" y="457200"/>
            <a:ext cx="22402800" cy="1463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nchor="t">
            <a:normAutofit/>
          </a:bodyPr>
          <a:lstStyle>
            <a:lvl1pPr algn="l">
              <a:defRPr sz="5000" b="0">
                <a:solidFill>
                  <a:srgbClr val="242423"/>
                </a:solidFill>
                <a:latin typeface="Montserrat Bold"/>
                <a:ea typeface="Montserrat Bold"/>
                <a:cs typeface="Montserrat Bold"/>
                <a:sym typeface="Montserrat Bold"/>
              </a:defRPr>
            </a:lvl1pPr>
          </a:lstStyle>
          <a:p>
            <a:pPr algn="ctr">
              <a:lnSpc>
                <a:spcPct val="110000"/>
              </a:lnSpc>
              <a:defRPr sz="3600" b="1">
                <a:solidFill>
                  <a:srgbClr val="FFFFFF"/>
                </a:solidFill>
                <a:latin typeface="Arial"/>
              </a:defRPr>
            </a:pPr>
            <a:r>
              <a:rPr lang="ru-RU" sz="3600" b="1" dirty="0">
                <a:solidFill>
                  <a:srgbClr val="FFFFFF"/>
                </a:solidFill>
                <a:latin typeface="Arial"/>
                <a:cs typeface="Arial"/>
              </a:rPr>
              <a:t>Е.М. Киселева — требования к ИС</a:t>
            </a:r>
          </a:p>
        </p:txBody>
      </p:sp>
      <p:sp>
        <p:nvSpPr>
          <p:cNvPr id="7" name="Rectangle">
            <a:extLst>
              <a:ext uri="{FF2B5EF4-FFF2-40B4-BE49-F238E27FC236}">
                <a16:creationId xmlns:a16="http://schemas.microsoft.com/office/drawing/2014/main" id="{955C94AE-B80E-4918-B201-60D7FF67FDAB}"/>
              </a:ext>
            </a:extLst>
          </p:cNvPr>
          <p:cNvSpPr/>
          <p:nvPr/>
        </p:nvSpPr>
        <p:spPr>
          <a:xfrm>
            <a:off x="349" y="2139697"/>
            <a:ext cx="24383652" cy="4718304"/>
          </a:xfrm>
          <a:prstGeom prst="rect">
            <a:avLst/>
          </a:prstGeom>
          <a:solidFill>
            <a:srgbClr val="EFF0EF"/>
          </a:solidFill>
          <a:ln w="12700">
            <a:solidFill>
              <a:srgbClr val="EFF0EF"/>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4" name="Lorem ipsum dolor sit amet, consectetur adipiscing elit, sed do eiusmod tempor incididunt ut labore et dolore magna aliqua. Arcu dictum varius duis at consectetur lorem donec. Volutpat maecenas volutpat blandit aliquam. Egestas quis ipsum suspendisse ult">
            <a:extLst>
              <a:ext uri="{FF2B5EF4-FFF2-40B4-BE49-F238E27FC236}">
                <a16:creationId xmlns:a16="http://schemas.microsoft.com/office/drawing/2014/main" id="{A702AD97-02BC-4CA9-8208-10BA43CABD35}"/>
              </a:ext>
            </a:extLst>
          </p:cNvPr>
          <p:cNvSpPr txBox="1"/>
          <p:nvPr/>
        </p:nvSpPr>
        <p:spPr>
          <a:xfrm>
            <a:off x="1371600" y="3200400"/>
            <a:ext cx="10515600" cy="100584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normAutofit/>
          </a:bodyPr>
          <a:lstStyle/>
          <a:p>
            <a:pPr>
              <a:lnSpc>
                <a:spcPct val="128000"/>
              </a:lnSpc>
              <a:defRPr sz="2100">
                <a:solidFill>
                  <a:srgbClr val="000000"/>
                </a:solidFill>
                <a:latin typeface="Arial"/>
              </a:defRPr>
            </a:pPr>
            <a:r>
              <a:rPr lang="ru-RU" sz="3200" dirty="0">
                <a:solidFill>
                  <a:srgbClr val="000000"/>
                </a:solidFill>
                <a:latin typeface="Arial"/>
                <a:cs typeface="Arial"/>
              </a:rPr>
              <a:t>Функциональные: </a:t>
            </a:r>
            <a:r>
              <a:rPr lang="ru-RU" sz="3200" b="0" dirty="0">
                <a:solidFill>
                  <a:srgbClr val="000000"/>
                </a:solidFill>
                <a:latin typeface="Arial"/>
                <a:cs typeface="Arial"/>
              </a:rPr>
              <a:t>REST endpoint приёма JSON-сообщений; файловая загрузка (multipart/form-data); многоступенчатый поиск соответствий по external_id; первичная и инкрементальная синхронизация; журналирование операций; обработка ошибок, разрешение дублей и конфликтов; контроль доступа и HTTPS.</a:t>
            </a:r>
            <a:endParaRPr lang="en-US" sz="3200" b="0" dirty="0">
              <a:solidFill>
                <a:srgbClr val="000000"/>
              </a:solidFill>
              <a:latin typeface="Arial"/>
              <a:cs typeface="Arial"/>
            </a:endParaRPr>
          </a:p>
          <a:p>
            <a:pPr>
              <a:lnSpc>
                <a:spcPct val="128000"/>
              </a:lnSpc>
              <a:defRPr sz="2100">
                <a:solidFill>
                  <a:srgbClr val="000000"/>
                </a:solidFill>
                <a:latin typeface="Arial"/>
              </a:defRPr>
            </a:pPr>
            <a:endParaRPr lang="ru-RU" sz="3200" b="0" dirty="0">
              <a:solidFill>
                <a:srgbClr val="000000"/>
              </a:solidFill>
              <a:latin typeface="Arial"/>
              <a:cs typeface="Arial"/>
            </a:endParaRPr>
          </a:p>
          <a:p>
            <a:pPr>
              <a:lnSpc>
                <a:spcPct val="128000"/>
              </a:lnSpc>
              <a:defRPr sz="2100">
                <a:solidFill>
                  <a:srgbClr val="000000"/>
                </a:solidFill>
                <a:latin typeface="Arial"/>
              </a:defRPr>
            </a:pPr>
            <a:r>
              <a:rPr lang="ru-RU" sz="3200" dirty="0">
                <a:solidFill>
                  <a:srgbClr val="000000"/>
                </a:solidFill>
                <a:latin typeface="Arial"/>
                <a:cs typeface="Arial"/>
              </a:rPr>
              <a:t>Нефункциональные: </a:t>
            </a:r>
            <a:r>
              <a:rPr lang="ru-RU" sz="3200" b="0" dirty="0">
                <a:solidFill>
                  <a:srgbClr val="000000"/>
                </a:solidFill>
                <a:latin typeface="Arial"/>
                <a:cs typeface="Arial"/>
              </a:rPr>
              <a:t>надёжность, прослеживаемость операций, целостность данных, защита по рекомендациям OWASP.</a:t>
            </a:r>
            <a:endParaRPr lang="en-US" sz="3200" b="0" dirty="0">
              <a:solidFill>
                <a:srgbClr val="000000"/>
              </a:solidFill>
              <a:latin typeface="Arial"/>
              <a:cs typeface="Arial"/>
            </a:endParaRPr>
          </a:p>
          <a:p>
            <a:pPr>
              <a:lnSpc>
                <a:spcPct val="128000"/>
              </a:lnSpc>
              <a:defRPr sz="2100">
                <a:solidFill>
                  <a:srgbClr val="000000"/>
                </a:solidFill>
                <a:latin typeface="Arial"/>
              </a:defRPr>
            </a:pPr>
            <a:endParaRPr lang="ru-RU" sz="3200" b="0" dirty="0">
              <a:solidFill>
                <a:srgbClr val="000000"/>
              </a:solidFill>
              <a:latin typeface="Arial"/>
              <a:cs typeface="Arial"/>
            </a:endParaRPr>
          </a:p>
          <a:p>
            <a:pPr>
              <a:lnSpc>
                <a:spcPct val="128000"/>
              </a:lnSpc>
              <a:defRPr sz="2100">
                <a:solidFill>
                  <a:srgbClr val="000000"/>
                </a:solidFill>
                <a:latin typeface="Arial"/>
              </a:defRPr>
            </a:pPr>
            <a:r>
              <a:rPr lang="ru-RU" sz="3200" dirty="0">
                <a:solidFill>
                  <a:srgbClr val="000000"/>
                </a:solidFill>
                <a:latin typeface="Arial"/>
                <a:cs typeface="Arial"/>
              </a:rPr>
              <a:t>Инструменты</a:t>
            </a:r>
            <a:r>
              <a:rPr lang="ru-RU" sz="3200" b="0" dirty="0">
                <a:solidFill>
                  <a:srgbClr val="000000"/>
                </a:solidFill>
                <a:latin typeface="Arial"/>
                <a:cs typeface="Arial"/>
              </a:rPr>
              <a:t>: Python 3 + Flask, SQLAlchemy, SQLite, REST API (request.get_json), модуль логирования, HTTPS/TLS.</a:t>
            </a:r>
          </a:p>
        </p:txBody>
      </p:sp>
      <p:sp>
        <p:nvSpPr>
          <p:cNvPr id="77" name="TextBox 76"/>
          <p:cNvSpPr txBox="1"/>
          <p:nvPr/>
        </p:nvSpPr>
        <p:spPr>
          <a:xfrm>
            <a:off x="12801600" y="2743200"/>
            <a:ext cx="10972800" cy="457200"/>
          </a:xfrm>
          <a:prstGeom prst="rect">
            <a:avLst/>
          </a:prstGeom>
          <a:noFill/>
        </p:spPr>
        <p:txBody>
          <a:bodyPr wrap="square">
            <a:spAutoFit/>
          </a:bodyPr>
          <a:lstStyle/>
          <a:p>
            <a:pPr algn="ctr"/>
            <a:r>
              <a:rPr sz="1400" b="1">
                <a:solidFill>
                  <a:srgbClr val="6B1A2E"/>
                </a:solidFill>
                <a:latin typeface="Calibri"/>
              </a:rPr>
              <a:t>Требования к модулю интеграции</a:t>
            </a:r>
          </a:p>
        </p:txBody>
      </p:sp>
      <p:graphicFrame>
        <p:nvGraphicFramePr>
          <p:cNvPr id="78" name="Table 77"/>
          <p:cNvGraphicFramePr>
            <a:graphicFrameLocks noGrp="1"/>
          </p:cNvGraphicFramePr>
          <p:nvPr/>
        </p:nvGraphicFramePr>
        <p:xfrm>
          <a:off x="12801600" y="3383280"/>
          <a:ext cx="10972800" cy="8686800"/>
        </p:xfrm>
        <a:graphic>
          <a:graphicData uri="http://schemas.openxmlformats.org/drawingml/2006/table">
            <a:tbl>
              <a:tblPr firstRow="1" bandRow="1">
                <a:tableStyleId>{5C22544A-7EE6-4342-B048-85BDC9FD1C3A}</a:tableStyleId>
              </a:tblPr>
              <a:tblGrid>
                <a:gridCol w="5486400"/>
                <a:gridCol w="5486400"/>
              </a:tblGrid>
              <a:tr h="789709">
                <a:tc>
                  <a:txBody>
                    <a:bodyPr wrap="square"/>
                    <a:lstStyle/>
                    <a:p>
                      <a:r>
                        <a:rPr sz="1300" b="1">
                          <a:solidFill>
                            <a:srgbClr val="FFFFFF"/>
                          </a:solidFill>
                          <a:latin typeface="Calibri"/>
                        </a:rPr>
                        <a:t>Тип</a:t>
                      </a:r>
                    </a:p>
                  </a:txBody>
                  <a:tcPr>
                    <a:solidFill>
                      <a:srgbClr val="6B1A2E"/>
                    </a:solidFill>
                  </a:tcPr>
                </a:tc>
                <a:tc>
                  <a:txBody>
                    <a:bodyPr wrap="square"/>
                    <a:lstStyle/>
                    <a:p>
                      <a:r>
                        <a:rPr sz="1300" b="1">
                          <a:solidFill>
                            <a:srgbClr val="FFFFFF"/>
                          </a:solidFill>
                          <a:latin typeface="Calibri"/>
                        </a:rPr>
                        <a:t>Требование</a:t>
                      </a:r>
                    </a:p>
                  </a:txBody>
                  <a:tcPr>
                    <a:solidFill>
                      <a:srgbClr val="6B1A2E"/>
                    </a:solidFill>
                  </a:tcPr>
                </a:tc>
              </a:tr>
              <a:tr h="789709">
                <a:tc>
                  <a:txBody>
                    <a:bodyPr wrap="square"/>
                    <a:lstStyle/>
                    <a:p>
                      <a:r>
                        <a:rPr sz="1100">
                          <a:solidFill>
                            <a:srgbClr val="3A3A3A"/>
                          </a:solidFill>
                          <a:latin typeface="Calibri"/>
                        </a:rPr>
                        <a:t>Функциональное</a:t>
                      </a:r>
                    </a:p>
                  </a:txBody>
                  <a:tcPr>
                    <a:solidFill>
                      <a:srgbClr val="FFFFFF"/>
                    </a:solidFill>
                  </a:tcPr>
                </a:tc>
                <a:tc>
                  <a:txBody>
                    <a:bodyPr wrap="square"/>
                    <a:lstStyle/>
                    <a:p>
                      <a:r>
                        <a:rPr sz="1100">
                          <a:solidFill>
                            <a:srgbClr val="3A3A3A"/>
                          </a:solidFill>
                          <a:latin typeface="Calibri"/>
                        </a:rPr>
                        <a:t>REST endpoint приёма JSON-сообщений</a:t>
                      </a:r>
                    </a:p>
                  </a:txBody>
                  <a:tcPr>
                    <a:solidFill>
                      <a:srgbClr val="FFFFFF"/>
                    </a:solidFill>
                  </a:tcPr>
                </a:tc>
              </a:tr>
              <a:tr h="789709">
                <a:tc>
                  <a:txBody>
                    <a:bodyPr wrap="square"/>
                    <a:lstStyle/>
                    <a:p>
                      <a:r>
                        <a:rPr sz="1100">
                          <a:solidFill>
                            <a:srgbClr val="3A3A3A"/>
                          </a:solidFill>
                          <a:latin typeface="Calibri"/>
                        </a:rPr>
                        <a:t>Функциональное</a:t>
                      </a:r>
                    </a:p>
                  </a:txBody>
                  <a:tcPr>
                    <a:solidFill>
                      <a:srgbClr val="F4EDE4"/>
                    </a:solidFill>
                  </a:tcPr>
                </a:tc>
                <a:tc>
                  <a:txBody>
                    <a:bodyPr wrap="square"/>
                    <a:lstStyle/>
                    <a:p>
                      <a:r>
                        <a:rPr sz="1100">
                          <a:solidFill>
                            <a:srgbClr val="3A3A3A"/>
                          </a:solidFill>
                          <a:latin typeface="Calibri"/>
                        </a:rPr>
                        <a:t>Файловая загрузка multipart/form-data</a:t>
                      </a:r>
                    </a:p>
                  </a:txBody>
                  <a:tcPr>
                    <a:solidFill>
                      <a:srgbClr val="F4EDE4"/>
                    </a:solidFill>
                  </a:tcPr>
                </a:tc>
              </a:tr>
              <a:tr h="789709">
                <a:tc>
                  <a:txBody>
                    <a:bodyPr wrap="square"/>
                    <a:lstStyle/>
                    <a:p>
                      <a:r>
                        <a:rPr sz="1100">
                          <a:solidFill>
                            <a:srgbClr val="3A3A3A"/>
                          </a:solidFill>
                          <a:latin typeface="Calibri"/>
                        </a:rPr>
                        <a:t>Функциональное</a:t>
                      </a:r>
                    </a:p>
                  </a:txBody>
                  <a:tcPr>
                    <a:solidFill>
                      <a:srgbClr val="FFFFFF"/>
                    </a:solidFill>
                  </a:tcPr>
                </a:tc>
                <a:tc>
                  <a:txBody>
                    <a:bodyPr wrap="square"/>
                    <a:lstStyle/>
                    <a:p>
                      <a:r>
                        <a:rPr sz="1100">
                          <a:solidFill>
                            <a:srgbClr val="3A3A3A"/>
                          </a:solidFill>
                          <a:latin typeface="Calibri"/>
                        </a:rPr>
                        <a:t>Поиск соответствий по external_id</a:t>
                      </a:r>
                    </a:p>
                  </a:txBody>
                  <a:tcPr>
                    <a:solidFill>
                      <a:srgbClr val="FFFFFF"/>
                    </a:solidFill>
                  </a:tcPr>
                </a:tc>
              </a:tr>
              <a:tr h="789709">
                <a:tc>
                  <a:txBody>
                    <a:bodyPr wrap="square"/>
                    <a:lstStyle/>
                    <a:p>
                      <a:r>
                        <a:rPr sz="1100">
                          <a:solidFill>
                            <a:srgbClr val="3A3A3A"/>
                          </a:solidFill>
                          <a:latin typeface="Calibri"/>
                        </a:rPr>
                        <a:t>Функциональное</a:t>
                      </a:r>
                    </a:p>
                  </a:txBody>
                  <a:tcPr>
                    <a:solidFill>
                      <a:srgbClr val="F4EDE4"/>
                    </a:solidFill>
                  </a:tcPr>
                </a:tc>
                <a:tc>
                  <a:txBody>
                    <a:bodyPr wrap="square"/>
                    <a:lstStyle/>
                    <a:p>
                      <a:r>
                        <a:rPr sz="1100">
                          <a:solidFill>
                            <a:srgbClr val="3A3A3A"/>
                          </a:solidFill>
                          <a:latin typeface="Calibri"/>
                        </a:rPr>
                        <a:t>Первичная и инкрементальная синхронизация</a:t>
                      </a:r>
                    </a:p>
                  </a:txBody>
                  <a:tcPr>
                    <a:solidFill>
                      <a:srgbClr val="F4EDE4"/>
                    </a:solidFill>
                  </a:tcPr>
                </a:tc>
              </a:tr>
              <a:tr h="789709">
                <a:tc>
                  <a:txBody>
                    <a:bodyPr wrap="square"/>
                    <a:lstStyle/>
                    <a:p>
                      <a:r>
                        <a:rPr sz="1100">
                          <a:solidFill>
                            <a:srgbClr val="3A3A3A"/>
                          </a:solidFill>
                          <a:latin typeface="Calibri"/>
                        </a:rPr>
                        <a:t>Функциональное</a:t>
                      </a:r>
                    </a:p>
                  </a:txBody>
                  <a:tcPr>
                    <a:solidFill>
                      <a:srgbClr val="FFFFFF"/>
                    </a:solidFill>
                  </a:tcPr>
                </a:tc>
                <a:tc>
                  <a:txBody>
                    <a:bodyPr wrap="square"/>
                    <a:lstStyle/>
                    <a:p>
                      <a:r>
                        <a:rPr sz="1100">
                          <a:solidFill>
                            <a:srgbClr val="3A3A3A"/>
                          </a:solidFill>
                          <a:latin typeface="Calibri"/>
                        </a:rPr>
                        <a:t>Журналирование операций (IntegrationLog)</a:t>
                      </a:r>
                    </a:p>
                  </a:txBody>
                  <a:tcPr>
                    <a:solidFill>
                      <a:srgbClr val="FFFFFF"/>
                    </a:solidFill>
                  </a:tcPr>
                </a:tc>
              </a:tr>
              <a:tr h="789709">
                <a:tc>
                  <a:txBody>
                    <a:bodyPr wrap="square"/>
                    <a:lstStyle/>
                    <a:p>
                      <a:r>
                        <a:rPr sz="1100">
                          <a:solidFill>
                            <a:srgbClr val="3A3A3A"/>
                          </a:solidFill>
                          <a:latin typeface="Calibri"/>
                        </a:rPr>
                        <a:t>Функциональное</a:t>
                      </a:r>
                    </a:p>
                  </a:txBody>
                  <a:tcPr>
                    <a:solidFill>
                      <a:srgbClr val="F4EDE4"/>
                    </a:solidFill>
                  </a:tcPr>
                </a:tc>
                <a:tc>
                  <a:txBody>
                    <a:bodyPr wrap="square"/>
                    <a:lstStyle/>
                    <a:p>
                      <a:r>
                        <a:rPr sz="1100">
                          <a:solidFill>
                            <a:srgbClr val="3A3A3A"/>
                          </a:solidFill>
                          <a:latin typeface="Calibri"/>
                        </a:rPr>
                        <a:t>Разрешение дублей и конфликтов</a:t>
                      </a:r>
                    </a:p>
                  </a:txBody>
                  <a:tcPr>
                    <a:solidFill>
                      <a:srgbClr val="F4EDE4"/>
                    </a:solidFill>
                  </a:tcPr>
                </a:tc>
              </a:tr>
              <a:tr h="789709">
                <a:tc>
                  <a:txBody>
                    <a:bodyPr wrap="square"/>
                    <a:lstStyle/>
                    <a:p>
                      <a:r>
                        <a:rPr sz="1100">
                          <a:solidFill>
                            <a:srgbClr val="3A3A3A"/>
                          </a:solidFill>
                          <a:latin typeface="Calibri"/>
                        </a:rPr>
                        <a:t>Функциональное</a:t>
                      </a:r>
                    </a:p>
                  </a:txBody>
                  <a:tcPr>
                    <a:solidFill>
                      <a:srgbClr val="FFFFFF"/>
                    </a:solidFill>
                  </a:tcPr>
                </a:tc>
                <a:tc>
                  <a:txBody>
                    <a:bodyPr wrap="square"/>
                    <a:lstStyle/>
                    <a:p>
                      <a:r>
                        <a:rPr sz="1100">
                          <a:solidFill>
                            <a:srgbClr val="3A3A3A"/>
                          </a:solidFill>
                          <a:latin typeface="Calibri"/>
                        </a:rPr>
                        <a:t>HTTPS / контроль доступа</a:t>
                      </a:r>
                    </a:p>
                  </a:txBody>
                  <a:tcPr>
                    <a:solidFill>
                      <a:srgbClr val="FFFFFF"/>
                    </a:solidFill>
                  </a:tcPr>
                </a:tc>
              </a:tr>
              <a:tr h="789709">
                <a:tc>
                  <a:txBody>
                    <a:bodyPr wrap="square"/>
                    <a:lstStyle/>
                    <a:p>
                      <a:r>
                        <a:rPr sz="1100">
                          <a:solidFill>
                            <a:srgbClr val="3A3A3A"/>
                          </a:solidFill>
                          <a:latin typeface="Calibri"/>
                        </a:rPr>
                        <a:t>Нефункциональное</a:t>
                      </a:r>
                    </a:p>
                  </a:txBody>
                  <a:tcPr>
                    <a:solidFill>
                      <a:srgbClr val="F4EDE4"/>
                    </a:solidFill>
                  </a:tcPr>
                </a:tc>
                <a:tc>
                  <a:txBody>
                    <a:bodyPr wrap="square"/>
                    <a:lstStyle/>
                    <a:p>
                      <a:r>
                        <a:rPr sz="1100">
                          <a:solidFill>
                            <a:srgbClr val="3A3A3A"/>
                          </a:solidFill>
                          <a:latin typeface="Calibri"/>
                        </a:rPr>
                        <a:t>Надёжность, прослеживаемость, целостность</a:t>
                      </a:r>
                    </a:p>
                  </a:txBody>
                  <a:tcPr>
                    <a:solidFill>
                      <a:srgbClr val="F4EDE4"/>
                    </a:solidFill>
                  </a:tcPr>
                </a:tc>
              </a:tr>
              <a:tr h="789709">
                <a:tc>
                  <a:txBody>
                    <a:bodyPr wrap="square"/>
                    <a:lstStyle/>
                    <a:p>
                      <a:r>
                        <a:rPr sz="1100">
                          <a:solidFill>
                            <a:srgbClr val="3A3A3A"/>
                          </a:solidFill>
                          <a:latin typeface="Calibri"/>
                        </a:rPr>
                        <a:t>Нефункциональное</a:t>
                      </a:r>
                    </a:p>
                  </a:txBody>
                  <a:tcPr>
                    <a:solidFill>
                      <a:srgbClr val="FFFFFF"/>
                    </a:solidFill>
                  </a:tcPr>
                </a:tc>
                <a:tc>
                  <a:txBody>
                    <a:bodyPr wrap="square"/>
                    <a:lstStyle/>
                    <a:p>
                      <a:r>
                        <a:rPr sz="1100">
                          <a:solidFill>
                            <a:srgbClr val="3A3A3A"/>
                          </a:solidFill>
                          <a:latin typeface="Calibri"/>
                        </a:rPr>
                        <a:t>Защита по рекомендациям OWASP</a:t>
                      </a:r>
                    </a:p>
                  </a:txBody>
                  <a:tcPr>
                    <a:solidFill>
                      <a:srgbClr val="FFFFFF"/>
                    </a:solidFill>
                  </a:tcPr>
                </a:tc>
              </a:tr>
              <a:tr h="789710">
                <a:tc>
                  <a:txBody>
                    <a:bodyPr wrap="square"/>
                    <a:lstStyle/>
                    <a:p>
                      <a:r>
                        <a:rPr sz="1100">
                          <a:solidFill>
                            <a:srgbClr val="3A3A3A"/>
                          </a:solidFill>
                          <a:latin typeface="Calibri"/>
                        </a:rPr>
                        <a:t>Инструменты</a:t>
                      </a:r>
                    </a:p>
                  </a:txBody>
                  <a:tcPr>
                    <a:solidFill>
                      <a:srgbClr val="F4EDE4"/>
                    </a:solidFill>
                  </a:tcPr>
                </a:tc>
                <a:tc>
                  <a:txBody>
                    <a:bodyPr wrap="square"/>
                    <a:lstStyle/>
                    <a:p>
                      <a:r>
                        <a:rPr sz="1100">
                          <a:solidFill>
                            <a:srgbClr val="3A3A3A"/>
                          </a:solidFill>
                          <a:latin typeface="Calibri"/>
                        </a:rPr>
                        <a:t>Flask + SQLAlchemy + REST + HTTPS/TLS</a:t>
                      </a:r>
                    </a:p>
                  </a:txBody>
                  <a:tcPr>
                    <a:solidFill>
                      <a:srgbClr val="F4EDE4"/>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All the world is made of faith, and trust, and pixie dust."/>
          <p:cNvSpPr txBox="1"/>
          <p:nvPr/>
        </p:nvSpPr>
        <p:spPr>
          <a:xfrm>
            <a:off x="914400" y="457200"/>
            <a:ext cx="22402800" cy="1463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nchor="t">
            <a:normAutofit/>
          </a:bodyPr>
          <a:lstStyle>
            <a:lvl1pPr algn="l">
              <a:defRPr sz="5000" b="0">
                <a:solidFill>
                  <a:srgbClr val="242423"/>
                </a:solidFill>
                <a:latin typeface="Montserrat Bold"/>
                <a:ea typeface="Montserrat Bold"/>
                <a:cs typeface="Montserrat Bold"/>
                <a:sym typeface="Montserrat Bold"/>
              </a:defRPr>
            </a:lvl1pPr>
          </a:lstStyle>
          <a:p>
            <a:pPr algn="ctr">
              <a:lnSpc>
                <a:spcPct val="110000"/>
              </a:lnSpc>
              <a:defRPr sz="3200" b="1">
                <a:solidFill>
                  <a:srgbClr val="FFFFFF"/>
                </a:solidFill>
                <a:latin typeface="Arial"/>
              </a:defRPr>
            </a:pPr>
            <a:r>
              <a:rPr lang="ru-RU" sz="3200" b="1" dirty="0">
                <a:solidFill>
                  <a:srgbClr val="FFFFFF"/>
                </a:solidFill>
                <a:latin typeface="Arial"/>
                <a:cs typeface="Arial"/>
              </a:rPr>
              <a:t>Е.М. Киселева — информационное и программное обеспечение</a:t>
            </a:r>
          </a:p>
        </p:txBody>
      </p:sp>
      <p:sp>
        <p:nvSpPr>
          <p:cNvPr id="7" name="Rectangle">
            <a:extLst>
              <a:ext uri="{FF2B5EF4-FFF2-40B4-BE49-F238E27FC236}">
                <a16:creationId xmlns:a16="http://schemas.microsoft.com/office/drawing/2014/main" id="{955C94AE-B80E-4918-B201-60D7FF67FDAB}"/>
              </a:ext>
            </a:extLst>
          </p:cNvPr>
          <p:cNvSpPr/>
          <p:nvPr/>
        </p:nvSpPr>
        <p:spPr>
          <a:xfrm>
            <a:off x="349" y="2139697"/>
            <a:ext cx="24383652" cy="4718304"/>
          </a:xfrm>
          <a:prstGeom prst="rect">
            <a:avLst/>
          </a:prstGeom>
          <a:solidFill>
            <a:srgbClr val="EFF0EF"/>
          </a:solidFill>
          <a:ln w="12700">
            <a:solidFill>
              <a:srgbClr val="EFF0EF"/>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4" name="Lorem ipsum dolor sit amet, consectetur adipiscing elit, sed do eiusmod tempor incididunt ut labore et dolore magna aliqua. Arcu dictum varius duis at consectetur lorem donec. Volutpat maecenas volutpat blandit aliquam. Egestas quis ipsum suspendisse ult">
            <a:extLst>
              <a:ext uri="{FF2B5EF4-FFF2-40B4-BE49-F238E27FC236}">
                <a16:creationId xmlns:a16="http://schemas.microsoft.com/office/drawing/2014/main" id="{CD0C1FE3-0CF6-4BA9-9372-AAF16C7A55B3}"/>
              </a:ext>
            </a:extLst>
          </p:cNvPr>
          <p:cNvSpPr txBox="1"/>
          <p:nvPr/>
        </p:nvSpPr>
        <p:spPr>
          <a:xfrm>
            <a:off x="1371600" y="3200400"/>
            <a:ext cx="10972800" cy="100584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normAutofit/>
          </a:bodyPr>
          <a:lstStyle/>
          <a:p>
            <a:pPr>
              <a:lnSpc>
                <a:spcPct val="125000"/>
              </a:lnSpc>
              <a:defRPr sz="2000">
                <a:solidFill>
                  <a:srgbClr val="000000"/>
                </a:solidFill>
                <a:latin typeface="Arial"/>
              </a:defRPr>
            </a:pPr>
            <a:r>
              <a:rPr lang="ru-RU" sz="3200" dirty="0">
                <a:solidFill>
                  <a:srgbClr val="000000"/>
                </a:solidFill>
                <a:latin typeface="Arial"/>
                <a:cs typeface="Arial"/>
              </a:rPr>
              <a:t>Центральная сущность БД — </a:t>
            </a:r>
            <a:r>
              <a:rPr lang="ru-RU" sz="3200" b="0" dirty="0">
                <a:solidFill>
                  <a:srgbClr val="000000"/>
                </a:solidFill>
                <a:latin typeface="Arial"/>
                <a:cs typeface="Arial"/>
              </a:rPr>
              <a:t>IntegrationLog (id, direction, external_system, payload, result, created_at). Справочники соответствий MappingReference хранят пары local_id ↔ external_id для контрагентов, номенклатуры, складов, единиц измерения. Дополнительно — таблицы версий документов и ошибок.</a:t>
            </a:r>
            <a:endParaRPr lang="en-US" sz="3200" b="0" dirty="0">
              <a:solidFill>
                <a:srgbClr val="000000"/>
              </a:solidFill>
              <a:latin typeface="Arial"/>
              <a:cs typeface="Arial"/>
            </a:endParaRPr>
          </a:p>
          <a:p>
            <a:pPr>
              <a:lnSpc>
                <a:spcPct val="125000"/>
              </a:lnSpc>
              <a:defRPr sz="2000">
                <a:solidFill>
                  <a:srgbClr val="000000"/>
                </a:solidFill>
                <a:latin typeface="Arial"/>
              </a:defRPr>
            </a:pPr>
            <a:endParaRPr lang="ru-RU" sz="3200" b="0" dirty="0">
              <a:solidFill>
                <a:srgbClr val="000000"/>
              </a:solidFill>
              <a:latin typeface="Arial"/>
              <a:cs typeface="Arial"/>
            </a:endParaRPr>
          </a:p>
          <a:p>
            <a:pPr>
              <a:lnSpc>
                <a:spcPct val="125000"/>
              </a:lnSpc>
              <a:defRPr sz="2000">
                <a:solidFill>
                  <a:srgbClr val="000000"/>
                </a:solidFill>
                <a:latin typeface="Arial"/>
              </a:defRPr>
            </a:pPr>
            <a:r>
              <a:rPr lang="ru-RU" sz="3200" dirty="0">
                <a:solidFill>
                  <a:srgbClr val="000000"/>
                </a:solidFill>
                <a:latin typeface="Arial"/>
                <a:cs typeface="Arial"/>
              </a:rPr>
              <a:t>ПО: </a:t>
            </a:r>
            <a:r>
              <a:rPr lang="ru-RU" sz="3200" b="0" dirty="0">
                <a:solidFill>
                  <a:srgbClr val="000000"/>
                </a:solidFill>
                <a:latin typeface="Arial"/>
                <a:cs typeface="Arial"/>
              </a:rPr>
              <a:t>REST endpoint, файловый загрузчик, общий контроллер обработки, административный интерфейс журнала.</a:t>
            </a:r>
            <a:endParaRPr lang="en-US" sz="3200" b="0" dirty="0">
              <a:solidFill>
                <a:srgbClr val="000000"/>
              </a:solidFill>
              <a:latin typeface="Arial"/>
              <a:cs typeface="Arial"/>
            </a:endParaRPr>
          </a:p>
          <a:p>
            <a:pPr>
              <a:lnSpc>
                <a:spcPct val="125000"/>
              </a:lnSpc>
              <a:defRPr sz="2000">
                <a:solidFill>
                  <a:srgbClr val="000000"/>
                </a:solidFill>
                <a:latin typeface="Arial"/>
              </a:defRPr>
            </a:pPr>
            <a:endParaRPr lang="ru-RU" sz="3200" b="0" dirty="0">
              <a:solidFill>
                <a:srgbClr val="000000"/>
              </a:solidFill>
              <a:latin typeface="Arial"/>
              <a:cs typeface="Arial"/>
            </a:endParaRPr>
          </a:p>
          <a:p>
            <a:pPr>
              <a:lnSpc>
                <a:spcPct val="125000"/>
              </a:lnSpc>
              <a:defRPr sz="2000">
                <a:solidFill>
                  <a:srgbClr val="000000"/>
                </a:solidFill>
                <a:latin typeface="Arial"/>
              </a:defRPr>
            </a:pPr>
            <a:r>
              <a:rPr lang="ru-RU" sz="3200" dirty="0">
                <a:solidFill>
                  <a:srgbClr val="000000"/>
                </a:solidFill>
                <a:latin typeface="Arial"/>
                <a:cs typeface="Arial"/>
              </a:rPr>
              <a:t>Паттерны: </a:t>
            </a:r>
            <a:r>
              <a:rPr lang="ru-RU" sz="3200" b="0" dirty="0">
                <a:solidFill>
                  <a:srgbClr val="000000"/>
                </a:solidFill>
                <a:latin typeface="Arial"/>
                <a:cs typeface="Arial"/>
              </a:rPr>
              <a:t>Adapter (форматы), Repository (журнал), Chain of Responsibility (многоступенчатая обработка пакета).</a:t>
            </a:r>
          </a:p>
        </p:txBody>
      </p:sp>
      <p:pic>
        <p:nvPicPr>
          <p:cNvPr id="77" name="Picture 76" descr="integration_log.png"/>
          <p:cNvPicPr>
            <a:picLocks noChangeAspect="1"/>
          </p:cNvPicPr>
          <p:nvPr/>
        </p:nvPicPr>
        <p:blipFill>
          <a:blip r:embed="rId2"/>
          <a:stretch>
            <a:fillRect/>
          </a:stretch>
        </p:blipFill>
        <p:spPr>
          <a:xfrm>
            <a:off x="12801600" y="3291840"/>
            <a:ext cx="10972800" cy="8229600"/>
          </a:xfrm>
          <a:prstGeom prst="rect">
            <a:avLst/>
          </a:prstGeom>
        </p:spPr>
      </p:pic>
      <p:sp>
        <p:nvSpPr>
          <p:cNvPr id="78" name="TextBox 77"/>
          <p:cNvSpPr txBox="1"/>
          <p:nvPr/>
        </p:nvSpPr>
        <p:spPr>
          <a:xfrm>
            <a:off x="12801600" y="11521440"/>
            <a:ext cx="10972800" cy="457200"/>
          </a:xfrm>
          <a:prstGeom prst="rect">
            <a:avLst/>
          </a:prstGeom>
          <a:noFill/>
        </p:spPr>
        <p:txBody>
          <a:bodyPr wrap="square">
            <a:spAutoFit/>
          </a:bodyPr>
          <a:lstStyle/>
          <a:p>
            <a:pPr algn="ctr"/>
            <a:r>
              <a:rPr sz="1200" b="1">
                <a:solidFill>
                  <a:srgbClr val="6B1A2E"/>
                </a:solidFill>
                <a:latin typeface="Calibri"/>
              </a:rPr>
              <a:t>Паттерны (Adapter, Repository, CoR) и IntegrationLog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All the world is made of faith, and trust, and pixie dust."/>
          <p:cNvSpPr txBox="1"/>
          <p:nvPr/>
        </p:nvSpPr>
        <p:spPr>
          <a:xfrm>
            <a:off x="914400" y="457200"/>
            <a:ext cx="22402800" cy="1463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nchor="t">
            <a:normAutofit/>
          </a:bodyPr>
          <a:lstStyle>
            <a:lvl1pPr algn="l">
              <a:defRPr sz="5000" b="0">
                <a:solidFill>
                  <a:srgbClr val="242423"/>
                </a:solidFill>
                <a:latin typeface="Montserrat Bold"/>
                <a:ea typeface="Montserrat Bold"/>
                <a:cs typeface="Montserrat Bold"/>
                <a:sym typeface="Montserrat Bold"/>
              </a:defRPr>
            </a:lvl1pPr>
          </a:lstStyle>
          <a:p>
            <a:pPr algn="ctr">
              <a:lnSpc>
                <a:spcPct val="110000"/>
              </a:lnSpc>
              <a:defRPr sz="3600" b="1">
                <a:solidFill>
                  <a:srgbClr val="FFFFFF"/>
                </a:solidFill>
                <a:latin typeface="Arial"/>
              </a:defRPr>
            </a:pPr>
            <a:r>
              <a:rPr lang="ru-RU" sz="3600" b="1" dirty="0">
                <a:solidFill>
                  <a:srgbClr val="FFFFFF"/>
                </a:solidFill>
                <a:latin typeface="Arial"/>
                <a:cs typeface="Arial"/>
              </a:rPr>
              <a:t>Е.М. Киселева — выводы по модулю</a:t>
            </a:r>
          </a:p>
        </p:txBody>
      </p:sp>
      <p:sp>
        <p:nvSpPr>
          <p:cNvPr id="7" name="Rectangle">
            <a:extLst>
              <a:ext uri="{FF2B5EF4-FFF2-40B4-BE49-F238E27FC236}">
                <a16:creationId xmlns:a16="http://schemas.microsoft.com/office/drawing/2014/main" id="{955C94AE-B80E-4918-B201-60D7FF67FDAB}"/>
              </a:ext>
            </a:extLst>
          </p:cNvPr>
          <p:cNvSpPr/>
          <p:nvPr/>
        </p:nvSpPr>
        <p:spPr>
          <a:xfrm>
            <a:off x="349" y="2139697"/>
            <a:ext cx="24383652" cy="4718304"/>
          </a:xfrm>
          <a:prstGeom prst="rect">
            <a:avLst/>
          </a:prstGeom>
          <a:solidFill>
            <a:srgbClr val="EFF0EF"/>
          </a:solidFill>
          <a:ln w="12700">
            <a:solidFill>
              <a:srgbClr val="EFF0EF"/>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2" name="Управляющая кнопка: документ 1">
            <a:hlinkClick r:id="" action="ppaction://hlinksldjump" highlightClick="1"/>
            <a:extLst>
              <a:ext uri="{FF2B5EF4-FFF2-40B4-BE49-F238E27FC236}">
                <a16:creationId xmlns:a16="http://schemas.microsoft.com/office/drawing/2014/main" id="{DA318A56-F2AF-46A7-9F6C-7C2EFC01BFE8}"/>
              </a:ext>
            </a:extLst>
          </p:cNvPr>
          <p:cNvSpPr/>
          <p:nvPr/>
        </p:nvSpPr>
        <p:spPr>
          <a:xfrm>
            <a:off x="23134320" y="12435838"/>
            <a:ext cx="1115568" cy="1170433"/>
          </a:xfrm>
          <a:prstGeom prst="actionButtonDocumen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ru-RU"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6" name="Lorem ipsum dolor sit amet, consectetur adipiscing elit, sed do eiusmod tempor incididunt ut labore et dolore magna aliqua. Arcu dictum varius duis at consectetur lorem donec. Volutpat maecenas volutpat blandit aliquam. Egestas quis ipsum suspendisse ult">
            <a:extLst>
              <a:ext uri="{FF2B5EF4-FFF2-40B4-BE49-F238E27FC236}">
                <a16:creationId xmlns:a16="http://schemas.microsoft.com/office/drawing/2014/main" id="{B9083FB9-A161-4706-A8CC-09006749EF22}"/>
              </a:ext>
            </a:extLst>
          </p:cNvPr>
          <p:cNvSpPr txBox="1"/>
          <p:nvPr/>
        </p:nvSpPr>
        <p:spPr>
          <a:xfrm>
            <a:off x="1371600" y="3200400"/>
            <a:ext cx="10972800" cy="9144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normAutofit/>
          </a:bodyPr>
          <a:lstStyle/>
          <a:p>
            <a:pPr>
              <a:lnSpc>
                <a:spcPct val="135000"/>
              </a:lnSpc>
              <a:defRPr sz="2600">
                <a:solidFill>
                  <a:srgbClr val="000000"/>
                </a:solidFill>
                <a:latin typeface="Arial"/>
              </a:defRPr>
            </a:pPr>
            <a:r>
              <a:rPr lang="ru-RU" sz="3200" dirty="0">
                <a:solidFill>
                  <a:srgbClr val="000000"/>
                </a:solidFill>
                <a:latin typeface="Arial"/>
                <a:cs typeface="Arial"/>
              </a:rPr>
              <a:t>Реализован серверный модуль интеграции с REST API и файловым обменом, единым журналом IntegrationLog и справочниками соответствий. Обеспечены автоматический и ручной режимы обмена, разрешение конфликтов, контроль ошибок и безопасности.</a:t>
            </a:r>
          </a:p>
        </p:txBody>
      </p:sp>
      <p:pic>
        <p:nvPicPr>
          <p:cNvPr id="77" name="Picture 76" descr="arch_general.png"/>
          <p:cNvPicPr>
            <a:picLocks noChangeAspect="1"/>
          </p:cNvPicPr>
          <p:nvPr/>
        </p:nvPicPr>
        <p:blipFill>
          <a:blip r:embed="rId2"/>
          <a:stretch>
            <a:fillRect/>
          </a:stretch>
        </p:blipFill>
        <p:spPr>
          <a:xfrm>
            <a:off x="12801600" y="3291840"/>
            <a:ext cx="10972800" cy="8229600"/>
          </a:xfrm>
          <a:prstGeom prst="rect">
            <a:avLst/>
          </a:prstGeom>
        </p:spPr>
      </p:pic>
      <p:sp>
        <p:nvSpPr>
          <p:cNvPr id="78" name="TextBox 77"/>
          <p:cNvSpPr txBox="1"/>
          <p:nvPr/>
        </p:nvSpPr>
        <p:spPr>
          <a:xfrm>
            <a:off x="12801600" y="11521440"/>
            <a:ext cx="10972800" cy="457200"/>
          </a:xfrm>
          <a:prstGeom prst="rect">
            <a:avLst/>
          </a:prstGeom>
          <a:noFill/>
        </p:spPr>
        <p:txBody>
          <a:bodyPr wrap="square">
            <a:spAutoFit/>
          </a:bodyPr>
          <a:lstStyle/>
          <a:p>
            <a:pPr algn="ctr"/>
            <a:r>
              <a:rPr sz="1400" b="1">
                <a:solidFill>
                  <a:srgbClr val="6B1A2E"/>
                </a:solidFill>
                <a:latin typeface="Calibri"/>
              </a:rPr>
              <a:t>Итоговая архитектура веб-сервиса закупок</a:t>
            </a:r>
          </a:p>
        </p:txBody>
      </p:sp>
    </p:spTree>
  </p:cSld>
  <p:clrMapOvr>
    <a:masterClrMapping/>
  </p:clrMapOvr>
</p:sld>
</file>

<file path=ppt/theme/theme1.xml><?xml version="1.0" encoding="utf-8"?>
<a:theme xmlns:a="http://schemas.openxmlformats.org/drawingml/2006/main" name="White">
  <a:themeElements>
    <a:clrScheme name="Другая 2">
      <a:dk1>
        <a:srgbClr val="232422"/>
      </a:dk1>
      <a:lt1>
        <a:srgbClr val="FFFFFF"/>
      </a:lt1>
      <a:dk2>
        <a:srgbClr val="7E8089"/>
      </a:dk2>
      <a:lt2>
        <a:srgbClr val="EFF0EF"/>
      </a:lt2>
      <a:accent1>
        <a:srgbClr val="C81240"/>
      </a:accent1>
      <a:accent2>
        <a:srgbClr val="A00F33"/>
      </a:accent2>
      <a:accent3>
        <a:srgbClr val="D3E0E4"/>
      </a:accent3>
      <a:accent4>
        <a:srgbClr val="29345B"/>
      </a:accent4>
      <a:accent5>
        <a:srgbClr val="171F29"/>
      </a:accent5>
      <a:accent6>
        <a:srgbClr val="B3B6BA"/>
      </a:accent6>
      <a:hlink>
        <a:srgbClr val="7E8089"/>
      </a:hlink>
      <a:folHlink>
        <a:srgbClr val="93969C"/>
      </a:folHlink>
    </a:clrScheme>
    <a:fontScheme name="Academy">
      <a:majorFont>
        <a:latin typeface="Montserrat SemiBold"/>
        <a:ea typeface="Helvetica Neue Medium"/>
        <a:cs typeface="Helvetica Neue Medium"/>
      </a:majorFont>
      <a:minorFont>
        <a:latin typeface="Montserrat"/>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EFDD66"/>
        </a:solidFill>
        <a:ln w="12700"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EFDD66"/>
        </a:solidFill>
        <a:ln w="12700"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12874</TotalTime>
  <Words>1654</Words>
  <Application>Microsoft Macintosh PowerPoint</Application>
  <PresentationFormat>Произвольный</PresentationFormat>
  <Paragraphs>98</Paragraphs>
  <Slides>19</Slides>
  <Notes>1</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19</vt:i4>
      </vt:variant>
    </vt:vector>
  </HeadingPairs>
  <TitlesOfParts>
    <vt:vector size="23" baseType="lpstr">
      <vt:lpstr>Arial</vt:lpstr>
      <vt:lpstr>Arial Black</vt:lpstr>
      <vt:lpstr>Helvetica Neue</vt:lpstr>
      <vt:lpstr>White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Апакин Михаил Александрович</dc:creator>
  <cp:lastModifiedBy>Мушегян Нарек Арсенович</cp:lastModifiedBy>
  <cp:revision>512</cp:revision>
  <cp:lastPrinted>2024-05-06T13:42:22Z</cp:lastPrinted>
  <dcterms:modified xsi:type="dcterms:W3CDTF">2026-05-20T20:48:22Z</dcterms:modified>
</cp:coreProperties>
</file>